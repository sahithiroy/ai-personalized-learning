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b1e0c9-2ca4-8532-c97b-189ed10caf4c}">
          <p14:sldIdLst>
            <p14:sldId id="256"/>
            <p14:sldId id="257"/>
          </p14:sldIdLst>
        </p14:section>
        <p14:section name="Recap" id="{e7529de2-7e8d-202a-c9b1-d71e3ab58815}">
          <p14:sldIdLst>
            <p14:sldId id="258"/>
            <p14:sldId id="259"/>
          </p14:sldIdLst>
        </p14:section>
        <p14:section name="Implementation" id="{00af4292-117b-0804-d3a2-a3dfea441a78}">
          <p14:sldIdLst>
            <p14:sldId id="260"/>
            <p14:sldId id="261"/>
            <p14:sldId id="262"/>
            <p14:sldId id="263"/>
            <p14:sldId id="264"/>
            <p14:sldId id="265"/>
          </p14:sldIdLst>
        </p14:section>
        <p14:section name="Our additions" id="{e7cc97d8-53da-3342-b980-f580403c8e4b}">
          <p14:sldIdLst>
            <p14:sldId id="266"/>
            <p14:sldId id="267"/>
            <p14:sldId id="268"/>
            <p14:sldId id="269"/>
          </p14:sldIdLst>
        </p14:section>
        <p14:section name="Demo" id="{4181f95c-cedd-89d5-061d-66646e7c26a7}">
          <p14:sldIdLst>
            <p14:sldId id="270"/>
          </p14:sldIdLst>
        </p14:section>
        <p14:section name="Results" id="{798bce94-705c-6ebf-ab8b-743c97c90ce0}">
          <p14:sldIdLst>
            <p14:sldId id="271"/>
            <p14:sldId id="272"/>
            <p14:sldId id="273"/>
          </p14:sldIdLst>
        </p14:section>
        <p14:section name="Closing" id="{89cc3ec8-5d98-60cf-4116-cf57ae84e9c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Retrieved text from the right unit (%)</a:t>
            </a:r>
          </a:p>
        </c:rich>
      </c:tx>
      <c:layout/>
      <c:overlay val="0"/>
    </c:title>
    <c:autoTitleDeleted val="0"/>
    <c:plotArea>
      <c:layout/>
      <c:barChart>
        <c:barDir val="col"/>
        <c:grouping val="clustered"/>
        <c:varyColors val="0"/>
        <c:ser>
          <c:idx val="0"/>
          <c:order val="0"/>
          <c:tx>
            <c:strRef>
              <c:f>Sheet1!$B$1</c:f>
              <c:strCache>
                <c:ptCount val="1"/>
                <c:pt idx="0">
                  <c:v>On-topic retrieved text (%)</c:v>
                </c:pt>
              </c:strCache>
            </c:strRef>
          </c:tx>
          <c:spPr>
            <a:solidFill>
              <a:srgbClr val="0E7C86"/>
            </a:solidFill>
            <a:effectLst/>
          </c:spPr>
          <c:invertIfNegative val="0"/>
          <c:dLbls>
            <c:numFmt formatCode="#,##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cat>
            <c:multiLvlStrRef>
              <c:f>Sheet1!$A$2:$A$4</c:f>
              <c:multiLvlStrCache>
                <c:ptCount val="3"/>
                <c:lvl>
                  <c:pt idx="0">
                    <c:v>Fixed chunks (paper)</c:v>
                  </c:pt>
                  <c:pt idx="1">
                    <c:v>Unit-aware chunks</c:v>
                  </c:pt>
                  <c:pt idx="2">
                    <c:v>Unit-aware + unit filter (ours)</c:v>
                  </c:pt>
                </c:lvl>
              </c:multiLvlStrCache>
            </c:multiLvlStrRef>
          </c:cat>
          <c:val>
            <c:numRef>
              <c:f>Sheet1!$B$2:$B$4</c:f>
              <c:numCache>
                <c:formatCode>General</c:formatCode>
                <c:ptCount val="3"/>
                <c:pt idx="0">
                  <c:v>38</c:v>
                </c:pt>
                <c:pt idx="1">
                  <c:v>51</c:v>
                </c:pt>
                <c:pt idx="2">
                  <c:v>100</c:v>
                </c:pt>
              </c:numCache>
            </c:numRef>
          </c:val>
        </c:ser>
        <c:dLbls>
          <c:numFmt formatCode="#,##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A"/>
                </a:solidFill>
                <a:latin typeface="+mn-lt"/>
              </a:defRPr>
            </a:pPr>
            <a:endParaRPr lang="en-US"/>
          </a:p>
        </c:txPr>
        <c:crossAx val="2094734552"/>
        <c:crosses val="autoZero"/>
        <c:auto val="1"/>
        <c:lblAlgn val="ctr"/>
        <c:noMultiLvlLbl val="1"/>
      </c:catAx>
      <c:valAx>
        <c:axId val="2094734552"/>
        <c:scaling>
          <c:orientation val="minMax"/>
          <c:max val="110"/>
        </c:scaling>
        <c:delete val="0"/>
        <c:axPos val="l"/>
        <c:majorGridlines>
          <c:spPr>
            <a:ln w="9525" cap="flat">
              <a:solidFill>
                <a:srgbClr val="DDE6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EKT (ours)</c:v>
                </c:pt>
              </c:strCache>
            </c:strRef>
          </c:tx>
          <c:spPr>
            <a:solidFill>
              <a:srgbClr val="0E7C86"/>
            </a:solidFill>
            <a:effectLst/>
          </c:spPr>
          <c:invertIfNegative val="0"/>
          <c:dLbls>
            <c:numFmt formatCode="0.0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cat>
            <c:multiLvlStrRef>
              <c:f>Sheet1!$A$2:$A$4</c:f>
              <c:multiLvlStrCache>
                <c:ptCount val="3"/>
                <c:lvl>
                  <c:pt idx="0">
                    <c:v>AUC</c:v>
                  </c:pt>
                  <c:pt idx="1">
                    <c:v>Accuracy</c:v>
                  </c:pt>
                  <c:pt idx="2">
                    <c:v>F1</c:v>
                  </c:pt>
                </c:lvl>
              </c:multiLvlStrCache>
            </c:multiLvlStrRef>
          </c:cat>
          <c:val>
            <c:numRef>
              <c:f>Sheet1!$B$2:$B$4</c:f>
              <c:numCache>
                <c:formatCode>General</c:formatCode>
                <c:ptCount val="3"/>
                <c:pt idx="0">
                  <c:v>0.827</c:v>
                </c:pt>
                <c:pt idx="1">
                  <c:v>0.748</c:v>
                </c:pt>
                <c:pt idx="2">
                  <c:v>0.783</c:v>
                </c:pt>
              </c:numCache>
            </c:numRef>
          </c:val>
        </c:ser>
        <c:ser>
          <c:idx val="1"/>
          <c:order val="1"/>
          <c:tx>
            <c:strRef>
              <c:f>Sheet1!$C$1</c:f>
              <c:strCache>
                <c:ptCount val="1"/>
                <c:pt idx="0">
                  <c:v>DKT (baseline)</c:v>
                </c:pt>
              </c:strCache>
            </c:strRef>
          </c:tx>
          <c:spPr>
            <a:solidFill>
              <a:srgbClr val="C9E2DF"/>
            </a:solidFill>
            <a:effectLst/>
          </c:spPr>
          <c:invertIfNegative val="0"/>
          <c:dLbls>
            <c:numFmt formatCode="0.0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cat>
            <c:multiLvlStrRef>
              <c:f>Sheet1!$A$2:$A$4</c:f>
              <c:multiLvlStrCache>
                <c:ptCount val="3"/>
                <c:lvl>
                  <c:pt idx="0">
                    <c:v>AUC</c:v>
                  </c:pt>
                  <c:pt idx="1">
                    <c:v>Accuracy</c:v>
                  </c:pt>
                  <c:pt idx="2">
                    <c:v>F1</c:v>
                  </c:pt>
                </c:lvl>
              </c:multiLvlStrCache>
            </c:multiLvlStrRef>
          </c:cat>
          <c:val>
            <c:numRef>
              <c:f>Sheet1!$C$2:$C$4</c:f>
              <c:numCache>
                <c:formatCode>General</c:formatCode>
                <c:ptCount val="3"/>
                <c:pt idx="0">
                  <c:v>0.665</c:v>
                </c:pt>
                <c:pt idx="1">
                  <c:v>0.63</c:v>
                </c:pt>
                <c:pt idx="2">
                  <c:v>0.71</c:v>
                </c:pt>
              </c:numCache>
            </c:numRef>
          </c:val>
        </c:ser>
        <c:dLbls>
          <c:numFmt formatCode="0.0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6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D3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C9E2DF"/>
            </a:solidFill>
            <a:effectLst/>
          </c:spPr>
          <c:invertIfNegative val="0"/>
          <c:dLbls>
            <c:numFmt formatCode="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cat>
            <c:multiLvlStrRef>
              <c:f>Sheet1!$A$2:$A$6</c:f>
              <c:multiLvlStrCache>
                <c:ptCount val="5"/>
                <c:lvl>
                  <c:pt idx="0">
                    <c:v>Fundamentals</c:v>
                  </c:pt>
                  <c:pt idx="1">
                    <c:v>Operators</c:v>
                  </c:pt>
                  <c:pt idx="2">
                    <c:v>Arrays</c:v>
                  </c:pt>
                  <c:pt idx="3">
                    <c:v>Strings</c:v>
                  </c:pt>
                  <c:pt idx="4">
                    <c:v>Data structures</c:v>
                  </c:pt>
                </c:lvl>
              </c:multiLvlStrCache>
            </c:multiLvlStrRef>
          </c:cat>
          <c:val>
            <c:numRef>
              <c:f>Sheet1!$B$2:$B$6</c:f>
              <c:numCache>
                <c:formatCode>General</c:formatCode>
                <c:ptCount val="5"/>
                <c:pt idx="0">
                  <c:v>71.1</c:v>
                </c:pt>
                <c:pt idx="1">
                  <c:v>72.8</c:v>
                </c:pt>
                <c:pt idx="2">
                  <c:v>79.4</c:v>
                </c:pt>
                <c:pt idx="3">
                  <c:v>66.7</c:v>
                </c:pt>
                <c:pt idx="4">
                  <c:v>67.8</c:v>
                </c:pt>
              </c:numCache>
            </c:numRef>
          </c:val>
        </c:ser>
        <c:ser>
          <c:idx val="1"/>
          <c:order val="1"/>
          <c:tx>
            <c:strRef>
              <c:f>Sheet1!$C$1</c:f>
              <c:strCache>
                <c:ptCount val="1"/>
                <c:pt idx="0">
                  <c:v>After</c:v>
                </c:pt>
              </c:strCache>
            </c:strRef>
          </c:tx>
          <c:spPr>
            <a:solidFill>
              <a:srgbClr val="0E7C86"/>
            </a:solidFill>
            <a:effectLst/>
          </c:spPr>
          <c:invertIfNegative val="0"/>
          <c:dLbls>
            <c:numFmt formatCode="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cat>
            <c:multiLvlStrRef>
              <c:f>Sheet1!$A$2:$A$6</c:f>
              <c:multiLvlStrCache>
                <c:ptCount val="5"/>
                <c:lvl>
                  <c:pt idx="0">
                    <c:v>Fundamentals</c:v>
                  </c:pt>
                  <c:pt idx="1">
                    <c:v>Operators</c:v>
                  </c:pt>
                  <c:pt idx="2">
                    <c:v>Arrays</c:v>
                  </c:pt>
                  <c:pt idx="3">
                    <c:v>Strings</c:v>
                  </c:pt>
                  <c:pt idx="4">
                    <c:v>Data structures</c:v>
                  </c:pt>
                </c:lvl>
              </c:multiLvlStrCache>
            </c:multiLvlStrRef>
          </c:cat>
          <c:val>
            <c:numRef>
              <c:f>Sheet1!$C$2:$C$6</c:f>
              <c:numCache>
                <c:formatCode>General</c:formatCode>
                <c:ptCount val="5"/>
                <c:pt idx="0">
                  <c:v>86.2</c:v>
                </c:pt>
                <c:pt idx="1">
                  <c:v>78.6</c:v>
                </c:pt>
                <c:pt idx="2">
                  <c:v>87.5</c:v>
                </c:pt>
                <c:pt idx="3">
                  <c:v>92.5</c:v>
                </c:pt>
                <c:pt idx="4">
                  <c:v>88.1</c:v>
                </c:pt>
              </c:numCache>
            </c:numRef>
          </c:val>
        </c:ser>
        <c:dLbls>
          <c:numFmt formatCode="0.0" sourceLinked="0"/>
          <c:txPr>
            <a:bodyPr/>
            <a:lstStyle/>
            <a:p>
              <a:pPr>
                <a:defRPr b="0" i="0" strike="noStrike" sz="1100" u="none">
                  <a:solidFill>
                    <a:srgbClr val="1F2D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3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6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D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guide. One sentence: the full system from the base paper is implemented, runs on free AI models, and adds a personal study PDF for every student. Replace the bracketed placeholders before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parts. Part 5 (orange) is what we added beyond the base paper; give it the most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the panel. Left: the problem. Right: the base paper we implement. Keep this under a minute; the panel has seen it in the first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down the list. Be honest about number 8: the classroom study with real students is not done; we used simulated students, and that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reach the system through the web page, the REST API or the command line. The pipeline runs the six modules. In the foundation, llm.py talks to Groq, OpenRouter and Gemini, all free, with an offline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is read with pypdf, split by unit, cut into 1000-character chunks with 100 overlap, embedded with MiniLM and stored in FAISS. Each unit becomes one concept with its course outcome. When the AI writes about a concept, it only receives that unit's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asks for three times the number of questions needed. Near-duplicates (cosine similarity above 0.85) are removed, and each question is scored by two other models; below 3 out of 5 it is rejected. In our run 90 were generated, 25 duplicates removed, 65 kept. Every stored question has 4 options, a valid key, a difficulty and a Bloom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EKT embeds the text of each question, feeds it with the right/wrong answer into an LSTM, and outputs mastery for every concept. DKT, the baseline, only sees the concept and right/wrong. On our test set EKT reaches AUC 0.827 against 0.665 for DKT.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weak concept Groq writes a five-part plan from the syllabus and the questions the student got wrong. OpenRouter and Gemini each score it from 1 to 5; if the average is below 3 it is rewritten with their feedback, up to two times. Show the screenshot: this is what the student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instructor sets the rule as N and P: N questions per level, P percent to pass. With 5 and 80, the student needs 4 of 5 to unlock the next level. The highest level passed gives the category. Questions already seen are never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column is ours. Walk through each row. The study PDF, free models with automatic fallback, unit-aware retrieval and calibrated mastery are not in the base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APIs limit requests per minute, are sometimes overloaded (503), and retire model names (404). Every call goes through four steps: pacing, retry with the server's suggested wait, a circuit breaker that switches a failing provider off, and an offline mock so the app never crashes. The models command lists valid model names for each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asked for something to study from after the screen is closed. The PDF has only their weak concepts, weakest first: the questions they got wrong, the five-part plan, the matching syllabus pages from RAG and a self-check list. It reuses the plan already generated, so it costs no extra AI calls. Show it live if possible: View study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with the paper's fixed 1000-character chunks only 38% of retrieved text belonged to the right unit; our unit-aware retrieval gets 100%. Right: with only the next-answer loss, EKT mastery stayed near 0.5 for every concept; our extra mastery loss makes it rise when the student answers correctly, so gaps can be found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1) upload sample_uploads/1_single_student_weak_in_strings.csv; 2) Analyse - show the mastery bars; 3) open the recommendation; 4) View study material; 5) Start self-assessment. If the network fails, the offline mock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and settings for both models; the only difference is that EKT reads the question text. Higher is better for AUC, accuracy and F1. The paper reports 0.9334 on real data; ours is lower because of different, synthetic data, but the ranking EKT &gt; DKT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simulated students took a pre-test, received recommendations, and took a post-test. Mean scores rose on all five concepts; the paired t-test is significant (p &lt; 0.05) for Fundamentals, Strings and Data structures. Say clearly that the students and the study effect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Closed-loop simulation with 40 students who all start with gaps. With remediation, 38 of 40 had no gaps after one round; without remediation only 27 of 40. The case study: learner CSE230001 had all five concepts below target and reached the target on all five after one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limitations; panels respect it. The most important future step is a pilot with a real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points, then thank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three AI models; what if the API fails; is the study PDF in the paper (no, it is ours); why simulated students; EKT vs DKT.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7315200" cy="411480"/>
          </a:xfrm>
          <a:prstGeom prst="rect">
            <a:avLst/>
          </a:prstGeom>
          <a:noFill/>
          <a:ln/>
        </p:spPr>
        <p:txBody>
          <a:bodyPr wrap="square" rtlCol="0"/>
          <a:lstStyle>
            <a:lvl1pPr indent="0" marL="0">
              <a:buNone/>
              <a:defRPr lang="en-US" sz="1600" b="1" spc="300" kern="0"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548640" y="1691640"/>
            <a:ext cx="11064240" cy="192024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4" name="Text 0"/>
          <p:cNvSpPr/>
          <p:nvPr>
            <p:ph idx="102" type="body" hasCustomPrompt="1"/>
          </p:nvPr>
        </p:nvSpPr>
        <p:spPr>
          <a:xfrm>
            <a:off x="548640" y="3657600"/>
            <a:ext cx="10515600" cy="54864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AI-Driven Personalized Learning  ·  Final Review</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64240" cy="1097280"/>
          </a:xfrm>
          <a:prstGeom prst="rect">
            <a:avLst/>
          </a:prstGeom>
          <a:noFill/>
          <a:ln/>
        </p:spPr>
        <p:txBody>
          <a:bodyPr wrap="square" rtlCol="0"/>
          <a:lstStyle>
            <a:lvl1pPr algn="ctr" indent="0" marL="0">
              <a:buNone/>
              <a:defRPr lang="en-US" sz="4400" b="1" dirty="0">
                <a:solidFill>
                  <a:schemeClr val="bg1"/>
                </a:solidFill>
                <a:latin typeface="Cambria" pitchFamily="34" charset="0"/>
                <a:ea typeface="Cambria" pitchFamily="34" charset="-122"/>
                <a:cs typeface="Cambria" pitchFamily="34" charset="-120"/>
              </a:defRPr>
            </a:lvl1pPr>
          </a:lstStyle>
          <a:p>
            <a:pPr algn="ctr" indent="0" marL="0">
              <a:buNone/>
            </a:pPr>
            <a:endParaRPr lang="en-US" sz="4400" dirty="0"/>
          </a:p>
        </p:txBody>
      </p:sp>
      <p:sp>
        <p:nvSpPr>
          <p:cNvPr id="3" name="Text 0"/>
          <p:cNvSpPr/>
          <p:nvPr>
            <p:ph idx="101" type="body" hasCustomPrompt="1"/>
          </p:nvPr>
        </p:nvSpPr>
        <p:spPr>
          <a:xfrm>
            <a:off x="1371600" y="3291840"/>
            <a:ext cx="9418320" cy="1280160"/>
          </a:xfrm>
          <a:prstGeom prst="rect">
            <a:avLst/>
          </a:prstGeom>
          <a:noFill/>
          <a:ln/>
        </p:spPr>
        <p:txBody>
          <a:bodyPr wrap="square" rtlCol="0"/>
          <a:lstStyle>
            <a:lvl1pPr algn="ctr" indent="0" marL="0">
              <a:buNone/>
              <a:defRPr lang="en-US" sz="1800" dirty="0">
                <a:solidFill>
                  <a:schemeClr val="accent4"/>
                </a:solidFill>
              </a:defRPr>
            </a:lvl1pPr>
          </a:lstStyle>
          <a:p>
            <a:pPr algn="ct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7315200" cy="411480"/>
          </a:xfrm>
          <a:prstGeom prst="rect">
            <a:avLst/>
          </a:prstGeom>
          <a:noFill/>
          <a:ln/>
        </p:spPr>
        <p:txBody>
          <a:bodyPr wrap="square" lIns="0" tIns="0" rIns="0" bIns="0" rtlCol="0"/>
          <a:lstStyle/>
          <a:p>
            <a:pPr indent="0" marL="0">
              <a:buNone/>
            </a:pPr>
            <a:r>
              <a:rPr lang="en-US" sz="1600" b="1" spc="300" kern="0" dirty="0">
                <a:solidFill>
                  <a:schemeClr val="accent2"/>
                </a:solidFill>
              </a:rPr>
              <a:t>FINAL REVIEW  ·  FINAL-YEAR PROJECT</a:t>
            </a:r>
            <a:endParaRPr lang="en-US" sz="1600" dirty="0"/>
          </a:p>
        </p:txBody>
      </p:sp>
      <p:sp>
        <p:nvSpPr>
          <p:cNvPr id="3" name="Text 0"/>
          <p:cNvSpPr/>
          <p:nvPr>
            <p:ph idx="101" type="title" hasCustomPrompt="1"/>
          </p:nvPr>
        </p:nvSpPr>
        <p:spPr>
          <a:xfrm>
            <a:off x="548640" y="1691640"/>
            <a:ext cx="11064240" cy="192024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AI-Driven Personalized Learning and Remedial Recommendation Through Knowledge Concept-Centric Evaluation</a:t>
            </a:r>
            <a:endParaRPr lang="en-US" sz="3600" dirty="0"/>
          </a:p>
        </p:txBody>
      </p:sp>
      <p:sp>
        <p:nvSpPr>
          <p:cNvPr id="4" name="Text 0"/>
          <p:cNvSpPr/>
          <p:nvPr>
            <p:ph idx="102" type="body" hasCustomPrompt="1"/>
          </p:nvPr>
        </p:nvSpPr>
        <p:spPr>
          <a:xfrm>
            <a:off x="548640" y="3657600"/>
            <a:ext cx="10515600" cy="548640"/>
          </a:xfrm>
          <a:prstGeom prst="rect">
            <a:avLst/>
          </a:prstGeom>
          <a:noFill/>
          <a:ln/>
        </p:spPr>
        <p:txBody>
          <a:bodyPr wrap="square" lIns="0" tIns="0" rIns="0" bIns="0" rtlCol="0"/>
          <a:lstStyle/>
          <a:p>
            <a:pPr indent="0" marL="0">
              <a:buNone/>
            </a:pPr>
            <a:r>
              <a:rPr lang="en-US" sz="1800" dirty="0">
                <a:solidFill>
                  <a:schemeClr val="accent4"/>
                </a:solidFill>
              </a:rPr>
              <a:t>A working system that finds weak concepts, writes verified help, and re-tests, on free AI models</a:t>
            </a:r>
            <a:endParaRPr lang="en-US" sz="1800" dirty="0"/>
          </a:p>
        </p:txBody>
      </p:sp>
      <p:sp>
        <p:nvSpPr>
          <p:cNvPr id="5" name="Team and guide"/>
          <p:cNvSpPr txBox="1"/>
          <p:nvPr/>
        </p:nvSpPr>
        <p:spPr>
          <a:xfrm>
            <a:off x="548640" y="4572000"/>
            <a:ext cx="11064240" cy="1280160"/>
          </a:xfrm>
          <a:prstGeom prst="rect">
            <a:avLst/>
          </a:prstGeom>
          <a:noFill/>
          <a:ln/>
        </p:spPr>
        <p:txBody>
          <a:bodyPr wrap="square" lIns="0" tIns="0" rIns="0" bIns="0" rtlCol="0" anchor="ctr"/>
          <a:lstStyle/>
          <a:p>
            <a:pPr indent="0" marL="0">
              <a:spcAft>
                <a:spcPts val="600"/>
              </a:spcAft>
              <a:buNone/>
            </a:pPr>
            <a:r>
              <a:rPr lang="en-US" sz="1500" b="1" dirty="0">
                <a:solidFill>
                  <a:schemeClr val="accent2"/>
                </a:solidFill>
              </a:rPr>
              <a:t>Team:  </a:t>
            </a:r>
            <a:pPr indent="0" marL="0">
              <a:spcAft>
                <a:spcPts val="600"/>
              </a:spcAft>
              <a:buNone/>
            </a:pPr>
            <a:r>
              <a:rPr lang="en-US" sz="1500" dirty="0">
                <a:solidFill>
                  <a:schemeClr val="bg1"/>
                </a:solidFill>
              </a:rPr>
              <a:t>[Student Name 1] ([Roll No.])   |   [Student Name 2] ([Roll No.])   |   [Student Name 3] ([Roll No.])</a:t>
            </a:r>
            <a:endParaRPr lang="en-US" sz="1500" dirty="0"/>
          </a:p>
          <a:p>
            <a:pPr indent="0" marL="0">
              <a:spcAft>
                <a:spcPts val="600"/>
              </a:spcAft>
              <a:buNone/>
            </a:pPr>
            <a:r>
              <a:rPr lang="en-US" sz="1500" b="1" dirty="0">
                <a:solidFill>
                  <a:schemeClr val="accent2"/>
                </a:solidFill>
              </a:rPr>
              <a:t>Guide:  </a:t>
            </a:r>
            <a:pPr indent="0" marL="0">
              <a:spcAft>
                <a:spcPts val="600"/>
              </a:spcAft>
              <a:buNone/>
            </a:pPr>
            <a:r>
              <a:rPr lang="en-US" sz="1500" dirty="0">
                <a:solidFill>
                  <a:schemeClr val="bg1"/>
                </a:solidFill>
              </a:rPr>
              <a:t>[Guide Name], [Designation]</a:t>
            </a:r>
            <a:endParaRPr lang="en-US" sz="1500" dirty="0"/>
          </a:p>
          <a:p>
            <a:pPr indent="0" marL="0">
              <a:spcAft>
                <a:spcPts val="600"/>
              </a:spcAft>
              <a:buNone/>
            </a:pPr>
            <a:r>
              <a:rPr lang="en-US" sz="1500" dirty="0">
                <a:solidFill>
                  <a:schemeClr val="bg1"/>
                </a:solidFill>
              </a:rPr>
              <a:t>[Department of Computer Science and Engineering]  ·  [College Name]  ·  [2025–2026]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AGENDA</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What we will cover</a:t>
            </a:r>
            <a:endParaRPr lang="en-US" sz="3000" dirty="0"/>
          </a:p>
        </p:txBody>
      </p:sp>
      <p:sp>
        <p:nvSpPr>
          <p:cNvPr id="5" name="Agenda 1"/>
          <p:cNvSpPr/>
          <p:nvPr/>
        </p:nvSpPr>
        <p:spPr>
          <a:xfrm>
            <a:off x="548640" y="1600200"/>
            <a:ext cx="2567864" cy="1965960"/>
          </a:xfrm>
          <a:prstGeom prst="roundRect">
            <a:avLst>
              <a:gd name="adj" fmla="val 3721"/>
            </a:avLst>
          </a:prstGeom>
          <a:solidFill>
            <a:schemeClr val="bg2"/>
          </a:solidFill>
          <a:ln/>
        </p:spPr>
      </p:sp>
      <p:sp>
        <p:nvSpPr>
          <p:cNvPr id="6" name="Number 1"/>
          <p:cNvSpPr/>
          <p:nvPr/>
        </p:nvSpPr>
        <p:spPr>
          <a:xfrm>
            <a:off x="822960" y="1874520"/>
            <a:ext cx="640080" cy="640080"/>
          </a:xfrm>
          <a:prstGeom prst="ellipse">
            <a:avLst/>
          </a:prstGeom>
          <a:solidFill>
            <a:schemeClr val="accent1"/>
          </a:solidFill>
          <a:ln/>
        </p:spPr>
      </p:sp>
      <p:sp>
        <p:nvSpPr>
          <p:cNvPr id="7" name="Number text 1"/>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Agenda item 1"/>
          <p:cNvSpPr txBox="1"/>
          <p:nvPr/>
        </p:nvSpPr>
        <p:spPr>
          <a:xfrm>
            <a:off x="822960" y="2651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Problem &amp; base paper</a:t>
            </a:r>
            <a:endParaRPr lang="en-US" sz="1700" dirty="0"/>
          </a:p>
        </p:txBody>
      </p:sp>
      <p:sp>
        <p:nvSpPr>
          <p:cNvPr id="9" name="Agenda 2"/>
          <p:cNvSpPr/>
          <p:nvPr/>
        </p:nvSpPr>
        <p:spPr>
          <a:xfrm>
            <a:off x="3390824" y="1600200"/>
            <a:ext cx="2567864" cy="1965960"/>
          </a:xfrm>
          <a:prstGeom prst="roundRect">
            <a:avLst>
              <a:gd name="adj" fmla="val 3721"/>
            </a:avLst>
          </a:prstGeom>
          <a:solidFill>
            <a:schemeClr val="bg2"/>
          </a:solidFill>
          <a:ln/>
        </p:spPr>
      </p:sp>
      <p:sp>
        <p:nvSpPr>
          <p:cNvPr id="10" name="Number 2"/>
          <p:cNvSpPr/>
          <p:nvPr/>
        </p:nvSpPr>
        <p:spPr>
          <a:xfrm>
            <a:off x="3665144" y="1874520"/>
            <a:ext cx="640080" cy="640080"/>
          </a:xfrm>
          <a:prstGeom prst="ellipse">
            <a:avLst/>
          </a:prstGeom>
          <a:solidFill>
            <a:schemeClr val="accent1"/>
          </a:solidFill>
          <a:ln/>
        </p:spPr>
      </p:sp>
      <p:sp>
        <p:nvSpPr>
          <p:cNvPr id="11" name="Number text 2"/>
          <p:cNvSpPr txBox="1"/>
          <p:nvPr/>
        </p:nvSpPr>
        <p:spPr>
          <a:xfrm>
            <a:off x="3665144" y="1874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Agenda item 2"/>
          <p:cNvSpPr txBox="1"/>
          <p:nvPr/>
        </p:nvSpPr>
        <p:spPr>
          <a:xfrm>
            <a:off x="3665144" y="2651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Objectives status</a:t>
            </a:r>
            <a:endParaRPr lang="en-US" sz="1700" dirty="0"/>
          </a:p>
        </p:txBody>
      </p:sp>
      <p:sp>
        <p:nvSpPr>
          <p:cNvPr id="13" name="Agenda 3"/>
          <p:cNvSpPr/>
          <p:nvPr/>
        </p:nvSpPr>
        <p:spPr>
          <a:xfrm>
            <a:off x="6233008" y="1600200"/>
            <a:ext cx="2567864" cy="1965960"/>
          </a:xfrm>
          <a:prstGeom prst="roundRect">
            <a:avLst>
              <a:gd name="adj" fmla="val 3721"/>
            </a:avLst>
          </a:prstGeom>
          <a:solidFill>
            <a:schemeClr val="bg2"/>
          </a:solidFill>
          <a:ln/>
        </p:spPr>
      </p:sp>
      <p:sp>
        <p:nvSpPr>
          <p:cNvPr id="14" name="Number 3"/>
          <p:cNvSpPr/>
          <p:nvPr/>
        </p:nvSpPr>
        <p:spPr>
          <a:xfrm>
            <a:off x="6507328" y="1874520"/>
            <a:ext cx="640080" cy="640080"/>
          </a:xfrm>
          <a:prstGeom prst="ellipse">
            <a:avLst/>
          </a:prstGeom>
          <a:solidFill>
            <a:schemeClr val="accent1"/>
          </a:solidFill>
          <a:ln/>
        </p:spPr>
      </p:sp>
      <p:sp>
        <p:nvSpPr>
          <p:cNvPr id="15" name="Number text 3"/>
          <p:cNvSpPr txBox="1"/>
          <p:nvPr/>
        </p:nvSpPr>
        <p:spPr>
          <a:xfrm>
            <a:off x="6507328" y="1874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Agenda item 3"/>
          <p:cNvSpPr txBox="1"/>
          <p:nvPr/>
        </p:nvSpPr>
        <p:spPr>
          <a:xfrm>
            <a:off x="6507328" y="2651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System architecture</a:t>
            </a:r>
            <a:endParaRPr lang="en-US" sz="1700" dirty="0"/>
          </a:p>
        </p:txBody>
      </p:sp>
      <p:sp>
        <p:nvSpPr>
          <p:cNvPr id="17" name="Agenda 4"/>
          <p:cNvSpPr/>
          <p:nvPr/>
        </p:nvSpPr>
        <p:spPr>
          <a:xfrm>
            <a:off x="9075191" y="1600200"/>
            <a:ext cx="2567864" cy="1965960"/>
          </a:xfrm>
          <a:prstGeom prst="roundRect">
            <a:avLst>
              <a:gd name="adj" fmla="val 3721"/>
            </a:avLst>
          </a:prstGeom>
          <a:solidFill>
            <a:schemeClr val="bg2"/>
          </a:solidFill>
          <a:ln/>
        </p:spPr>
      </p:sp>
      <p:sp>
        <p:nvSpPr>
          <p:cNvPr id="18" name="Number 4"/>
          <p:cNvSpPr/>
          <p:nvPr/>
        </p:nvSpPr>
        <p:spPr>
          <a:xfrm>
            <a:off x="9349511" y="1874520"/>
            <a:ext cx="640080" cy="640080"/>
          </a:xfrm>
          <a:prstGeom prst="ellipse">
            <a:avLst/>
          </a:prstGeom>
          <a:solidFill>
            <a:schemeClr val="accent1"/>
          </a:solidFill>
          <a:ln/>
        </p:spPr>
      </p:sp>
      <p:sp>
        <p:nvSpPr>
          <p:cNvPr id="19" name="Number text 4"/>
          <p:cNvSpPr txBox="1"/>
          <p:nvPr/>
        </p:nvSpPr>
        <p:spPr>
          <a:xfrm>
            <a:off x="9349511" y="1874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Agenda item 4"/>
          <p:cNvSpPr txBox="1"/>
          <p:nvPr/>
        </p:nvSpPr>
        <p:spPr>
          <a:xfrm>
            <a:off x="9349511" y="2651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Modules implemented</a:t>
            </a:r>
            <a:endParaRPr lang="en-US" sz="1700" dirty="0"/>
          </a:p>
        </p:txBody>
      </p:sp>
      <p:sp>
        <p:nvSpPr>
          <p:cNvPr id="21" name="Agenda 5"/>
          <p:cNvSpPr/>
          <p:nvPr/>
        </p:nvSpPr>
        <p:spPr>
          <a:xfrm>
            <a:off x="548640" y="3886200"/>
            <a:ext cx="2567864" cy="1965960"/>
          </a:xfrm>
          <a:prstGeom prst="roundRect">
            <a:avLst>
              <a:gd name="adj" fmla="val 3721"/>
            </a:avLst>
          </a:prstGeom>
          <a:solidFill>
            <a:schemeClr val="bg2"/>
          </a:solidFill>
          <a:ln w="15875">
            <a:solidFill>
              <a:schemeClr val="accent2"/>
            </a:solidFill>
            <a:prstDash val="solid"/>
          </a:ln>
        </p:spPr>
      </p:sp>
      <p:sp>
        <p:nvSpPr>
          <p:cNvPr id="22" name="Number 5"/>
          <p:cNvSpPr/>
          <p:nvPr/>
        </p:nvSpPr>
        <p:spPr>
          <a:xfrm>
            <a:off x="822960" y="4160520"/>
            <a:ext cx="640080" cy="640080"/>
          </a:xfrm>
          <a:prstGeom prst="ellipse">
            <a:avLst/>
          </a:prstGeom>
          <a:solidFill>
            <a:schemeClr val="accent2"/>
          </a:solidFill>
          <a:ln/>
        </p:spPr>
      </p:sp>
      <p:sp>
        <p:nvSpPr>
          <p:cNvPr id="23" name="Number text 5"/>
          <p:cNvSpPr txBox="1"/>
          <p:nvPr/>
        </p:nvSpPr>
        <p:spPr>
          <a:xfrm>
            <a:off x="822960"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Agenda item 5"/>
          <p:cNvSpPr txBox="1"/>
          <p:nvPr/>
        </p:nvSpPr>
        <p:spPr>
          <a:xfrm>
            <a:off x="822960" y="4937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Our additions to the paper</a:t>
            </a:r>
            <a:endParaRPr lang="en-US" sz="1700" dirty="0"/>
          </a:p>
        </p:txBody>
      </p:sp>
      <p:sp>
        <p:nvSpPr>
          <p:cNvPr id="25" name="Agenda 6"/>
          <p:cNvSpPr/>
          <p:nvPr/>
        </p:nvSpPr>
        <p:spPr>
          <a:xfrm>
            <a:off x="3390824" y="3886200"/>
            <a:ext cx="2567864" cy="1965960"/>
          </a:xfrm>
          <a:prstGeom prst="roundRect">
            <a:avLst>
              <a:gd name="adj" fmla="val 3721"/>
            </a:avLst>
          </a:prstGeom>
          <a:solidFill>
            <a:schemeClr val="bg2"/>
          </a:solidFill>
          <a:ln/>
        </p:spPr>
      </p:sp>
      <p:sp>
        <p:nvSpPr>
          <p:cNvPr id="26" name="Number 6"/>
          <p:cNvSpPr/>
          <p:nvPr/>
        </p:nvSpPr>
        <p:spPr>
          <a:xfrm>
            <a:off x="3665144" y="4160520"/>
            <a:ext cx="640080" cy="640080"/>
          </a:xfrm>
          <a:prstGeom prst="ellipse">
            <a:avLst/>
          </a:prstGeom>
          <a:solidFill>
            <a:schemeClr val="accent1"/>
          </a:solidFill>
          <a:ln/>
        </p:spPr>
      </p:sp>
      <p:sp>
        <p:nvSpPr>
          <p:cNvPr id="27" name="Number text 6"/>
          <p:cNvSpPr txBox="1"/>
          <p:nvPr/>
        </p:nvSpPr>
        <p:spPr>
          <a:xfrm>
            <a:off x="3665144"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8" name="Agenda item 6"/>
          <p:cNvSpPr txBox="1"/>
          <p:nvPr/>
        </p:nvSpPr>
        <p:spPr>
          <a:xfrm>
            <a:off x="3665144" y="4937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Live demo</a:t>
            </a:r>
            <a:endParaRPr lang="en-US" sz="1700" dirty="0"/>
          </a:p>
        </p:txBody>
      </p:sp>
      <p:sp>
        <p:nvSpPr>
          <p:cNvPr id="29" name="Agenda 7"/>
          <p:cNvSpPr/>
          <p:nvPr/>
        </p:nvSpPr>
        <p:spPr>
          <a:xfrm>
            <a:off x="6233008" y="3886200"/>
            <a:ext cx="2567864" cy="1965960"/>
          </a:xfrm>
          <a:prstGeom prst="roundRect">
            <a:avLst>
              <a:gd name="adj" fmla="val 3721"/>
            </a:avLst>
          </a:prstGeom>
          <a:solidFill>
            <a:schemeClr val="bg2"/>
          </a:solidFill>
          <a:ln/>
        </p:spPr>
      </p:sp>
      <p:sp>
        <p:nvSpPr>
          <p:cNvPr id="30" name="Number 7"/>
          <p:cNvSpPr/>
          <p:nvPr/>
        </p:nvSpPr>
        <p:spPr>
          <a:xfrm>
            <a:off x="6507328" y="4160520"/>
            <a:ext cx="640080" cy="640080"/>
          </a:xfrm>
          <a:prstGeom prst="ellipse">
            <a:avLst/>
          </a:prstGeom>
          <a:solidFill>
            <a:schemeClr val="accent1"/>
          </a:solidFill>
          <a:ln/>
        </p:spPr>
      </p:sp>
      <p:sp>
        <p:nvSpPr>
          <p:cNvPr id="31" name="Number text 7"/>
          <p:cNvSpPr txBox="1"/>
          <p:nvPr/>
        </p:nvSpPr>
        <p:spPr>
          <a:xfrm>
            <a:off x="6507328"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2" name="Agenda item 7"/>
          <p:cNvSpPr txBox="1"/>
          <p:nvPr/>
        </p:nvSpPr>
        <p:spPr>
          <a:xfrm>
            <a:off x="6507328" y="4937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Results &amp; evaluation</a:t>
            </a:r>
            <a:endParaRPr lang="en-US" sz="1700" dirty="0"/>
          </a:p>
        </p:txBody>
      </p:sp>
      <p:sp>
        <p:nvSpPr>
          <p:cNvPr id="33" name="Agenda 8"/>
          <p:cNvSpPr/>
          <p:nvPr/>
        </p:nvSpPr>
        <p:spPr>
          <a:xfrm>
            <a:off x="9075191" y="3886200"/>
            <a:ext cx="2567864" cy="1965960"/>
          </a:xfrm>
          <a:prstGeom prst="roundRect">
            <a:avLst>
              <a:gd name="adj" fmla="val 3721"/>
            </a:avLst>
          </a:prstGeom>
          <a:solidFill>
            <a:schemeClr val="bg2"/>
          </a:solidFill>
          <a:ln/>
        </p:spPr>
      </p:sp>
      <p:sp>
        <p:nvSpPr>
          <p:cNvPr id="34" name="Number 8"/>
          <p:cNvSpPr/>
          <p:nvPr/>
        </p:nvSpPr>
        <p:spPr>
          <a:xfrm>
            <a:off x="9349511" y="4160520"/>
            <a:ext cx="640080" cy="640080"/>
          </a:xfrm>
          <a:prstGeom prst="ellipse">
            <a:avLst/>
          </a:prstGeom>
          <a:solidFill>
            <a:schemeClr val="accent1"/>
          </a:solidFill>
          <a:ln/>
        </p:spPr>
      </p:sp>
      <p:sp>
        <p:nvSpPr>
          <p:cNvPr id="35" name="Number text 8"/>
          <p:cNvSpPr txBox="1"/>
          <p:nvPr/>
        </p:nvSpPr>
        <p:spPr>
          <a:xfrm>
            <a:off x="9349511" y="4160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6" name="Agenda item 8"/>
          <p:cNvSpPr txBox="1"/>
          <p:nvPr/>
        </p:nvSpPr>
        <p:spPr>
          <a:xfrm>
            <a:off x="9349511" y="4937760"/>
            <a:ext cx="2110664" cy="731520"/>
          </a:xfrm>
          <a:prstGeom prst="rect">
            <a:avLst/>
          </a:prstGeom>
          <a:noFill/>
          <a:ln/>
        </p:spPr>
        <p:txBody>
          <a:bodyPr wrap="square" lIns="0" tIns="0" rIns="0" bIns="0" rtlCol="0" anchor="t"/>
          <a:lstStyle/>
          <a:p>
            <a:pPr indent="0" marL="0">
              <a:buNone/>
            </a:pPr>
            <a:r>
              <a:rPr lang="en-US" sz="1700" b="1" dirty="0">
                <a:solidFill>
                  <a:schemeClr val="tx2"/>
                </a:solidFill>
              </a:rPr>
              <a:t>Conclusion &amp; future scope</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PROBLEM &amp; BASE PAPER</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From one total mark to mastery of every concept</a:t>
            </a:r>
            <a:endParaRPr lang="en-US" sz="3000" dirty="0"/>
          </a:p>
        </p:txBody>
      </p:sp>
      <p:sp>
        <p:nvSpPr>
          <p:cNvPr id="5" name="Problem card"/>
          <p:cNvSpPr/>
          <p:nvPr/>
        </p:nvSpPr>
        <p:spPr>
          <a:xfrm>
            <a:off x="548640" y="1645920"/>
            <a:ext cx="5394960" cy="4206240"/>
          </a:xfrm>
          <a:prstGeom prst="roundRect">
            <a:avLst>
              <a:gd name="adj" fmla="val 1739"/>
            </a:avLst>
          </a:prstGeom>
          <a:solidFill>
            <a:schemeClr val="bg2"/>
          </a:solidFill>
          <a:ln/>
        </p:spPr>
      </p:sp>
      <p:sp>
        <p:nvSpPr>
          <p:cNvPr id="6" name="The problem"/>
          <p:cNvSpPr txBox="1"/>
          <p:nvPr/>
        </p:nvSpPr>
        <p:spPr>
          <a:xfrm>
            <a:off x="822960" y="1874520"/>
            <a:ext cx="4846320" cy="38404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The problem</a:t>
            </a:r>
            <a:endParaRPr lang="en-US" sz="1800" dirty="0"/>
          </a:p>
          <a:p>
            <a:pPr marL="203200" indent="-203200">
              <a:spcAft>
                <a:spcPts val="1000"/>
              </a:spcAft>
              <a:buSzPct val="100000"/>
              <a:buChar char="•"/>
            </a:pPr>
            <a:r>
              <a:rPr lang="en-US" sz="1600" dirty="0">
                <a:solidFill>
                  <a:schemeClr val="tx1"/>
                </a:solidFill>
              </a:rPr>
              <a:t>Everyone gets the same material and test, and one total mark</a:t>
            </a:r>
            <a:endParaRPr lang="en-US" sz="1800" dirty="0"/>
          </a:p>
          <a:p>
            <a:pPr marL="203200" indent="-203200">
              <a:spcAft>
                <a:spcPts val="1000"/>
              </a:spcAft>
              <a:buSzPct val="100000"/>
              <a:buChar char="•"/>
            </a:pPr>
            <a:r>
              <a:rPr lang="en-US" sz="1600" dirty="0">
                <a:solidFill>
                  <a:schemeClr val="tx1"/>
                </a:solidFill>
              </a:rPr>
              <a:t>The mark does not show which concepts were missed</a:t>
            </a:r>
            <a:endParaRPr lang="en-US" sz="1800" dirty="0"/>
          </a:p>
          <a:p>
            <a:pPr marL="203200" indent="-203200">
              <a:spcAft>
                <a:spcPts val="1000"/>
              </a:spcAft>
              <a:buSzPct val="100000"/>
              <a:buChar char="•"/>
            </a:pPr>
            <a:r>
              <a:rPr lang="en-US" sz="1600" dirty="0">
                <a:solidFill>
                  <a:schemeClr val="tx1"/>
                </a:solidFill>
              </a:rPr>
              <a:t>Teachers cannot write personal material for every student</a:t>
            </a:r>
            <a:endParaRPr lang="en-US" sz="1800" dirty="0"/>
          </a:p>
        </p:txBody>
      </p:sp>
      <p:sp>
        <p:nvSpPr>
          <p:cNvPr id="7" name="Base paper card"/>
          <p:cNvSpPr/>
          <p:nvPr/>
        </p:nvSpPr>
        <p:spPr>
          <a:xfrm>
            <a:off x="6217920" y="1645920"/>
            <a:ext cx="5422392" cy="4206240"/>
          </a:xfrm>
          <a:prstGeom prst="roundRect">
            <a:avLst>
              <a:gd name="adj" fmla="val 1739"/>
            </a:avLst>
          </a:prstGeom>
          <a:solidFill>
            <a:schemeClr val="accent4"/>
          </a:solidFill>
          <a:ln/>
        </p:spPr>
      </p:sp>
      <p:sp>
        <p:nvSpPr>
          <p:cNvPr id="8" name="The base paper"/>
          <p:cNvSpPr txBox="1"/>
          <p:nvPr/>
        </p:nvSpPr>
        <p:spPr>
          <a:xfrm>
            <a:off x="6492240" y="1874520"/>
            <a:ext cx="4846320" cy="38404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The base paper</a:t>
            </a:r>
            <a:endParaRPr lang="en-US" sz="1800" dirty="0"/>
          </a:p>
          <a:p>
            <a:pPr marL="203200" indent="-203200">
              <a:spcAft>
                <a:spcPts val="1000"/>
              </a:spcAft>
              <a:buSzPct val="100000"/>
              <a:buChar char="•"/>
            </a:pPr>
            <a:r>
              <a:rPr lang="en-US" sz="1600" dirty="0">
                <a:solidFill>
                  <a:schemeClr val="tx1"/>
                </a:solidFill>
              </a:rPr>
              <a:t>Pradeesh et al., IEEE Access, vol. 13, 2025</a:t>
            </a:r>
            <a:endParaRPr lang="en-US" sz="1800" dirty="0"/>
          </a:p>
          <a:p>
            <a:pPr marL="203200" indent="-203200">
              <a:spcAft>
                <a:spcPts val="1000"/>
              </a:spcAft>
              <a:buSzPct val="100000"/>
              <a:buChar char="•"/>
            </a:pPr>
            <a:r>
              <a:rPr lang="en-US" sz="1600" dirty="0">
                <a:solidFill>
                  <a:schemeClr val="tx1"/>
                </a:solidFill>
              </a:rPr>
              <a:t>Six modules: RAG, concepts, EKT, remedial plans, MCQs, adaptive test</a:t>
            </a:r>
            <a:endParaRPr lang="en-US" sz="1800" dirty="0"/>
          </a:p>
          <a:p>
            <a:pPr marL="203200" indent="-203200">
              <a:spcAft>
                <a:spcPts val="1000"/>
              </a:spcAft>
              <a:buSzPct val="100000"/>
              <a:buChar char="•"/>
            </a:pPr>
            <a:r>
              <a:rPr lang="en-US" sz="1600" dirty="0">
                <a:solidFill>
                  <a:schemeClr val="tx1"/>
                </a:solidFill>
              </a:rPr>
              <a:t>Paid models: OpenAI writes, Gemini and DeepSeek verify</a:t>
            </a:r>
            <a:endParaRPr lang="en-US" sz="1800" dirty="0"/>
          </a:p>
          <a:p>
            <a:pPr marL="203200" indent="-203200">
              <a:spcAft>
                <a:spcPts val="1000"/>
              </a:spcAft>
              <a:buSzPct val="100000"/>
              <a:buChar char="•"/>
            </a:pPr>
            <a:r>
              <a:rPr lang="en-US" sz="1600" dirty="0">
                <a:solidFill>
                  <a:schemeClr val="tx1"/>
                </a:solidFill>
              </a:rPr>
              <a:t>We implemented it end to end and extended it</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OBJECTIVES STATUS</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Seven of eight objectives are complete</a:t>
            </a:r>
            <a:endParaRPr lang="en-US" sz="3000" dirty="0"/>
          </a:p>
        </p:txBody>
      </p:sp>
      <p:sp>
        <p:nvSpPr>
          <p:cNvPr id="5" name="Objective 1"/>
          <p:cNvSpPr/>
          <p:nvPr/>
        </p:nvSpPr>
        <p:spPr>
          <a:xfrm>
            <a:off x="548640" y="1645920"/>
            <a:ext cx="5394960" cy="822960"/>
          </a:xfrm>
          <a:prstGeom prst="roundRect">
            <a:avLst>
              <a:gd name="adj" fmla="val 8889"/>
            </a:avLst>
          </a:prstGeom>
          <a:solidFill>
            <a:schemeClr val="bg2"/>
          </a:solidFill>
          <a:ln/>
        </p:spPr>
      </p:sp>
      <p:sp>
        <p:nvSpPr>
          <p:cNvPr id="6" name="Number ✓"/>
          <p:cNvSpPr/>
          <p:nvPr/>
        </p:nvSpPr>
        <p:spPr>
          <a:xfrm>
            <a:off x="731520" y="1801368"/>
            <a:ext cx="512064" cy="512064"/>
          </a:xfrm>
          <a:prstGeom prst="ellipse">
            <a:avLst/>
          </a:prstGeom>
          <a:solidFill>
            <a:schemeClr val="accent1"/>
          </a:solidFill>
          <a:ln/>
        </p:spPr>
      </p:sp>
      <p:sp>
        <p:nvSpPr>
          <p:cNvPr id="7" name="Number text ✓"/>
          <p:cNvSpPr txBox="1"/>
          <p:nvPr/>
        </p:nvSpPr>
        <p:spPr>
          <a:xfrm>
            <a:off x="731520" y="18013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8" name="Text 5"/>
          <p:cNvSpPr txBox="1"/>
          <p:nvPr/>
        </p:nvSpPr>
        <p:spPr>
          <a:xfrm>
            <a:off x="1417320" y="1645920"/>
            <a:ext cx="4389120" cy="822960"/>
          </a:xfrm>
          <a:prstGeom prst="rect">
            <a:avLst/>
          </a:prstGeom>
          <a:noFill/>
          <a:ln/>
        </p:spPr>
        <p:txBody>
          <a:bodyPr wrap="square" lIns="0" tIns="0" rIns="0" bIns="0" rtlCol="0" anchor="ctr"/>
          <a:lstStyle/>
          <a:p>
            <a:pPr indent="0" marL="0">
              <a:buNone/>
            </a:pPr>
            <a:r>
              <a:rPr lang="en-US" sz="1500" dirty="0">
                <a:solidFill>
                  <a:schemeClr val="tx1"/>
                </a:solidFill>
              </a:rPr>
              <a:t>Extract concepts and course outcomes from the syllabus</a:t>
            </a:r>
            <a:endParaRPr lang="en-US" sz="1500" dirty="0"/>
          </a:p>
        </p:txBody>
      </p:sp>
      <p:sp>
        <p:nvSpPr>
          <p:cNvPr id="9" name="Objective 2"/>
          <p:cNvSpPr/>
          <p:nvPr/>
        </p:nvSpPr>
        <p:spPr>
          <a:xfrm>
            <a:off x="548640" y="2697480"/>
            <a:ext cx="5394960" cy="822960"/>
          </a:xfrm>
          <a:prstGeom prst="roundRect">
            <a:avLst>
              <a:gd name="adj" fmla="val 8889"/>
            </a:avLst>
          </a:prstGeom>
          <a:solidFill>
            <a:schemeClr val="bg2"/>
          </a:solidFill>
          <a:ln/>
        </p:spPr>
      </p:sp>
      <p:sp>
        <p:nvSpPr>
          <p:cNvPr id="10" name="Number ✓"/>
          <p:cNvSpPr/>
          <p:nvPr/>
        </p:nvSpPr>
        <p:spPr>
          <a:xfrm>
            <a:off x="731520" y="2852928"/>
            <a:ext cx="512064" cy="512064"/>
          </a:xfrm>
          <a:prstGeom prst="ellipse">
            <a:avLst/>
          </a:prstGeom>
          <a:solidFill>
            <a:schemeClr val="accent1"/>
          </a:solidFill>
          <a:ln/>
        </p:spPr>
      </p:sp>
      <p:sp>
        <p:nvSpPr>
          <p:cNvPr id="11" name="Number text ✓"/>
          <p:cNvSpPr txBox="1"/>
          <p:nvPr/>
        </p:nvSpPr>
        <p:spPr>
          <a:xfrm>
            <a:off x="731520" y="28529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12" name="Text 9"/>
          <p:cNvSpPr txBox="1"/>
          <p:nvPr/>
        </p:nvSpPr>
        <p:spPr>
          <a:xfrm>
            <a:off x="1417320" y="2697480"/>
            <a:ext cx="4389120" cy="822960"/>
          </a:xfrm>
          <a:prstGeom prst="rect">
            <a:avLst/>
          </a:prstGeom>
          <a:noFill/>
          <a:ln/>
        </p:spPr>
        <p:txBody>
          <a:bodyPr wrap="square" lIns="0" tIns="0" rIns="0" bIns="0" rtlCol="0" anchor="ctr"/>
          <a:lstStyle/>
          <a:p>
            <a:pPr indent="0" marL="0">
              <a:buNone/>
            </a:pPr>
            <a:r>
              <a:rPr lang="en-US" sz="1500" dirty="0">
                <a:solidFill>
                  <a:schemeClr val="tx1"/>
                </a:solidFill>
              </a:rPr>
              <a:t>RAG knowledge base with MiniLM + FAISS</a:t>
            </a:r>
            <a:endParaRPr lang="en-US" sz="1500" dirty="0"/>
          </a:p>
        </p:txBody>
      </p:sp>
      <p:sp>
        <p:nvSpPr>
          <p:cNvPr id="13" name="Objective 3"/>
          <p:cNvSpPr/>
          <p:nvPr/>
        </p:nvSpPr>
        <p:spPr>
          <a:xfrm>
            <a:off x="548640" y="3749040"/>
            <a:ext cx="5394960" cy="822960"/>
          </a:xfrm>
          <a:prstGeom prst="roundRect">
            <a:avLst>
              <a:gd name="adj" fmla="val 8889"/>
            </a:avLst>
          </a:prstGeom>
          <a:solidFill>
            <a:schemeClr val="bg2"/>
          </a:solidFill>
          <a:ln/>
        </p:spPr>
      </p:sp>
      <p:sp>
        <p:nvSpPr>
          <p:cNvPr id="14" name="Number ✓"/>
          <p:cNvSpPr/>
          <p:nvPr/>
        </p:nvSpPr>
        <p:spPr>
          <a:xfrm>
            <a:off x="731520" y="3904488"/>
            <a:ext cx="512064" cy="512064"/>
          </a:xfrm>
          <a:prstGeom prst="ellipse">
            <a:avLst/>
          </a:prstGeom>
          <a:solidFill>
            <a:schemeClr val="accent1"/>
          </a:solidFill>
          <a:ln/>
        </p:spPr>
      </p:sp>
      <p:sp>
        <p:nvSpPr>
          <p:cNvPr id="15" name="Number text ✓"/>
          <p:cNvSpPr txBox="1"/>
          <p:nvPr/>
        </p:nvSpPr>
        <p:spPr>
          <a:xfrm>
            <a:off x="731520" y="39044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16" name="Text 13"/>
          <p:cNvSpPr txBox="1"/>
          <p:nvPr/>
        </p:nvSpPr>
        <p:spPr>
          <a:xfrm>
            <a:off x="1417320" y="3749040"/>
            <a:ext cx="4389120" cy="822960"/>
          </a:xfrm>
          <a:prstGeom prst="rect">
            <a:avLst/>
          </a:prstGeom>
          <a:noFill/>
          <a:ln/>
        </p:spPr>
        <p:txBody>
          <a:bodyPr wrap="square" lIns="0" tIns="0" rIns="0" bIns="0" rtlCol="0" anchor="ctr"/>
          <a:lstStyle/>
          <a:p>
            <a:pPr indent="0" marL="0">
              <a:buNone/>
            </a:pPr>
            <a:r>
              <a:rPr lang="en-US" sz="1500" dirty="0">
                <a:solidFill>
                  <a:schemeClr val="tx1"/>
                </a:solidFill>
              </a:rPr>
              <a:t>EKT mastery per concept, compared with DKT</a:t>
            </a:r>
            <a:endParaRPr lang="en-US" sz="1500" dirty="0"/>
          </a:p>
        </p:txBody>
      </p:sp>
      <p:sp>
        <p:nvSpPr>
          <p:cNvPr id="17" name="Objective 4"/>
          <p:cNvSpPr/>
          <p:nvPr/>
        </p:nvSpPr>
        <p:spPr>
          <a:xfrm>
            <a:off x="548640" y="4800600"/>
            <a:ext cx="5394960" cy="822960"/>
          </a:xfrm>
          <a:prstGeom prst="roundRect">
            <a:avLst>
              <a:gd name="adj" fmla="val 8889"/>
            </a:avLst>
          </a:prstGeom>
          <a:solidFill>
            <a:schemeClr val="bg2"/>
          </a:solidFill>
          <a:ln/>
        </p:spPr>
      </p:sp>
      <p:sp>
        <p:nvSpPr>
          <p:cNvPr id="18" name="Number ✓"/>
          <p:cNvSpPr/>
          <p:nvPr/>
        </p:nvSpPr>
        <p:spPr>
          <a:xfrm>
            <a:off x="731520" y="4956048"/>
            <a:ext cx="512064" cy="512064"/>
          </a:xfrm>
          <a:prstGeom prst="ellipse">
            <a:avLst/>
          </a:prstGeom>
          <a:solidFill>
            <a:schemeClr val="accent1"/>
          </a:solidFill>
          <a:ln/>
        </p:spPr>
      </p:sp>
      <p:sp>
        <p:nvSpPr>
          <p:cNvPr id="19" name="Number text ✓"/>
          <p:cNvSpPr txBox="1"/>
          <p:nvPr/>
        </p:nvSpPr>
        <p:spPr>
          <a:xfrm>
            <a:off x="731520" y="4956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20" name="Text 17"/>
          <p:cNvSpPr txBox="1"/>
          <p:nvPr/>
        </p:nvSpPr>
        <p:spPr>
          <a:xfrm>
            <a:off x="1417320" y="4800600"/>
            <a:ext cx="4389120" cy="822960"/>
          </a:xfrm>
          <a:prstGeom prst="rect">
            <a:avLst/>
          </a:prstGeom>
          <a:noFill/>
          <a:ln/>
        </p:spPr>
        <p:txBody>
          <a:bodyPr wrap="square" lIns="0" tIns="0" rIns="0" bIns="0" rtlCol="0" anchor="ctr"/>
          <a:lstStyle/>
          <a:p>
            <a:pPr indent="0" marL="0">
              <a:buNone/>
            </a:pPr>
            <a:r>
              <a:rPr lang="en-US" sz="1500" dirty="0">
                <a:solidFill>
                  <a:schemeClr val="tx1"/>
                </a:solidFill>
              </a:rPr>
              <a:t>Gap detection with OBE threshold 50% / target 70%</a:t>
            </a:r>
            <a:endParaRPr lang="en-US" sz="1500" dirty="0"/>
          </a:p>
        </p:txBody>
      </p:sp>
      <p:sp>
        <p:nvSpPr>
          <p:cNvPr id="21" name="Objective 5"/>
          <p:cNvSpPr/>
          <p:nvPr/>
        </p:nvSpPr>
        <p:spPr>
          <a:xfrm>
            <a:off x="6217920" y="1645920"/>
            <a:ext cx="5394960" cy="822960"/>
          </a:xfrm>
          <a:prstGeom prst="roundRect">
            <a:avLst>
              <a:gd name="adj" fmla="val 8889"/>
            </a:avLst>
          </a:prstGeom>
          <a:solidFill>
            <a:schemeClr val="bg2"/>
          </a:solidFill>
          <a:ln/>
        </p:spPr>
      </p:sp>
      <p:sp>
        <p:nvSpPr>
          <p:cNvPr id="22" name="Number ✓"/>
          <p:cNvSpPr/>
          <p:nvPr/>
        </p:nvSpPr>
        <p:spPr>
          <a:xfrm>
            <a:off x="6400800" y="1801368"/>
            <a:ext cx="512064" cy="512064"/>
          </a:xfrm>
          <a:prstGeom prst="ellipse">
            <a:avLst/>
          </a:prstGeom>
          <a:solidFill>
            <a:schemeClr val="accent1"/>
          </a:solidFill>
          <a:ln/>
        </p:spPr>
      </p:sp>
      <p:sp>
        <p:nvSpPr>
          <p:cNvPr id="23" name="Number text ✓"/>
          <p:cNvSpPr txBox="1"/>
          <p:nvPr/>
        </p:nvSpPr>
        <p:spPr>
          <a:xfrm>
            <a:off x="6400800" y="18013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24" name="Text 21"/>
          <p:cNvSpPr txBox="1"/>
          <p:nvPr/>
        </p:nvSpPr>
        <p:spPr>
          <a:xfrm>
            <a:off x="7086600" y="1645920"/>
            <a:ext cx="4389120" cy="822960"/>
          </a:xfrm>
          <a:prstGeom prst="rect">
            <a:avLst/>
          </a:prstGeom>
          <a:noFill/>
          <a:ln/>
        </p:spPr>
        <p:txBody>
          <a:bodyPr wrap="square" lIns="0" tIns="0" rIns="0" bIns="0" rtlCol="0" anchor="ctr"/>
          <a:lstStyle/>
          <a:p>
            <a:pPr indent="0" marL="0">
              <a:buNone/>
            </a:pPr>
            <a:r>
              <a:rPr lang="en-US" sz="1500" dirty="0">
                <a:solidFill>
                  <a:schemeClr val="tx1"/>
                </a:solidFill>
              </a:rPr>
              <a:t>Cross-verified five-part remedial plans</a:t>
            </a:r>
            <a:endParaRPr lang="en-US" sz="1500" dirty="0"/>
          </a:p>
        </p:txBody>
      </p:sp>
      <p:sp>
        <p:nvSpPr>
          <p:cNvPr id="25" name="Objective 6"/>
          <p:cNvSpPr/>
          <p:nvPr/>
        </p:nvSpPr>
        <p:spPr>
          <a:xfrm>
            <a:off x="6217920" y="2697480"/>
            <a:ext cx="5394960" cy="822960"/>
          </a:xfrm>
          <a:prstGeom prst="roundRect">
            <a:avLst>
              <a:gd name="adj" fmla="val 8889"/>
            </a:avLst>
          </a:prstGeom>
          <a:solidFill>
            <a:schemeClr val="bg2"/>
          </a:solidFill>
          <a:ln/>
        </p:spPr>
      </p:sp>
      <p:sp>
        <p:nvSpPr>
          <p:cNvPr id="26" name="Number ✓"/>
          <p:cNvSpPr/>
          <p:nvPr/>
        </p:nvSpPr>
        <p:spPr>
          <a:xfrm>
            <a:off x="6400800" y="2852928"/>
            <a:ext cx="512064" cy="512064"/>
          </a:xfrm>
          <a:prstGeom prst="ellipse">
            <a:avLst/>
          </a:prstGeom>
          <a:solidFill>
            <a:schemeClr val="accent1"/>
          </a:solidFill>
          <a:ln/>
        </p:spPr>
      </p:sp>
      <p:sp>
        <p:nvSpPr>
          <p:cNvPr id="27" name="Number text ✓"/>
          <p:cNvSpPr txBox="1"/>
          <p:nvPr/>
        </p:nvSpPr>
        <p:spPr>
          <a:xfrm>
            <a:off x="6400800" y="28529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28" name="Text 25"/>
          <p:cNvSpPr txBox="1"/>
          <p:nvPr/>
        </p:nvSpPr>
        <p:spPr>
          <a:xfrm>
            <a:off x="7086600" y="2697480"/>
            <a:ext cx="4389120" cy="822960"/>
          </a:xfrm>
          <a:prstGeom prst="rect">
            <a:avLst/>
          </a:prstGeom>
          <a:noFill/>
          <a:ln/>
        </p:spPr>
        <p:txBody>
          <a:bodyPr wrap="square" lIns="0" tIns="0" rIns="0" bIns="0" rtlCol="0" anchor="ctr"/>
          <a:lstStyle/>
          <a:p>
            <a:pPr indent="0" marL="0">
              <a:buNone/>
            </a:pPr>
            <a:r>
              <a:rPr lang="en-US" sz="1500" dirty="0">
                <a:solidFill>
                  <a:schemeClr val="tx1"/>
                </a:solidFill>
              </a:rPr>
              <a:t>De-duplicated MCQs by difficulty and Bloom level</a:t>
            </a:r>
            <a:endParaRPr lang="en-US" sz="1500" dirty="0"/>
          </a:p>
        </p:txBody>
      </p:sp>
      <p:sp>
        <p:nvSpPr>
          <p:cNvPr id="29" name="Objective 7"/>
          <p:cNvSpPr/>
          <p:nvPr/>
        </p:nvSpPr>
        <p:spPr>
          <a:xfrm>
            <a:off x="6217920" y="3749040"/>
            <a:ext cx="5394960" cy="822960"/>
          </a:xfrm>
          <a:prstGeom prst="roundRect">
            <a:avLst>
              <a:gd name="adj" fmla="val 8889"/>
            </a:avLst>
          </a:prstGeom>
          <a:solidFill>
            <a:schemeClr val="bg2"/>
          </a:solidFill>
          <a:ln/>
        </p:spPr>
      </p:sp>
      <p:sp>
        <p:nvSpPr>
          <p:cNvPr id="30" name="Number ✓"/>
          <p:cNvSpPr/>
          <p:nvPr/>
        </p:nvSpPr>
        <p:spPr>
          <a:xfrm>
            <a:off x="6400800" y="3904488"/>
            <a:ext cx="512064" cy="512064"/>
          </a:xfrm>
          <a:prstGeom prst="ellipse">
            <a:avLst/>
          </a:prstGeom>
          <a:solidFill>
            <a:schemeClr val="accent1"/>
          </a:solidFill>
          <a:ln/>
        </p:spPr>
      </p:sp>
      <p:sp>
        <p:nvSpPr>
          <p:cNvPr id="31" name="Number text ✓"/>
          <p:cNvSpPr txBox="1"/>
          <p:nvPr/>
        </p:nvSpPr>
        <p:spPr>
          <a:xfrm>
            <a:off x="6400800" y="39044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32" name="Text 29"/>
          <p:cNvSpPr txBox="1"/>
          <p:nvPr/>
        </p:nvSpPr>
        <p:spPr>
          <a:xfrm>
            <a:off x="7086600" y="3749040"/>
            <a:ext cx="4389120" cy="822960"/>
          </a:xfrm>
          <a:prstGeom prst="rect">
            <a:avLst/>
          </a:prstGeom>
          <a:noFill/>
          <a:ln/>
        </p:spPr>
        <p:txBody>
          <a:bodyPr wrap="square" lIns="0" tIns="0" rIns="0" bIns="0" rtlCol="0" anchor="ctr"/>
          <a:lstStyle/>
          <a:p>
            <a:pPr indent="0" marL="0">
              <a:buNone/>
            </a:pPr>
            <a:r>
              <a:rPr lang="en-US" sz="1500" dirty="0">
                <a:solidFill>
                  <a:schemeClr val="tx1"/>
                </a:solidFill>
              </a:rPr>
              <a:t>Adaptive re-test, study PDF, web app and API</a:t>
            </a:r>
            <a:endParaRPr lang="en-US" sz="1500" dirty="0"/>
          </a:p>
        </p:txBody>
      </p:sp>
      <p:sp>
        <p:nvSpPr>
          <p:cNvPr id="33" name="Objective 8"/>
          <p:cNvSpPr/>
          <p:nvPr/>
        </p:nvSpPr>
        <p:spPr>
          <a:xfrm>
            <a:off x="6217920" y="4800600"/>
            <a:ext cx="5394960" cy="822960"/>
          </a:xfrm>
          <a:prstGeom prst="roundRect">
            <a:avLst>
              <a:gd name="adj" fmla="val 8889"/>
            </a:avLst>
          </a:prstGeom>
          <a:solidFill>
            <a:srgbClr val="FDF3E3"/>
          </a:solidFill>
          <a:ln/>
        </p:spPr>
      </p:sp>
      <p:sp>
        <p:nvSpPr>
          <p:cNvPr id="34" name="Number –"/>
          <p:cNvSpPr/>
          <p:nvPr/>
        </p:nvSpPr>
        <p:spPr>
          <a:xfrm>
            <a:off x="6400800" y="4956048"/>
            <a:ext cx="512064" cy="512064"/>
          </a:xfrm>
          <a:prstGeom prst="ellipse">
            <a:avLst/>
          </a:prstGeom>
          <a:solidFill>
            <a:schemeClr val="accent2"/>
          </a:solidFill>
          <a:ln/>
        </p:spPr>
      </p:sp>
      <p:sp>
        <p:nvSpPr>
          <p:cNvPr id="35" name="Number text –"/>
          <p:cNvSpPr txBox="1"/>
          <p:nvPr/>
        </p:nvSpPr>
        <p:spPr>
          <a:xfrm>
            <a:off x="6400800" y="495604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36" name="Text 33"/>
          <p:cNvSpPr txBox="1"/>
          <p:nvPr/>
        </p:nvSpPr>
        <p:spPr>
          <a:xfrm>
            <a:off x="7086600" y="4800600"/>
            <a:ext cx="4389120" cy="822960"/>
          </a:xfrm>
          <a:prstGeom prst="rect">
            <a:avLst/>
          </a:prstGeom>
          <a:noFill/>
          <a:ln/>
        </p:spPr>
        <p:txBody>
          <a:bodyPr wrap="square" lIns="0" tIns="0" rIns="0" bIns="0" rtlCol="0" anchor="ctr"/>
          <a:lstStyle/>
          <a:p>
            <a:pPr indent="0" marL="0">
              <a:buNone/>
            </a:pPr>
            <a:r>
              <a:rPr lang="en-US" sz="1500" dirty="0">
                <a:solidFill>
                  <a:schemeClr val="tx1"/>
                </a:solidFill>
              </a:rPr>
              <a:t>Evaluation with a real class of students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SYSTEM ARCHITECTURE</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Five layers, six modules, three AI models</a:t>
            </a:r>
            <a:endParaRPr lang="en-US" sz="3000" dirty="0"/>
          </a:p>
        </p:txBody>
      </p:sp>
      <p:pic>
        <p:nvPicPr>
          <p:cNvPr id="5" name="fig_architecture.png" descr="Layered architecture with users, interfaces, pipeline, six modules and foundation">    </p:cNvPr>
          <p:cNvPicPr>
            <a:picLocks noChangeAspect="1"/>
          </p:cNvPicPr>
          <p:nvPr/>
        </p:nvPicPr>
        <p:blipFill>
          <a:blip r:embed="rId1"/>
          <a:stretch>
            <a:fillRect/>
          </a:stretch>
        </p:blipFill>
        <p:spPr>
          <a:xfrm>
            <a:off x="548640" y="1508760"/>
            <a:ext cx="6210857" cy="4754880"/>
          </a:xfrm>
          <a:prstGeom prst="rect">
            <a:avLst/>
          </a:prstGeom>
        </p:spPr>
      </p:pic>
      <p:sp>
        <p:nvSpPr>
          <p:cNvPr id="6" name="Built with"/>
          <p:cNvSpPr txBox="1"/>
          <p:nvPr/>
        </p:nvSpPr>
        <p:spPr>
          <a:xfrm>
            <a:off x="7223760" y="1600200"/>
            <a:ext cx="4389120" cy="23774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Built with</a:t>
            </a:r>
            <a:endParaRPr lang="en-US" sz="1800" dirty="0"/>
          </a:p>
          <a:p>
            <a:pPr marL="203200" indent="-203200">
              <a:spcAft>
                <a:spcPts val="800"/>
              </a:spcAft>
              <a:buSzPct val="100000"/>
              <a:buChar char="•"/>
            </a:pPr>
            <a:r>
              <a:rPr lang="en-US" sz="1500" dirty="0">
                <a:solidFill>
                  <a:schemeClr val="tx1"/>
                </a:solidFill>
              </a:rPr>
              <a:t>Python, PyTorch, sentence-transformers, FAISS</a:t>
            </a:r>
            <a:endParaRPr lang="en-US" sz="1800" dirty="0"/>
          </a:p>
          <a:p>
            <a:pPr marL="203200" indent="-203200">
              <a:spcAft>
                <a:spcPts val="800"/>
              </a:spcAft>
              <a:buSzPct val="100000"/>
              <a:buChar char="•"/>
            </a:pPr>
            <a:r>
              <a:rPr lang="en-US" sz="1500" dirty="0">
                <a:solidFill>
                  <a:schemeClr val="tx1"/>
                </a:solidFill>
              </a:rPr>
              <a:t>FastAPI + single-page HTML/JS frontend</a:t>
            </a:r>
            <a:endParaRPr lang="en-US" sz="1800" dirty="0"/>
          </a:p>
          <a:p>
            <a:pPr marL="203200" indent="-203200">
              <a:spcAft>
                <a:spcPts val="800"/>
              </a:spcAft>
              <a:buSzPct val="100000"/>
              <a:buChar char="•"/>
            </a:pPr>
            <a:r>
              <a:rPr lang="en-US" sz="1500" dirty="0">
                <a:solidFill>
                  <a:schemeClr val="tx1"/>
                </a:solidFill>
              </a:rPr>
              <a:t>reportlab for the study PDF; pytest (36 tests)</a:t>
            </a:r>
            <a:endParaRPr lang="en-US" sz="1800" dirty="0"/>
          </a:p>
        </p:txBody>
      </p:sp>
      <p:sp>
        <p:nvSpPr>
          <p:cNvPr id="7" name="Groq chip"/>
          <p:cNvSpPr/>
          <p:nvPr/>
        </p:nvSpPr>
        <p:spPr>
          <a:xfrm>
            <a:off x="7223760" y="4069080"/>
            <a:ext cx="1920240" cy="512064"/>
          </a:xfrm>
          <a:prstGeom prst="roundRect">
            <a:avLst>
              <a:gd name="adj" fmla="val 14286"/>
            </a:avLst>
          </a:prstGeom>
          <a:solidFill>
            <a:schemeClr val="accent1"/>
          </a:solidFill>
          <a:ln/>
        </p:spPr>
      </p:sp>
      <p:sp>
        <p:nvSpPr>
          <p:cNvPr id="8" name="Text 4"/>
          <p:cNvSpPr txBox="1"/>
          <p:nvPr/>
        </p:nvSpPr>
        <p:spPr>
          <a:xfrm>
            <a:off x="7223760" y="4069080"/>
            <a:ext cx="1920240" cy="512064"/>
          </a:xfrm>
          <a:prstGeom prst="rect">
            <a:avLst/>
          </a:prstGeom>
          <a:noFill/>
          <a:ln/>
        </p:spPr>
        <p:txBody>
          <a:bodyPr wrap="square" lIns="0" tIns="0" rIns="0" bIns="0" rtlCol="0" anchor="ctr"/>
          <a:lstStyle/>
          <a:p>
            <a:pPr algn="ctr" indent="0" marL="0">
              <a:buNone/>
            </a:pPr>
            <a:r>
              <a:rPr lang="en-US" sz="1500" b="1" dirty="0">
                <a:solidFill>
                  <a:schemeClr val="bg1"/>
                </a:solidFill>
              </a:rPr>
              <a:t>Groq</a:t>
            </a:r>
            <a:endParaRPr lang="en-US" sz="1500" dirty="0"/>
          </a:p>
        </p:txBody>
      </p:sp>
      <p:sp>
        <p:nvSpPr>
          <p:cNvPr id="9" name="Text 5"/>
          <p:cNvSpPr txBox="1"/>
          <p:nvPr/>
        </p:nvSpPr>
        <p:spPr>
          <a:xfrm>
            <a:off x="9281160" y="4069080"/>
            <a:ext cx="2286000" cy="512064"/>
          </a:xfrm>
          <a:prstGeom prst="rect">
            <a:avLst/>
          </a:prstGeom>
          <a:noFill/>
          <a:ln/>
        </p:spPr>
        <p:txBody>
          <a:bodyPr wrap="square" lIns="0" tIns="0" rIns="0" bIns="0" rtlCol="0" anchor="ctr"/>
          <a:lstStyle/>
          <a:p>
            <a:pPr indent="0" marL="0">
              <a:buNone/>
            </a:pPr>
            <a:r>
              <a:rPr lang="en-US" sz="1500" dirty="0">
                <a:solidFill>
                  <a:schemeClr val="tx1"/>
                </a:solidFill>
              </a:rPr>
              <a:t>writes</a:t>
            </a:r>
            <a:endParaRPr lang="en-US" sz="1500" dirty="0"/>
          </a:p>
        </p:txBody>
      </p:sp>
      <p:sp>
        <p:nvSpPr>
          <p:cNvPr id="10" name="OpenRouter chip"/>
          <p:cNvSpPr/>
          <p:nvPr/>
        </p:nvSpPr>
        <p:spPr>
          <a:xfrm>
            <a:off x="7223760" y="4727448"/>
            <a:ext cx="1920240" cy="512064"/>
          </a:xfrm>
          <a:prstGeom prst="roundRect">
            <a:avLst>
              <a:gd name="adj" fmla="val 14286"/>
            </a:avLst>
          </a:prstGeom>
          <a:solidFill>
            <a:schemeClr val="accent3"/>
          </a:solidFill>
          <a:ln/>
        </p:spPr>
      </p:sp>
      <p:sp>
        <p:nvSpPr>
          <p:cNvPr id="11" name="Text 7"/>
          <p:cNvSpPr txBox="1"/>
          <p:nvPr/>
        </p:nvSpPr>
        <p:spPr>
          <a:xfrm>
            <a:off x="7223760" y="4727448"/>
            <a:ext cx="1920240" cy="512064"/>
          </a:xfrm>
          <a:prstGeom prst="rect">
            <a:avLst/>
          </a:prstGeom>
          <a:noFill/>
          <a:ln/>
        </p:spPr>
        <p:txBody>
          <a:bodyPr wrap="square" lIns="0" tIns="0" rIns="0" bIns="0" rtlCol="0" anchor="ctr"/>
          <a:lstStyle/>
          <a:p>
            <a:pPr algn="ctr" indent="0" marL="0">
              <a:buNone/>
            </a:pPr>
            <a:r>
              <a:rPr lang="en-US" sz="1500" b="1" dirty="0">
                <a:solidFill>
                  <a:schemeClr val="bg1"/>
                </a:solidFill>
              </a:rPr>
              <a:t>OpenRouter</a:t>
            </a:r>
            <a:endParaRPr lang="en-US" sz="1500" dirty="0"/>
          </a:p>
        </p:txBody>
      </p:sp>
      <p:sp>
        <p:nvSpPr>
          <p:cNvPr id="12" name="Text 8"/>
          <p:cNvSpPr txBox="1"/>
          <p:nvPr/>
        </p:nvSpPr>
        <p:spPr>
          <a:xfrm>
            <a:off x="9281160" y="4727448"/>
            <a:ext cx="2286000" cy="512064"/>
          </a:xfrm>
          <a:prstGeom prst="rect">
            <a:avLst/>
          </a:prstGeom>
          <a:noFill/>
          <a:ln/>
        </p:spPr>
        <p:txBody>
          <a:bodyPr wrap="square" lIns="0" tIns="0" rIns="0" bIns="0" rtlCol="0" anchor="ctr"/>
          <a:lstStyle/>
          <a:p>
            <a:pPr indent="0" marL="0">
              <a:buNone/>
            </a:pPr>
            <a:r>
              <a:rPr lang="en-US" sz="1500" dirty="0">
                <a:solidFill>
                  <a:schemeClr val="tx1"/>
                </a:solidFill>
              </a:rPr>
              <a:t>verifies</a:t>
            </a:r>
            <a:endParaRPr lang="en-US" sz="1500" dirty="0"/>
          </a:p>
        </p:txBody>
      </p:sp>
      <p:sp>
        <p:nvSpPr>
          <p:cNvPr id="13" name="Gemini chip"/>
          <p:cNvSpPr/>
          <p:nvPr/>
        </p:nvSpPr>
        <p:spPr>
          <a:xfrm>
            <a:off x="7223760" y="5385816"/>
            <a:ext cx="1920240" cy="512064"/>
          </a:xfrm>
          <a:prstGeom prst="roundRect">
            <a:avLst>
              <a:gd name="adj" fmla="val 14286"/>
            </a:avLst>
          </a:prstGeom>
          <a:solidFill>
            <a:schemeClr val="accent3"/>
          </a:solidFill>
          <a:ln/>
        </p:spPr>
      </p:sp>
      <p:sp>
        <p:nvSpPr>
          <p:cNvPr id="14" name="Text 10"/>
          <p:cNvSpPr txBox="1"/>
          <p:nvPr/>
        </p:nvSpPr>
        <p:spPr>
          <a:xfrm>
            <a:off x="7223760" y="5385816"/>
            <a:ext cx="1920240" cy="512064"/>
          </a:xfrm>
          <a:prstGeom prst="rect">
            <a:avLst/>
          </a:prstGeom>
          <a:noFill/>
          <a:ln/>
        </p:spPr>
        <p:txBody>
          <a:bodyPr wrap="square" lIns="0" tIns="0" rIns="0" bIns="0" rtlCol="0" anchor="ctr"/>
          <a:lstStyle/>
          <a:p>
            <a:pPr algn="ctr" indent="0" marL="0">
              <a:buNone/>
            </a:pPr>
            <a:r>
              <a:rPr lang="en-US" sz="1500" b="1" dirty="0">
                <a:solidFill>
                  <a:schemeClr val="bg1"/>
                </a:solidFill>
              </a:rPr>
              <a:t>Gemini</a:t>
            </a:r>
            <a:endParaRPr lang="en-US" sz="1500" dirty="0"/>
          </a:p>
        </p:txBody>
      </p:sp>
      <p:sp>
        <p:nvSpPr>
          <p:cNvPr id="15" name="Text 11"/>
          <p:cNvSpPr txBox="1"/>
          <p:nvPr/>
        </p:nvSpPr>
        <p:spPr>
          <a:xfrm>
            <a:off x="9281160" y="5385816"/>
            <a:ext cx="2286000" cy="512064"/>
          </a:xfrm>
          <a:prstGeom prst="rect">
            <a:avLst/>
          </a:prstGeom>
          <a:noFill/>
          <a:ln/>
        </p:spPr>
        <p:txBody>
          <a:bodyPr wrap="square" lIns="0" tIns="0" rIns="0" bIns="0" rtlCol="0" anchor="ctr"/>
          <a:lstStyle/>
          <a:p>
            <a:pPr indent="0" marL="0">
              <a:buNone/>
            </a:pPr>
            <a:r>
              <a:rPr lang="en-US" sz="1500" dirty="0">
                <a:solidFill>
                  <a:schemeClr val="tx1"/>
                </a:solidFill>
              </a:rPr>
              <a:t>verifies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MODULES 1 &amp; 2 · COURSE PROCESSING AND RAG</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The AI writes only from our syllabus</a:t>
            </a:r>
            <a:endParaRPr lang="en-US" sz="3000" dirty="0"/>
          </a:p>
        </p:txBody>
      </p:sp>
      <p:pic>
        <p:nvPicPr>
          <p:cNvPr id="5" name="fig_rag.png" descr="RAG pipeline: PDF, chunks, embeddings, vector database, retrieval, LLM">    </p:cNvPr>
          <p:cNvPicPr>
            <a:picLocks noChangeAspect="1"/>
          </p:cNvPicPr>
          <p:nvPr/>
        </p:nvPicPr>
        <p:blipFill>
          <a:blip r:embed="rId1"/>
          <a:stretch>
            <a:fillRect/>
          </a:stretch>
        </p:blipFill>
        <p:spPr>
          <a:xfrm>
            <a:off x="2413927" y="1600200"/>
            <a:ext cx="7333667" cy="2377440"/>
          </a:xfrm>
          <a:prstGeom prst="rect">
            <a:avLst/>
          </a:prstGeom>
        </p:spPr>
      </p:pic>
      <p:sp>
        <p:nvSpPr>
          <p:cNvPr id="6" name="Stat 1000 / 100"/>
          <p:cNvSpPr txBox="1"/>
          <p:nvPr/>
        </p:nvSpPr>
        <p:spPr>
          <a:xfrm>
            <a:off x="54864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1000 / 100</a:t>
            </a:r>
            <a:endParaRPr lang="en-US" sz="3600" dirty="0"/>
          </a:p>
        </p:txBody>
      </p:sp>
      <p:sp>
        <p:nvSpPr>
          <p:cNvPr id="7" name="Stat label chunk size / overlap (characters)"/>
          <p:cNvSpPr txBox="1"/>
          <p:nvPr/>
        </p:nvSpPr>
        <p:spPr>
          <a:xfrm>
            <a:off x="54864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chunk size / overlap (characters)</a:t>
            </a:r>
            <a:endParaRPr lang="en-US" sz="1300" dirty="0"/>
          </a:p>
        </p:txBody>
      </p:sp>
      <p:sp>
        <p:nvSpPr>
          <p:cNvPr id="8" name="Stat 384"/>
          <p:cNvSpPr txBox="1"/>
          <p:nvPr/>
        </p:nvSpPr>
        <p:spPr>
          <a:xfrm>
            <a:off x="338328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384</a:t>
            </a:r>
            <a:endParaRPr lang="en-US" sz="3600" dirty="0"/>
          </a:p>
        </p:txBody>
      </p:sp>
      <p:sp>
        <p:nvSpPr>
          <p:cNvPr id="9" name="Stat label dimensions per MiniLM embedding"/>
          <p:cNvSpPr txBox="1"/>
          <p:nvPr/>
        </p:nvSpPr>
        <p:spPr>
          <a:xfrm>
            <a:off x="338328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dimensions per MiniLM embedding</a:t>
            </a:r>
            <a:endParaRPr lang="en-US" sz="1300" dirty="0"/>
          </a:p>
        </p:txBody>
      </p:sp>
      <p:sp>
        <p:nvSpPr>
          <p:cNvPr id="10" name="Stat 5"/>
          <p:cNvSpPr txBox="1"/>
          <p:nvPr/>
        </p:nvSpPr>
        <p:spPr>
          <a:xfrm>
            <a:off x="621792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11" name="Stat label concepts, one per unit (CO1–CO5)"/>
          <p:cNvSpPr txBox="1"/>
          <p:nvPr/>
        </p:nvSpPr>
        <p:spPr>
          <a:xfrm>
            <a:off x="621792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concepts, one per unit (CO1–CO5)</a:t>
            </a:r>
            <a:endParaRPr lang="en-US" sz="1300" dirty="0"/>
          </a:p>
        </p:txBody>
      </p:sp>
      <p:sp>
        <p:nvSpPr>
          <p:cNvPr id="12" name="Stat Top 4"/>
          <p:cNvSpPr txBox="1"/>
          <p:nvPr/>
        </p:nvSpPr>
        <p:spPr>
          <a:xfrm>
            <a:off x="905256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Top 4</a:t>
            </a:r>
            <a:endParaRPr lang="en-US" sz="3600" dirty="0"/>
          </a:p>
        </p:txBody>
      </p:sp>
      <p:sp>
        <p:nvSpPr>
          <p:cNvPr id="13" name="Stat label chunks retrieved per request"/>
          <p:cNvSpPr txBox="1"/>
          <p:nvPr/>
        </p:nvSpPr>
        <p:spPr>
          <a:xfrm>
            <a:off x="905256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chunks retrieved per request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MODULE 3 · MCQ GENERATION</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Generate three times, keep only unique, verified questions</a:t>
            </a:r>
            <a:endParaRPr lang="en-US" sz="3000" dirty="0"/>
          </a:p>
        </p:txBody>
      </p:sp>
      <p:pic>
        <p:nvPicPr>
          <p:cNvPr id="5" name="fig_mcq.png" descr="MCQ pipeline: generate, refine, de-duplicate, verify, store">    </p:cNvPr>
          <p:cNvPicPr>
            <a:picLocks noChangeAspect="1"/>
          </p:cNvPicPr>
          <p:nvPr/>
        </p:nvPicPr>
        <p:blipFill>
          <a:blip r:embed="rId1"/>
          <a:stretch>
            <a:fillRect/>
          </a:stretch>
        </p:blipFill>
        <p:spPr>
          <a:xfrm>
            <a:off x="2720735" y="1600200"/>
            <a:ext cx="6720049" cy="2468880"/>
          </a:xfrm>
          <a:prstGeom prst="rect">
            <a:avLst/>
          </a:prstGeom>
        </p:spPr>
      </p:pic>
      <p:sp>
        <p:nvSpPr>
          <p:cNvPr id="6" name="Stat 90"/>
          <p:cNvSpPr txBox="1"/>
          <p:nvPr/>
        </p:nvSpPr>
        <p:spPr>
          <a:xfrm>
            <a:off x="54864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90</a:t>
            </a:r>
            <a:endParaRPr lang="en-US" sz="3600" dirty="0"/>
          </a:p>
        </p:txBody>
      </p:sp>
      <p:sp>
        <p:nvSpPr>
          <p:cNvPr id="7" name="Stat label questions generated"/>
          <p:cNvSpPr txBox="1"/>
          <p:nvPr/>
        </p:nvSpPr>
        <p:spPr>
          <a:xfrm>
            <a:off x="54864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questions generated</a:t>
            </a:r>
            <a:endParaRPr lang="en-US" sz="1300" dirty="0"/>
          </a:p>
        </p:txBody>
      </p:sp>
      <p:sp>
        <p:nvSpPr>
          <p:cNvPr id="8" name="Stat 25"/>
          <p:cNvSpPr txBox="1"/>
          <p:nvPr/>
        </p:nvSpPr>
        <p:spPr>
          <a:xfrm>
            <a:off x="3383280" y="4434840"/>
            <a:ext cx="256032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25</a:t>
            </a:r>
            <a:endParaRPr lang="en-US" sz="3600" dirty="0"/>
          </a:p>
        </p:txBody>
      </p:sp>
      <p:sp>
        <p:nvSpPr>
          <p:cNvPr id="9" name="Stat label near-duplicates removed (&amp;gt; 0.85)"/>
          <p:cNvSpPr txBox="1"/>
          <p:nvPr/>
        </p:nvSpPr>
        <p:spPr>
          <a:xfrm>
            <a:off x="338328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near-duplicates removed (&gt; 0.85)</a:t>
            </a:r>
            <a:endParaRPr lang="en-US" sz="1300" dirty="0"/>
          </a:p>
        </p:txBody>
      </p:sp>
      <p:sp>
        <p:nvSpPr>
          <p:cNvPr id="10" name="Stat 65"/>
          <p:cNvSpPr txBox="1"/>
          <p:nvPr/>
        </p:nvSpPr>
        <p:spPr>
          <a:xfrm>
            <a:off x="621792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65</a:t>
            </a:r>
            <a:endParaRPr lang="en-US" sz="3600" dirty="0"/>
          </a:p>
        </p:txBody>
      </p:sp>
      <p:sp>
        <p:nvSpPr>
          <p:cNvPr id="11" name="Stat label unique questions stored"/>
          <p:cNvSpPr txBox="1"/>
          <p:nvPr/>
        </p:nvSpPr>
        <p:spPr>
          <a:xfrm>
            <a:off x="621792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unique questions stored</a:t>
            </a:r>
            <a:endParaRPr lang="en-US" sz="1300" dirty="0"/>
          </a:p>
        </p:txBody>
      </p:sp>
      <p:sp>
        <p:nvSpPr>
          <p:cNvPr id="12" name="Stat 3 / 5"/>
          <p:cNvSpPr txBox="1"/>
          <p:nvPr/>
        </p:nvSpPr>
        <p:spPr>
          <a:xfrm>
            <a:off x="9052560" y="4434840"/>
            <a:ext cx="25603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 / 5</a:t>
            </a:r>
            <a:endParaRPr lang="en-US" sz="3600" dirty="0"/>
          </a:p>
        </p:txBody>
      </p:sp>
      <p:sp>
        <p:nvSpPr>
          <p:cNvPr id="13" name="Stat label minimum verifier score to accept"/>
          <p:cNvSpPr txBox="1"/>
          <p:nvPr/>
        </p:nvSpPr>
        <p:spPr>
          <a:xfrm>
            <a:off x="9052560" y="5120640"/>
            <a:ext cx="2560320" cy="548640"/>
          </a:xfrm>
          <a:prstGeom prst="rect">
            <a:avLst/>
          </a:prstGeom>
          <a:noFill/>
          <a:ln/>
        </p:spPr>
        <p:txBody>
          <a:bodyPr wrap="square" lIns="0" tIns="0" rIns="0" bIns="0" rtlCol="0" anchor="t"/>
          <a:lstStyle/>
          <a:p>
            <a:pPr indent="0" marL="0">
              <a:buNone/>
            </a:pPr>
            <a:r>
              <a:rPr lang="en-US" sz="1300" dirty="0">
                <a:solidFill>
                  <a:schemeClr val="accent6"/>
                </a:solidFill>
              </a:rPr>
              <a:t>minimum verifier score to accept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MODULE 4 · KNOWLEDGE TRACING (EKT)</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EKT reads the question, not only right or wrong</a:t>
            </a:r>
            <a:endParaRPr lang="en-US" sz="3000" dirty="0"/>
          </a:p>
        </p:txBody>
      </p:sp>
      <p:pic>
        <p:nvPicPr>
          <p:cNvPr id="5" name="fig_ekt.png" descr="EKT architecture: question text embedding, concept embedding, LSTM, mastery output, attention head">    </p:cNvPr>
          <p:cNvPicPr>
            <a:picLocks noChangeAspect="1"/>
          </p:cNvPicPr>
          <p:nvPr/>
        </p:nvPicPr>
        <p:blipFill>
          <a:blip r:embed="rId1"/>
          <a:stretch>
            <a:fillRect/>
          </a:stretch>
        </p:blipFill>
        <p:spPr>
          <a:xfrm>
            <a:off x="548640" y="1554480"/>
            <a:ext cx="6766560" cy="3479741"/>
          </a:xfrm>
          <a:prstGeom prst="rect">
            <a:avLst/>
          </a:prstGeom>
        </p:spPr>
      </p:pic>
      <p:sp>
        <p:nvSpPr>
          <p:cNvPr id="6" name="AUC card"/>
          <p:cNvSpPr/>
          <p:nvPr/>
        </p:nvSpPr>
        <p:spPr>
          <a:xfrm>
            <a:off x="7680960" y="1600200"/>
            <a:ext cx="3959352" cy="4206240"/>
          </a:xfrm>
          <a:prstGeom prst="roundRect">
            <a:avLst>
              <a:gd name="adj" fmla="val 1848"/>
            </a:avLst>
          </a:prstGeom>
          <a:solidFill>
            <a:schemeClr val="bg2"/>
          </a:solidFill>
          <a:ln/>
        </p:spPr>
      </p:sp>
      <p:sp>
        <p:nvSpPr>
          <p:cNvPr id="7" name="Text 3"/>
          <p:cNvSpPr txBox="1"/>
          <p:nvPr/>
        </p:nvSpPr>
        <p:spPr>
          <a:xfrm>
            <a:off x="7955280" y="1783080"/>
            <a:ext cx="3474720" cy="365760"/>
          </a:xfrm>
          <a:prstGeom prst="rect">
            <a:avLst/>
          </a:prstGeom>
          <a:noFill/>
          <a:ln/>
        </p:spPr>
        <p:txBody>
          <a:bodyPr wrap="square" lIns="0" tIns="0" rIns="0" bIns="0" rtlCol="0" anchor="ctr"/>
          <a:lstStyle/>
          <a:p>
            <a:pPr indent="0" marL="0">
              <a:buNone/>
            </a:pPr>
            <a:r>
              <a:rPr lang="en-US" sz="1600" b="1" dirty="0">
                <a:solidFill>
                  <a:schemeClr val="tx2"/>
                </a:solidFill>
              </a:rPr>
              <a:t>Test AUC (higher is better)</a:t>
            </a:r>
            <a:endParaRPr lang="en-US" sz="1600" dirty="0"/>
          </a:p>
        </p:txBody>
      </p:sp>
      <p:sp>
        <p:nvSpPr>
          <p:cNvPr id="8" name="Stat 0.827"/>
          <p:cNvSpPr txBox="1"/>
          <p:nvPr/>
        </p:nvSpPr>
        <p:spPr>
          <a:xfrm>
            <a:off x="7955280" y="2331720"/>
            <a:ext cx="347472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0.827</a:t>
            </a:r>
            <a:endParaRPr lang="en-US" sz="4400" dirty="0"/>
          </a:p>
        </p:txBody>
      </p:sp>
      <p:sp>
        <p:nvSpPr>
          <p:cNvPr id="9" name="Stat label EKT (ours): uses question text"/>
          <p:cNvSpPr txBox="1"/>
          <p:nvPr/>
        </p:nvSpPr>
        <p:spPr>
          <a:xfrm>
            <a:off x="7955280" y="3017520"/>
            <a:ext cx="3474720" cy="548640"/>
          </a:xfrm>
          <a:prstGeom prst="rect">
            <a:avLst/>
          </a:prstGeom>
          <a:noFill/>
          <a:ln/>
        </p:spPr>
        <p:txBody>
          <a:bodyPr wrap="square" lIns="0" tIns="0" rIns="0" bIns="0" rtlCol="0" anchor="t"/>
          <a:lstStyle/>
          <a:p>
            <a:pPr indent="0" marL="0">
              <a:buNone/>
            </a:pPr>
            <a:r>
              <a:rPr lang="en-US" sz="1300" dirty="0">
                <a:solidFill>
                  <a:schemeClr val="accent6"/>
                </a:solidFill>
              </a:rPr>
              <a:t>EKT (ours): uses question text</a:t>
            </a:r>
            <a:endParaRPr lang="en-US" sz="1300" dirty="0"/>
          </a:p>
        </p:txBody>
      </p:sp>
      <p:sp>
        <p:nvSpPr>
          <p:cNvPr id="10" name="Stat 0.665"/>
          <p:cNvSpPr txBox="1"/>
          <p:nvPr/>
        </p:nvSpPr>
        <p:spPr>
          <a:xfrm>
            <a:off x="7955280" y="3703320"/>
            <a:ext cx="347472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0.665</a:t>
            </a:r>
            <a:endParaRPr lang="en-US" sz="4400" dirty="0"/>
          </a:p>
        </p:txBody>
      </p:sp>
      <p:sp>
        <p:nvSpPr>
          <p:cNvPr id="11" name="Stat label DKT baseline: right/wrong only"/>
          <p:cNvSpPr txBox="1"/>
          <p:nvPr/>
        </p:nvSpPr>
        <p:spPr>
          <a:xfrm>
            <a:off x="7955280" y="4389120"/>
            <a:ext cx="3474720" cy="548640"/>
          </a:xfrm>
          <a:prstGeom prst="rect">
            <a:avLst/>
          </a:prstGeom>
          <a:noFill/>
          <a:ln/>
        </p:spPr>
        <p:txBody>
          <a:bodyPr wrap="square" lIns="0" tIns="0" rIns="0" bIns="0" rtlCol="0" anchor="t"/>
          <a:lstStyle/>
          <a:p>
            <a:pPr indent="0" marL="0">
              <a:buNone/>
            </a:pPr>
            <a:r>
              <a:rPr lang="en-US" sz="1300" dirty="0">
                <a:solidFill>
                  <a:schemeClr val="accent6"/>
                </a:solidFill>
              </a:rPr>
              <a:t>DKT baseline: right/wrong only</a:t>
            </a:r>
            <a:endParaRPr lang="en-US" sz="1300" dirty="0"/>
          </a:p>
        </p:txBody>
      </p:sp>
      <p:sp>
        <p:nvSpPr>
          <p:cNvPr id="12" name="Text 8"/>
          <p:cNvSpPr txBox="1"/>
          <p:nvPr/>
        </p:nvSpPr>
        <p:spPr>
          <a:xfrm>
            <a:off x="7955280" y="5074920"/>
            <a:ext cx="3474720" cy="548640"/>
          </a:xfrm>
          <a:prstGeom prst="rect">
            <a:avLst/>
          </a:prstGeom>
          <a:noFill/>
          <a:ln/>
        </p:spPr>
        <p:txBody>
          <a:bodyPr wrap="square" lIns="0" tIns="0" rIns="0" bIns="0" rtlCol="0" anchor="ctr"/>
          <a:lstStyle/>
          <a:p>
            <a:pPr indent="0" marL="0">
              <a:buNone/>
            </a:pPr>
            <a:r>
              <a:rPr lang="en-US" sz="1300" dirty="0">
                <a:solidFill>
                  <a:schemeClr val="accent6"/>
                </a:solidFill>
              </a:rPr>
              <a:t>600 learners · 24,000 answers · 12 epochs</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MODULE 5 · REMEDIAL RECOMMENDATION</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One writes, two verify</a:t>
            </a:r>
            <a:endParaRPr lang="en-US" sz="3000" dirty="0"/>
          </a:p>
        </p:txBody>
      </p:sp>
      <p:pic>
        <p:nvPicPr>
          <p:cNvPr id="5" name="fig_remedial.png" descr="Remedial flow: weak concept, retrieve context, Groq generates, OpenRouter and Gemini verify, deliver">    </p:cNvPr>
          <p:cNvPicPr>
            <a:picLocks noChangeAspect="1"/>
          </p:cNvPicPr>
          <p:nvPr/>
        </p:nvPicPr>
        <p:blipFill>
          <a:blip r:embed="rId1"/>
          <a:stretch>
            <a:fillRect/>
          </a:stretch>
        </p:blipFill>
        <p:spPr>
          <a:xfrm>
            <a:off x="548640" y="1508760"/>
            <a:ext cx="6583680" cy="2412394"/>
          </a:xfrm>
          <a:prstGeom prst="rect">
            <a:avLst/>
          </a:prstGeom>
        </p:spPr>
      </p:pic>
      <p:sp>
        <p:nvSpPr>
          <p:cNvPr id="6" name="Five sections of every plan"/>
          <p:cNvSpPr txBox="1"/>
          <p:nvPr/>
        </p:nvSpPr>
        <p:spPr>
          <a:xfrm>
            <a:off x="7498080" y="1645920"/>
            <a:ext cx="4114800" cy="22860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Five sections of every plan</a:t>
            </a:r>
            <a:endParaRPr lang="en-US" sz="1800" dirty="0"/>
          </a:p>
          <a:p>
            <a:pPr marL="203200" indent="-203200">
              <a:spcAft>
                <a:spcPts val="200"/>
              </a:spcAft>
              <a:buSzPct val="100000"/>
              <a:buChar char="•"/>
            </a:pPr>
            <a:r>
              <a:rPr lang="en-US" sz="1500" dirty="0">
                <a:solidFill>
                  <a:schemeClr val="tx1"/>
                </a:solidFill>
              </a:rPr>
              <a:t>Learning objectives</a:t>
            </a:r>
            <a:endParaRPr lang="en-US" sz="1800" dirty="0"/>
          </a:p>
          <a:p>
            <a:pPr marL="203200" indent="-203200">
              <a:spcAft>
                <a:spcPts val="200"/>
              </a:spcAft>
              <a:buSzPct val="100000"/>
              <a:buChar char="•"/>
            </a:pPr>
            <a:r>
              <a:rPr lang="en-US" sz="1500" dirty="0">
                <a:solidFill>
                  <a:schemeClr val="tx1"/>
                </a:solidFill>
              </a:rPr>
              <a:t>Topics to revise</a:t>
            </a:r>
            <a:endParaRPr lang="en-US" sz="1800" dirty="0"/>
          </a:p>
          <a:p>
            <a:pPr marL="203200" indent="-203200">
              <a:spcAft>
                <a:spcPts val="200"/>
              </a:spcAft>
              <a:buSzPct val="100000"/>
              <a:buChar char="•"/>
            </a:pPr>
            <a:r>
              <a:rPr lang="en-US" sz="1500" dirty="0">
                <a:solidFill>
                  <a:schemeClr val="tx1"/>
                </a:solidFill>
              </a:rPr>
              <a:t>Explanation</a:t>
            </a:r>
            <a:endParaRPr lang="en-US" sz="1800" dirty="0"/>
          </a:p>
          <a:p>
            <a:pPr marL="203200" indent="-203200">
              <a:spcAft>
                <a:spcPts val="200"/>
              </a:spcAft>
              <a:buSzPct val="100000"/>
              <a:buChar char="•"/>
            </a:pPr>
            <a:r>
              <a:rPr lang="en-US" sz="1500" dirty="0">
                <a:solidFill>
                  <a:schemeClr val="tx1"/>
                </a:solidFill>
              </a:rPr>
              <a:t>Two practice activities</a:t>
            </a:r>
            <a:endParaRPr lang="en-US" sz="1800" dirty="0"/>
          </a:p>
          <a:p>
            <a:pPr marL="203200" indent="-203200">
              <a:spcAft>
                <a:spcPts val="200"/>
              </a:spcAft>
              <a:buSzPct val="100000"/>
              <a:buChar char="•"/>
            </a:pPr>
            <a:r>
              <a:rPr lang="en-US" sz="1500" dirty="0">
                <a:solidFill>
                  <a:schemeClr val="tx1"/>
                </a:solidFill>
              </a:rPr>
              <a:t>Why this was recommended</a:t>
            </a:r>
            <a:endParaRPr lang="en-US" sz="1800" dirty="0"/>
          </a:p>
        </p:txBody>
      </p:sp>
      <p:pic>
        <p:nvPicPr>
          <p:cNvPr id="7" name="real_recommendation.png" descr="Real recommendation written by Groq: practice activities, rationale, cross-verified by OpenRouter and Gemini 5.0 out of 5">    </p:cNvPr>
          <p:cNvPicPr>
            <a:picLocks noChangeAspect="1"/>
          </p:cNvPicPr>
          <p:nvPr/>
        </p:nvPicPr>
        <p:blipFill>
          <a:blip r:embed="rId2"/>
          <a:stretch>
            <a:fillRect/>
          </a:stretch>
        </p:blipFill>
        <p:spPr>
          <a:xfrm>
            <a:off x="548640" y="4023360"/>
            <a:ext cx="5733535" cy="2194560"/>
          </a:xfrm>
          <a:prstGeom prst="rect">
            <a:avLst/>
          </a:prstGeom>
        </p:spPr>
      </p:pic>
      <p:sp>
        <p:nvSpPr>
          <p:cNvPr id="8" name="Real output note"/>
          <p:cNvSpPr/>
          <p:nvPr/>
        </p:nvSpPr>
        <p:spPr>
          <a:xfrm>
            <a:off x="7498080" y="4343400"/>
            <a:ext cx="4142232" cy="1463040"/>
          </a:xfrm>
          <a:prstGeom prst="roundRect">
            <a:avLst>
              <a:gd name="adj" fmla="val 5000"/>
            </a:avLst>
          </a:prstGeom>
          <a:solidFill>
            <a:schemeClr val="accent4"/>
          </a:solidFill>
          <a:ln/>
        </p:spPr>
      </p:sp>
      <p:sp>
        <p:nvSpPr>
          <p:cNvPr id="9" name="Text 4"/>
          <p:cNvSpPr txBox="1"/>
          <p:nvPr/>
        </p:nvSpPr>
        <p:spPr>
          <a:xfrm>
            <a:off x="7726680" y="4480560"/>
            <a:ext cx="3703320" cy="118872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Real output</a:t>
            </a:r>
            <a:endParaRPr lang="en-US" sz="1500" dirty="0"/>
          </a:p>
          <a:p>
            <a:pPr indent="0" marL="0">
              <a:buNone/>
            </a:pPr>
            <a:r>
              <a:rPr lang="en-US" sz="1500" dirty="0">
                <a:solidFill>
                  <a:schemeClr val="tx2"/>
                </a:solidFill>
              </a:rPr>
              <a:t>Plan written by Groq for a weak Arrays concept, then scored 5.0 / 5 by OpenRouter and Gemini.</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MODULE 6 · ADAPTIVE RE-TEST</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Easy, then Medium, then Hard, on weak concepts only</a:t>
            </a:r>
            <a:endParaRPr lang="en-US" sz="3000" dirty="0"/>
          </a:p>
        </p:txBody>
      </p:sp>
      <p:pic>
        <p:nvPicPr>
          <p:cNvPr id="5" name="fig_adaptive.png" descr="Adaptive evaluation flow with competency categories">    </p:cNvPr>
          <p:cNvPicPr>
            <a:picLocks noChangeAspect="1"/>
          </p:cNvPicPr>
          <p:nvPr/>
        </p:nvPicPr>
        <p:blipFill>
          <a:blip r:embed="rId1"/>
          <a:stretch>
            <a:fillRect/>
          </a:stretch>
        </p:blipFill>
        <p:spPr>
          <a:xfrm>
            <a:off x="2541509" y="1600200"/>
            <a:ext cx="7078502" cy="2743200"/>
          </a:xfrm>
          <a:prstGeom prst="rect">
            <a:avLst/>
          </a:prstGeom>
        </p:spPr>
      </p:pic>
      <p:graphicFrame>
        <p:nvGraphicFramePr>
          <p:cNvPr id="11" name="Category table"/>
          <p:cNvGraphicFramePr>
            <a:graphicFrameLocks noGrp="1"/>
          </p:cNvGraphicFramePr>
          <p:nvPr>
            <p:extLst>
              <p:ext uri="{D42A27DB-BD31-4B8C-83A1-F6EECF244321}">
                <p14:modId xmlns:p14="http://schemas.microsoft.com/office/powerpoint/2010/main" val="1579011935"/>
              </p:ext>
            </p:extLst>
          </p:nvPr>
        </p:nvGraphicFramePr>
        <p:xfrm>
          <a:off x="548640" y="4663440"/>
          <a:ext cx="11064240" cy="914400"/>
        </p:xfrm>
        <a:graphic>
          <a:graphicData uri="http://schemas.openxmlformats.org/drawingml/2006/table">
            <a:tbl>
              <a:tblPr/>
              <a:tblGrid>
                <a:gridCol w="3017520"/>
                <a:gridCol w="2011680"/>
                <a:gridCol w="2011680"/>
                <a:gridCol w="2011680"/>
                <a:gridCol w="2011680"/>
              </a:tblGrid>
              <a:tr h="457200">
                <a:tc>
                  <a:txBody>
                    <a:bodyPr/>
                    <a:lstStyle/>
                    <a:p>
                      <a:pPr indent="0" marL="0">
                        <a:buNone/>
                      </a:pPr>
                      <a:r>
                        <a:rPr lang="en-US" sz="1400" b="1" dirty="0">
                          <a:solidFill>
                            <a:schemeClr val="bg1"/>
                          </a:solidFill>
                        </a:rPr>
                        <a:t>Highest level passed</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None</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Easy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Medium</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Hard</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tx1"/>
                          </a:solidFill>
                        </a:rPr>
                        <a:t>Category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Competent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Beginner</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Intermediate</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Expert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r>
            </a:tbl>
          </a:graphicData>
        </a:graphic>
      </p:graphicFrame>
      <p:sp>
        <p:nvSpPr>
          <p:cNvPr id="7" name="Text 2"/>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400" dirty="0">
                <a:solidFill>
                  <a:schemeClr val="tx2"/>
                </a:solidFill>
              </a:rPr>
              <a:t>Rule “N and P”: e.g. “5 and 80” for a core course, “1 and 100” for an optional course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BASE PAPER VS OUR PROJECT</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What we added on top of the paper</a:t>
            </a:r>
            <a:endParaRPr lang="en-US" sz="3000" dirty="0"/>
          </a:p>
        </p:txBody>
      </p:sp>
      <p:graphicFrame>
        <p:nvGraphicFramePr>
          <p:cNvPr id="12" name="Comparison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108960"/>
                <a:gridCol w="3566160"/>
                <a:gridCol w="4389120"/>
              </a:tblGrid>
              <a:tr h="548640">
                <a:tc>
                  <a:txBody>
                    <a:bodyPr/>
                    <a:lstStyle/>
                    <a:p>
                      <a:pPr indent="0" marL="0">
                        <a:buNone/>
                      </a:pPr>
                      <a:r>
                        <a:rPr lang="en-US" sz="1400" b="1" dirty="0">
                          <a:solidFill>
                            <a:schemeClr val="bg1"/>
                          </a:solidFill>
                        </a:rPr>
                        <a:t>Feature</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Base paper</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Our project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1"/>
                          </a:solidFill>
                        </a:rPr>
                        <a:t>AI models</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Paid: OpenAI, Gemini, DeepSeek</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Free: Groq writes, OpenRouter + Gemini verify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When the AI fails or is busy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 described</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Pacing, retry, switch-off, offline mock</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Retrieval</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Fixed chunks</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Unit-aware: always the concept's own unit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EKT mastery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Next-answer loss only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Extra mastery loss: values rise when correct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Student take-away</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On-screen plan</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Personal study PDF of own gaps</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Interfaces</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In-house LMS</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Web app, REST API, command line</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r h="548640">
                <a:tc>
                  <a:txBody>
                    <a:bodyPr/>
                    <a:lstStyle/>
                    <a:p>
                      <a:pPr indent="0" marL="0">
                        <a:buNone/>
                      </a:pPr>
                      <a:r>
                        <a:rPr lang="en-US" sz="1400" b="1" dirty="0">
                          <a:solidFill>
                            <a:schemeClr val="tx1"/>
                          </a:solidFill>
                        </a:rPr>
                        <a:t>Testing</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described</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36 automated tests, no API cost</a:t>
                      </a:r>
                      <a:endParaRPr lang="en-US" sz="14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rgbClr val="FDF3E3"/>
                    </a:solidFill>
                  </a:tcPr>
                </a:tc>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ADDITION 1 · FREE AI THAT KEEPS WORKING</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Free tiers have limits, so we built a safety layer</a:t>
            </a:r>
            <a:endParaRPr lang="en-US" sz="3000" dirty="0"/>
          </a:p>
        </p:txBody>
      </p:sp>
      <p:sp>
        <p:nvSpPr>
          <p:cNvPr id="5" name="Pacing"/>
          <p:cNvSpPr/>
          <p:nvPr/>
        </p:nvSpPr>
        <p:spPr>
          <a:xfrm>
            <a:off x="548640" y="1691640"/>
            <a:ext cx="2560320" cy="2377440"/>
          </a:xfrm>
          <a:prstGeom prst="roundRect">
            <a:avLst>
              <a:gd name="adj" fmla="val 3077"/>
            </a:avLst>
          </a:prstGeom>
          <a:solidFill>
            <a:schemeClr val="bg2"/>
          </a:solidFill>
          <a:ln/>
        </p:spPr>
      </p:sp>
      <p:sp>
        <p:nvSpPr>
          <p:cNvPr id="6" name="Number 1"/>
          <p:cNvSpPr/>
          <p:nvPr/>
        </p:nvSpPr>
        <p:spPr>
          <a:xfrm>
            <a:off x="777240" y="1920240"/>
            <a:ext cx="548640" cy="548640"/>
          </a:xfrm>
          <a:prstGeom prst="ellipse">
            <a:avLst/>
          </a:prstGeom>
          <a:solidFill>
            <a:schemeClr val="accent1"/>
          </a:solidFill>
          <a:ln/>
        </p:spPr>
      </p:sp>
      <p:sp>
        <p:nvSpPr>
          <p:cNvPr id="7" name="Number text 1"/>
          <p:cNvSpPr txBox="1"/>
          <p:nvPr/>
        </p:nvSpPr>
        <p:spPr>
          <a:xfrm>
            <a:off x="7772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777240" y="260604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Pacing</a:t>
            </a:r>
            <a:endParaRPr lang="en-US" sz="1800" dirty="0"/>
          </a:p>
        </p:txBody>
      </p:sp>
      <p:sp>
        <p:nvSpPr>
          <p:cNvPr id="9" name="Text 6"/>
          <p:cNvSpPr txBox="1"/>
          <p:nvPr/>
        </p:nvSpPr>
        <p:spPr>
          <a:xfrm>
            <a:off x="777240" y="3017520"/>
            <a:ext cx="2148840" cy="1005840"/>
          </a:xfrm>
          <a:prstGeom prst="rect">
            <a:avLst/>
          </a:prstGeom>
          <a:noFill/>
          <a:ln/>
        </p:spPr>
        <p:txBody>
          <a:bodyPr wrap="square" lIns="0" tIns="0" rIns="0" bIns="0" rtlCol="0" anchor="t"/>
          <a:lstStyle/>
          <a:p>
            <a:pPr indent="0" marL="0">
              <a:buNone/>
            </a:pPr>
            <a:r>
              <a:rPr lang="en-US" sz="1300" dirty="0">
                <a:solidFill>
                  <a:schemeClr val="tx1"/>
                </a:solidFill>
              </a:rPr>
              <a:t>max requests per minute: Gemini 8, Groq 25, OpenRouter 15</a:t>
            </a:r>
            <a:endParaRPr lang="en-US" sz="1300" dirty="0"/>
          </a:p>
        </p:txBody>
      </p:sp>
      <p:sp>
        <p:nvSpPr>
          <p:cNvPr id="10" name="Arrow"/>
          <p:cNvSpPr/>
          <p:nvPr/>
        </p:nvSpPr>
        <p:spPr>
          <a:xfrm>
            <a:off x="3136392" y="2743200"/>
            <a:ext cx="219456" cy="274320"/>
          </a:xfrm>
          <a:prstGeom prst="rightArrow">
            <a:avLst/>
          </a:prstGeom>
          <a:solidFill>
            <a:schemeClr val="accent1"/>
          </a:solidFill>
          <a:ln/>
        </p:spPr>
      </p:sp>
      <p:sp>
        <p:nvSpPr>
          <p:cNvPr id="11" name="Retry"/>
          <p:cNvSpPr/>
          <p:nvPr/>
        </p:nvSpPr>
        <p:spPr>
          <a:xfrm>
            <a:off x="3383280" y="1691640"/>
            <a:ext cx="2560320" cy="2377440"/>
          </a:xfrm>
          <a:prstGeom prst="roundRect">
            <a:avLst>
              <a:gd name="adj" fmla="val 3077"/>
            </a:avLst>
          </a:prstGeom>
          <a:solidFill>
            <a:schemeClr val="bg2"/>
          </a:solidFill>
          <a:ln/>
        </p:spPr>
      </p:sp>
      <p:sp>
        <p:nvSpPr>
          <p:cNvPr id="12" name="Number 2"/>
          <p:cNvSpPr/>
          <p:nvPr/>
        </p:nvSpPr>
        <p:spPr>
          <a:xfrm>
            <a:off x="3611880" y="1920240"/>
            <a:ext cx="548640" cy="548640"/>
          </a:xfrm>
          <a:prstGeom prst="ellipse">
            <a:avLst/>
          </a:prstGeom>
          <a:solidFill>
            <a:schemeClr val="accent1"/>
          </a:solidFill>
          <a:ln/>
        </p:spPr>
      </p:sp>
      <p:sp>
        <p:nvSpPr>
          <p:cNvPr id="13" name="Number text 2"/>
          <p:cNvSpPr txBox="1"/>
          <p:nvPr/>
        </p:nvSpPr>
        <p:spPr>
          <a:xfrm>
            <a:off x="361188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1"/>
          <p:cNvSpPr txBox="1"/>
          <p:nvPr/>
        </p:nvSpPr>
        <p:spPr>
          <a:xfrm>
            <a:off x="3611880" y="260604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Retry</a:t>
            </a:r>
            <a:endParaRPr lang="en-US" sz="1800" dirty="0"/>
          </a:p>
        </p:txBody>
      </p:sp>
      <p:sp>
        <p:nvSpPr>
          <p:cNvPr id="15" name="Text 12"/>
          <p:cNvSpPr txBox="1"/>
          <p:nvPr/>
        </p:nvSpPr>
        <p:spPr>
          <a:xfrm>
            <a:off x="3611880" y="3017520"/>
            <a:ext cx="2148840" cy="1005840"/>
          </a:xfrm>
          <a:prstGeom prst="rect">
            <a:avLst/>
          </a:prstGeom>
          <a:noFill/>
          <a:ln/>
        </p:spPr>
        <p:txBody>
          <a:bodyPr wrap="square" lIns="0" tIns="0" rIns="0" bIns="0" rtlCol="0" anchor="t"/>
          <a:lstStyle/>
          <a:p>
            <a:pPr indent="0" marL="0">
              <a:buNone/>
            </a:pPr>
            <a:r>
              <a:rPr lang="en-US" sz="1300" dirty="0">
                <a:solidFill>
                  <a:schemeClr val="tx1"/>
                </a:solidFill>
              </a:rPr>
              <a:t>on 429 / 502 / 503 / 504, wait as the server suggests</a:t>
            </a:r>
            <a:endParaRPr lang="en-US" sz="1300" dirty="0"/>
          </a:p>
        </p:txBody>
      </p:sp>
      <p:sp>
        <p:nvSpPr>
          <p:cNvPr id="16" name="Arrow"/>
          <p:cNvSpPr/>
          <p:nvPr/>
        </p:nvSpPr>
        <p:spPr>
          <a:xfrm>
            <a:off x="5971032" y="2743200"/>
            <a:ext cx="219456" cy="274320"/>
          </a:xfrm>
          <a:prstGeom prst="rightArrow">
            <a:avLst/>
          </a:prstGeom>
          <a:solidFill>
            <a:schemeClr val="accent1"/>
          </a:solidFill>
          <a:ln/>
        </p:spPr>
      </p:sp>
      <p:sp>
        <p:nvSpPr>
          <p:cNvPr id="17" name="Circuit breaker"/>
          <p:cNvSpPr/>
          <p:nvPr/>
        </p:nvSpPr>
        <p:spPr>
          <a:xfrm>
            <a:off x="6217920" y="1691640"/>
            <a:ext cx="2560320" cy="2377440"/>
          </a:xfrm>
          <a:prstGeom prst="roundRect">
            <a:avLst>
              <a:gd name="adj" fmla="val 3077"/>
            </a:avLst>
          </a:prstGeom>
          <a:solidFill>
            <a:schemeClr val="bg2"/>
          </a:solidFill>
          <a:ln/>
        </p:spPr>
      </p:sp>
      <p:sp>
        <p:nvSpPr>
          <p:cNvPr id="18" name="Number 3"/>
          <p:cNvSpPr/>
          <p:nvPr/>
        </p:nvSpPr>
        <p:spPr>
          <a:xfrm>
            <a:off x="6446520" y="1920240"/>
            <a:ext cx="548640" cy="548640"/>
          </a:xfrm>
          <a:prstGeom prst="ellipse">
            <a:avLst/>
          </a:prstGeom>
          <a:solidFill>
            <a:schemeClr val="accent1"/>
          </a:solidFill>
          <a:ln/>
        </p:spPr>
      </p:sp>
      <p:sp>
        <p:nvSpPr>
          <p:cNvPr id="19" name="Number text 3"/>
          <p:cNvSpPr txBox="1"/>
          <p:nvPr/>
        </p:nvSpPr>
        <p:spPr>
          <a:xfrm>
            <a:off x="644652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7"/>
          <p:cNvSpPr txBox="1"/>
          <p:nvPr/>
        </p:nvSpPr>
        <p:spPr>
          <a:xfrm>
            <a:off x="6446520" y="260604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Circuit breaker</a:t>
            </a:r>
            <a:endParaRPr lang="en-US" sz="1800" dirty="0"/>
          </a:p>
        </p:txBody>
      </p:sp>
      <p:sp>
        <p:nvSpPr>
          <p:cNvPr id="21" name="Text 18"/>
          <p:cNvSpPr txBox="1"/>
          <p:nvPr/>
        </p:nvSpPr>
        <p:spPr>
          <a:xfrm>
            <a:off x="6446520" y="3017520"/>
            <a:ext cx="2148840" cy="1005840"/>
          </a:xfrm>
          <a:prstGeom prst="rect">
            <a:avLst/>
          </a:prstGeom>
          <a:noFill/>
          <a:ln/>
        </p:spPr>
        <p:txBody>
          <a:bodyPr wrap="square" lIns="0" tIns="0" rIns="0" bIns="0" rtlCol="0" anchor="t"/>
          <a:lstStyle/>
          <a:p>
            <a:pPr indent="0" marL="0">
              <a:buNone/>
            </a:pPr>
            <a:r>
              <a:rPr lang="en-US" sz="1300" dirty="0">
                <a:solidFill>
                  <a:schemeClr val="tx1"/>
                </a:solidFill>
              </a:rPr>
              <a:t>on 401 / 402 / 404, or 3 rate limits in a row: stop calling</a:t>
            </a:r>
            <a:endParaRPr lang="en-US" sz="1300" dirty="0"/>
          </a:p>
        </p:txBody>
      </p:sp>
      <p:sp>
        <p:nvSpPr>
          <p:cNvPr id="22" name="Arrow"/>
          <p:cNvSpPr/>
          <p:nvPr/>
        </p:nvSpPr>
        <p:spPr>
          <a:xfrm>
            <a:off x="8805672" y="2743200"/>
            <a:ext cx="219456" cy="274320"/>
          </a:xfrm>
          <a:prstGeom prst="rightArrow">
            <a:avLst/>
          </a:prstGeom>
          <a:solidFill>
            <a:schemeClr val="accent1"/>
          </a:solidFill>
          <a:ln/>
        </p:spPr>
      </p:sp>
      <p:sp>
        <p:nvSpPr>
          <p:cNvPr id="23" name="Offline mock"/>
          <p:cNvSpPr/>
          <p:nvPr/>
        </p:nvSpPr>
        <p:spPr>
          <a:xfrm>
            <a:off x="9052560" y="1691640"/>
            <a:ext cx="2560320" cy="2377440"/>
          </a:xfrm>
          <a:prstGeom prst="roundRect">
            <a:avLst>
              <a:gd name="adj" fmla="val 3077"/>
            </a:avLst>
          </a:prstGeom>
          <a:solidFill>
            <a:schemeClr val="accent4"/>
          </a:solidFill>
          <a:ln/>
        </p:spPr>
      </p:sp>
      <p:sp>
        <p:nvSpPr>
          <p:cNvPr id="24" name="Number 4"/>
          <p:cNvSpPr/>
          <p:nvPr/>
        </p:nvSpPr>
        <p:spPr>
          <a:xfrm>
            <a:off x="9281160" y="1920240"/>
            <a:ext cx="548640" cy="548640"/>
          </a:xfrm>
          <a:prstGeom prst="ellipse">
            <a:avLst/>
          </a:prstGeom>
          <a:solidFill>
            <a:schemeClr val="accent1"/>
          </a:solidFill>
          <a:ln/>
        </p:spPr>
      </p:sp>
      <p:sp>
        <p:nvSpPr>
          <p:cNvPr id="25" name="Number text 4"/>
          <p:cNvSpPr txBox="1"/>
          <p:nvPr/>
        </p:nvSpPr>
        <p:spPr>
          <a:xfrm>
            <a:off x="928116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3"/>
          <p:cNvSpPr txBox="1"/>
          <p:nvPr/>
        </p:nvSpPr>
        <p:spPr>
          <a:xfrm>
            <a:off x="9281160" y="260604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Offline mock</a:t>
            </a:r>
            <a:endParaRPr lang="en-US" sz="1800" dirty="0"/>
          </a:p>
        </p:txBody>
      </p:sp>
      <p:sp>
        <p:nvSpPr>
          <p:cNvPr id="27" name="Text 24"/>
          <p:cNvSpPr txBox="1"/>
          <p:nvPr/>
        </p:nvSpPr>
        <p:spPr>
          <a:xfrm>
            <a:off x="9281160" y="3017520"/>
            <a:ext cx="2148840" cy="1005840"/>
          </a:xfrm>
          <a:prstGeom prst="rect">
            <a:avLst/>
          </a:prstGeom>
          <a:noFill/>
          <a:ln/>
        </p:spPr>
        <p:txBody>
          <a:bodyPr wrap="square" lIns="0" tIns="0" rIns="0" bIns="0" rtlCol="0" anchor="t"/>
          <a:lstStyle/>
          <a:p>
            <a:pPr indent="0" marL="0">
              <a:buNone/>
            </a:pPr>
            <a:r>
              <a:rPr lang="en-US" sz="1300" dirty="0">
                <a:solidFill>
                  <a:schemeClr val="tx1"/>
                </a:solidFill>
              </a:rPr>
              <a:t>same JSON answer format, so the app never stops</a:t>
            </a:r>
            <a:endParaRPr lang="en-US" sz="1300" dirty="0"/>
          </a:p>
        </p:txBody>
      </p:sp>
      <p:sp>
        <p:nvSpPr>
          <p:cNvPr id="28" name="Models command"/>
          <p:cNvSpPr/>
          <p:nvPr/>
        </p:nvSpPr>
        <p:spPr>
          <a:xfrm>
            <a:off x="548640" y="4389120"/>
            <a:ext cx="11064240" cy="1554480"/>
          </a:xfrm>
          <a:prstGeom prst="roundRect">
            <a:avLst>
              <a:gd name="adj" fmla="val 4706"/>
            </a:avLst>
          </a:prstGeom>
          <a:solidFill>
            <a:schemeClr val="tx2"/>
          </a:solidFill>
          <a:ln/>
        </p:spPr>
      </p:sp>
      <p:sp>
        <p:nvSpPr>
          <p:cNvPr id="29" name="Text 26"/>
          <p:cNvSpPr txBox="1"/>
          <p:nvPr/>
        </p:nvSpPr>
        <p:spPr>
          <a:xfrm>
            <a:off x="868680" y="4526280"/>
            <a:ext cx="10424160" cy="1280160"/>
          </a:xfrm>
          <a:prstGeom prst="rect">
            <a:avLst/>
          </a:prstGeom>
          <a:noFill/>
          <a:ln/>
        </p:spPr>
        <p:txBody>
          <a:bodyPr wrap="square" lIns="0" tIns="0" rIns="0" bIns="0" rtlCol="0" anchor="ctr"/>
          <a:lstStyle/>
          <a:p>
            <a:pPr indent="0" marL="0">
              <a:buNone/>
            </a:pPr>
            <a:r>
              <a:rPr lang="en-US" sz="1600" b="1" dirty="0">
                <a:solidFill>
                  <a:schemeClr val="accent2"/>
                </a:solidFill>
                <a:latin typeface="Courier New" pitchFamily="34" charset="0"/>
                <a:ea typeface="Courier New" pitchFamily="34" charset="-122"/>
                <a:cs typeface="Courier New" pitchFamily="34" charset="-120"/>
              </a:rPr>
              <a:t>python -m plrs models</a:t>
            </a:r>
            <a:endParaRPr lang="en-US" sz="1600" dirty="0"/>
          </a:p>
          <a:p>
            <a:pPr indent="0" marL="0">
              <a:buNone/>
            </a:pPr>
            <a:r>
              <a:rPr lang="en-US" sz="1600" dirty="0">
                <a:solidFill>
                  <a:schemeClr val="bg1"/>
                </a:solidFill>
              </a:rPr>
              <a:t>Lists the models each key can use and warns when the configured one has been retired, which is how we fixed the Groq and OpenRouter 404 errors.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ADDITION 2 · PERSONAL STUDY PDF</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Every student gets material they can keep</a:t>
            </a:r>
            <a:endParaRPr lang="en-US" sz="3000" dirty="0"/>
          </a:p>
        </p:txBody>
      </p:sp>
      <p:sp>
        <p:nvSpPr>
          <p:cNvPr id="5" name="What is inside"/>
          <p:cNvSpPr txBox="1"/>
          <p:nvPr/>
        </p:nvSpPr>
        <p:spPr>
          <a:xfrm>
            <a:off x="548640" y="1600200"/>
            <a:ext cx="5120640" cy="274320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What is inside</a:t>
            </a:r>
            <a:endParaRPr lang="en-US" sz="1800" dirty="0"/>
          </a:p>
          <a:p>
            <a:pPr marL="203200" indent="-203200">
              <a:spcAft>
                <a:spcPts val="600"/>
              </a:spcAft>
              <a:buSzPct val="100000"/>
              <a:buChar char="•"/>
            </a:pPr>
            <a:r>
              <a:rPr lang="en-US" sz="1600" dirty="0">
                <a:solidFill>
                  <a:schemeClr val="tx1"/>
                </a:solidFill>
              </a:rPr>
              <a:t>Knowledge state of every concept</a:t>
            </a:r>
            <a:endParaRPr lang="en-US" sz="1800" dirty="0"/>
          </a:p>
          <a:p>
            <a:pPr marL="203200" indent="-203200">
              <a:spcAft>
                <a:spcPts val="600"/>
              </a:spcAft>
              <a:buSzPct val="100000"/>
              <a:buChar char="•"/>
            </a:pPr>
            <a:r>
              <a:rPr lang="en-US" sz="1600" dirty="0">
                <a:solidFill>
                  <a:schemeClr val="tx1"/>
                </a:solidFill>
              </a:rPr>
              <a:t>Questions the student got wrong</a:t>
            </a:r>
            <a:endParaRPr lang="en-US" sz="1800" dirty="0"/>
          </a:p>
          <a:p>
            <a:pPr marL="203200" indent="-203200">
              <a:spcAft>
                <a:spcPts val="600"/>
              </a:spcAft>
              <a:buSzPct val="100000"/>
              <a:buChar char="•"/>
            </a:pPr>
            <a:r>
              <a:rPr lang="en-US" sz="1600" dirty="0">
                <a:solidFill>
                  <a:schemeClr val="tx1"/>
                </a:solidFill>
              </a:rPr>
              <a:t>The five-part plan, weakest concept first</a:t>
            </a:r>
            <a:endParaRPr lang="en-US" sz="1800" dirty="0"/>
          </a:p>
          <a:p>
            <a:pPr marL="203200" indent="-203200">
              <a:spcAft>
                <a:spcPts val="600"/>
              </a:spcAft>
              <a:buSzPct val="100000"/>
              <a:buChar char="•"/>
            </a:pPr>
            <a:r>
              <a:rPr lang="en-US" sz="1600" dirty="0">
                <a:solidFill>
                  <a:schemeClr val="tx1"/>
                </a:solidFill>
              </a:rPr>
              <a:t>The concept's own syllabus pages (RAG)</a:t>
            </a:r>
            <a:endParaRPr lang="en-US" sz="1800" dirty="0"/>
          </a:p>
          <a:p>
            <a:pPr marL="203200" indent="-203200">
              <a:spcAft>
                <a:spcPts val="600"/>
              </a:spcAft>
              <a:buSzPct val="100000"/>
              <a:buChar char="•"/>
            </a:pPr>
            <a:r>
              <a:rPr lang="en-US" sz="1600" dirty="0">
                <a:solidFill>
                  <a:schemeClr val="tx1"/>
                </a:solidFill>
              </a:rPr>
              <a:t>A tick-box self-check before the re-test</a:t>
            </a:r>
            <a:endParaRPr lang="en-US" sz="1800" dirty="0"/>
          </a:p>
        </p:txBody>
      </p:sp>
      <p:pic>
        <p:nvPicPr>
          <p:cNvPr id="6" name="study_ui.png" descr="Web page buttons: View study material and Download PDF">    </p:cNvPr>
          <p:cNvPicPr>
            <a:picLocks noChangeAspect="1"/>
          </p:cNvPicPr>
          <p:nvPr/>
        </p:nvPicPr>
        <p:blipFill>
          <a:blip r:embed="rId1"/>
          <a:stretch>
            <a:fillRect/>
          </a:stretch>
        </p:blipFill>
        <p:spPr>
          <a:xfrm>
            <a:off x="548640" y="4572000"/>
            <a:ext cx="5120640" cy="1032933"/>
          </a:xfrm>
          <a:prstGeom prst="rect">
            <a:avLst/>
          </a:prstGeom>
        </p:spPr>
      </p:pic>
      <p:sp>
        <p:nvSpPr>
          <p:cNvPr id="7" name="Text 3"/>
          <p:cNvSpPr txBox="1"/>
          <p:nvPr/>
        </p:nvSpPr>
        <p:spPr>
          <a:xfrm>
            <a:off x="548640" y="5852160"/>
            <a:ext cx="5120640" cy="320040"/>
          </a:xfrm>
          <a:prstGeom prst="rect">
            <a:avLst/>
          </a:prstGeom>
          <a:noFill/>
          <a:ln/>
        </p:spPr>
        <p:txBody>
          <a:bodyPr wrap="square" lIns="0" tIns="0" rIns="0" bIns="0" rtlCol="0" anchor="ctr"/>
          <a:lstStyle/>
          <a:p>
            <a:pPr indent="0" marL="0">
              <a:buNone/>
            </a:pPr>
            <a:r>
              <a:rPr lang="en-US" sz="1300" i="1" dirty="0">
                <a:solidFill>
                  <a:schemeClr val="accent1"/>
                </a:solidFill>
              </a:rPr>
              <a:t>No extra AI calls: built from the plan already shown</a:t>
            </a:r>
            <a:endParaRPr lang="en-US" sz="1300" dirty="0"/>
          </a:p>
        </p:txBody>
      </p:sp>
      <p:pic>
        <p:nvPicPr>
          <p:cNvPr id="8" name="study_pdf_crop.png" descr="Page of a study-material PDF for String Manipulation">    </p:cNvPr>
          <p:cNvPicPr>
            <a:picLocks noChangeAspect="1"/>
          </p:cNvPicPr>
          <p:nvPr/>
        </p:nvPicPr>
        <p:blipFill>
          <a:blip r:embed="rId2"/>
          <a:stretch>
            <a:fillRect/>
          </a:stretch>
        </p:blipFill>
        <p:spPr>
          <a:xfrm>
            <a:off x="6080760" y="1554480"/>
            <a:ext cx="5559552" cy="4636883"/>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ADDITION 3 · BETTER RETRIEVAL AND MASTERY</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Content stays on topic; mastery means something</a:t>
            </a:r>
            <a:endParaRPr lang="en-US" sz="3000" dirty="0"/>
          </a:p>
        </p:txBody>
      </p:sp>
      <p:graphicFrame>
        <p:nvGraphicFramePr>
          <p:cNvPr id="5" name="Retrieval chart" descr=""/>
          <p:cNvGraphicFramePr/>
          <p:nvPr/>
        </p:nvGraphicFramePr>
        <p:xfrm>
          <a:off x="54864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Mastery card"/>
          <p:cNvSpPr/>
          <p:nvPr/>
        </p:nvSpPr>
        <p:spPr>
          <a:xfrm>
            <a:off x="6949440" y="1600200"/>
            <a:ext cx="4690872" cy="4206240"/>
          </a:xfrm>
          <a:prstGeom prst="roundRect">
            <a:avLst>
              <a:gd name="adj" fmla="val 1739"/>
            </a:avLst>
          </a:prstGeom>
          <a:solidFill>
            <a:schemeClr val="bg2"/>
          </a:solidFill>
          <a:ln/>
        </p:spPr>
      </p:sp>
      <p:sp>
        <p:nvSpPr>
          <p:cNvPr id="7" name="Calibrated EKT mastery"/>
          <p:cNvSpPr txBox="1"/>
          <p:nvPr/>
        </p:nvSpPr>
        <p:spPr>
          <a:xfrm>
            <a:off x="7223760" y="1828800"/>
            <a:ext cx="4206240" cy="38404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Calibrated EKT mastery</a:t>
            </a:r>
            <a:endParaRPr lang="en-US" sz="1800" dirty="0"/>
          </a:p>
          <a:p>
            <a:pPr marL="203200" indent="-203200">
              <a:spcAft>
                <a:spcPts val="1000"/>
              </a:spcAft>
              <a:buSzPct val="100000"/>
              <a:buChar char="•"/>
            </a:pPr>
            <a:r>
              <a:rPr lang="en-US" sz="1500" dirty="0">
                <a:solidFill>
                  <a:schemeClr val="tx1"/>
                </a:solidFill>
              </a:rPr>
              <a:t>Problem: mastery stayed near 50% for every concept</a:t>
            </a:r>
            <a:endParaRPr lang="en-US" sz="1800" dirty="0"/>
          </a:p>
          <a:p>
            <a:pPr marL="203200" indent="-203200">
              <a:spcAft>
                <a:spcPts val="1000"/>
              </a:spcAft>
              <a:buSzPct val="100000"/>
              <a:buChar char="•"/>
            </a:pPr>
            <a:r>
              <a:rPr lang="en-US" sz="1500" dirty="0">
                <a:solidFill>
                  <a:schemeClr val="tx1"/>
                </a:solidFill>
              </a:rPr>
              <a:t>Fix: an extra loss trains the mastery output on the next answer of the same concept</a:t>
            </a:r>
            <a:endParaRPr lang="en-US" sz="1800" dirty="0"/>
          </a:p>
          <a:p>
            <a:pPr marL="203200" indent="-203200">
              <a:spcAft>
                <a:spcPts val="1000"/>
              </a:spcAft>
              <a:buSzPct val="100000"/>
              <a:buChar char="•"/>
            </a:pPr>
            <a:r>
              <a:rPr lang="en-US" sz="1500" dirty="0">
                <a:solidFill>
                  <a:schemeClr val="tx1"/>
                </a:solidFill>
              </a:rPr>
              <a:t>Result: mastery rises after correct answers, so the 70% gap rule works</a:t>
            </a:r>
            <a:endParaRPr lang="en-US" sz="1800" dirty="0"/>
          </a:p>
        </p:txBody>
      </p:sp>
      <p:sp>
        <p:nvSpPr>
          <p:cNvPr id="8" name="Text 4"/>
          <p:cNvSpPr txBox="1"/>
          <p:nvPr/>
        </p:nvSpPr>
        <p:spPr>
          <a:xfrm>
            <a:off x="548640" y="5852160"/>
            <a:ext cx="6035040" cy="320040"/>
          </a:xfrm>
          <a:prstGeom prst="rect">
            <a:avLst/>
          </a:prstGeom>
          <a:noFill/>
          <a:ln/>
        </p:spPr>
        <p:txBody>
          <a:bodyPr wrap="square" lIns="0" tIns="0" rIns="0" bIns="0" rtlCol="0" anchor="ctr"/>
          <a:lstStyle/>
          <a:p>
            <a:pPr indent="0" marL="0">
              <a:buNone/>
            </a:pPr>
            <a:r>
              <a:rPr lang="en-US" sz="1200" dirty="0">
                <a:solidFill>
                  <a:schemeClr val="accent6"/>
                </a:solidFill>
              </a:rPr>
              <a:t>Chunk size 1000 characters; measured on the C programming syllabus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LIVE DEMO</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Run with python -m plrs serve</a:t>
            </a:r>
            <a:endParaRPr lang="en-US" sz="3000" dirty="0"/>
          </a:p>
        </p:txBody>
      </p:sp>
      <p:pic>
        <p:nvPicPr>
          <p:cNvPr id="5" name="ss04_state.png" descr="Knowledge state with mastery bars, threshold and target">    </p:cNvPr>
          <p:cNvPicPr>
            <a:picLocks noChangeAspect="1"/>
          </p:cNvPicPr>
          <p:nvPr/>
        </p:nvPicPr>
        <p:blipFill>
          <a:blip r:embed="rId1"/>
          <a:stretch>
            <a:fillRect/>
          </a:stretch>
        </p:blipFill>
        <p:spPr>
          <a:xfrm>
            <a:off x="548640" y="1554480"/>
            <a:ext cx="6583680" cy="2960914"/>
          </a:xfrm>
          <a:prstGeom prst="rect">
            <a:avLst/>
          </a:prstGeom>
        </p:spPr>
      </p:pic>
      <p:pic>
        <p:nvPicPr>
          <p:cNvPr id="6" name="ss06_quiz.png" descr="Adaptive quiz at the Easy level">    </p:cNvPr>
          <p:cNvPicPr>
            <a:picLocks noChangeAspect="1"/>
          </p:cNvPicPr>
          <p:nvPr/>
        </p:nvPicPr>
        <p:blipFill>
          <a:blip r:embed="rId2"/>
          <a:stretch>
            <a:fillRect/>
          </a:stretch>
        </p:blipFill>
        <p:spPr>
          <a:xfrm>
            <a:off x="7406640" y="1554480"/>
            <a:ext cx="4233672" cy="3055227"/>
          </a:xfrm>
          <a:prstGeom prst="rect">
            <a:avLst/>
          </a:prstGeom>
        </p:spPr>
      </p:pic>
      <p:sp>
        <p:nvSpPr>
          <p:cNvPr id="7" name="Number 1"/>
          <p:cNvSpPr/>
          <p:nvPr/>
        </p:nvSpPr>
        <p:spPr>
          <a:xfrm>
            <a:off x="548640" y="5029200"/>
            <a:ext cx="502920" cy="502920"/>
          </a:xfrm>
          <a:prstGeom prst="ellipse">
            <a:avLst/>
          </a:prstGeom>
          <a:solidFill>
            <a:schemeClr val="accent1"/>
          </a:solidFill>
          <a:ln/>
        </p:spPr>
      </p:sp>
      <p:sp>
        <p:nvSpPr>
          <p:cNvPr id="8" name="Number text 1"/>
          <p:cNvSpPr txBox="1"/>
          <p:nvPr/>
        </p:nvSpPr>
        <p:spPr>
          <a:xfrm>
            <a:off x="548640" y="50292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4"/>
          <p:cNvSpPr txBox="1"/>
          <p:nvPr/>
        </p:nvSpPr>
        <p:spPr>
          <a:xfrm>
            <a:off x="1143000" y="50292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Upload a CSV</a:t>
            </a:r>
            <a:endParaRPr lang="en-US" sz="1400" dirty="0"/>
          </a:p>
        </p:txBody>
      </p:sp>
      <p:sp>
        <p:nvSpPr>
          <p:cNvPr id="10" name="Number 2"/>
          <p:cNvSpPr/>
          <p:nvPr/>
        </p:nvSpPr>
        <p:spPr>
          <a:xfrm>
            <a:off x="2798064" y="5029200"/>
            <a:ext cx="502920" cy="502920"/>
          </a:xfrm>
          <a:prstGeom prst="ellipse">
            <a:avLst/>
          </a:prstGeom>
          <a:solidFill>
            <a:schemeClr val="accent1"/>
          </a:solidFill>
          <a:ln/>
        </p:spPr>
      </p:sp>
      <p:sp>
        <p:nvSpPr>
          <p:cNvPr id="11" name="Number text 2"/>
          <p:cNvSpPr txBox="1"/>
          <p:nvPr/>
        </p:nvSpPr>
        <p:spPr>
          <a:xfrm>
            <a:off x="2798064" y="50292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7"/>
          <p:cNvSpPr txBox="1"/>
          <p:nvPr/>
        </p:nvSpPr>
        <p:spPr>
          <a:xfrm>
            <a:off x="3392424" y="50292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Analyse</a:t>
            </a:r>
            <a:endParaRPr lang="en-US" sz="1400" dirty="0"/>
          </a:p>
        </p:txBody>
      </p:sp>
      <p:sp>
        <p:nvSpPr>
          <p:cNvPr id="13" name="Number 3"/>
          <p:cNvSpPr/>
          <p:nvPr/>
        </p:nvSpPr>
        <p:spPr>
          <a:xfrm>
            <a:off x="5047488" y="5029200"/>
            <a:ext cx="502920" cy="502920"/>
          </a:xfrm>
          <a:prstGeom prst="ellipse">
            <a:avLst/>
          </a:prstGeom>
          <a:solidFill>
            <a:schemeClr val="accent1"/>
          </a:solidFill>
          <a:ln/>
        </p:spPr>
      </p:sp>
      <p:sp>
        <p:nvSpPr>
          <p:cNvPr id="14" name="Number text 3"/>
          <p:cNvSpPr txBox="1"/>
          <p:nvPr/>
        </p:nvSpPr>
        <p:spPr>
          <a:xfrm>
            <a:off x="5047488" y="50292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0"/>
          <p:cNvSpPr txBox="1"/>
          <p:nvPr/>
        </p:nvSpPr>
        <p:spPr>
          <a:xfrm>
            <a:off x="5641848" y="50292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Read the plan</a:t>
            </a:r>
            <a:endParaRPr lang="en-US" sz="1400" dirty="0"/>
          </a:p>
        </p:txBody>
      </p:sp>
      <p:sp>
        <p:nvSpPr>
          <p:cNvPr id="16" name="Number 4"/>
          <p:cNvSpPr/>
          <p:nvPr/>
        </p:nvSpPr>
        <p:spPr>
          <a:xfrm>
            <a:off x="7296912" y="5029200"/>
            <a:ext cx="502920" cy="502920"/>
          </a:xfrm>
          <a:prstGeom prst="ellipse">
            <a:avLst/>
          </a:prstGeom>
          <a:solidFill>
            <a:schemeClr val="accent2"/>
          </a:solidFill>
          <a:ln/>
        </p:spPr>
      </p:sp>
      <p:sp>
        <p:nvSpPr>
          <p:cNvPr id="17" name="Number text 4"/>
          <p:cNvSpPr txBox="1"/>
          <p:nvPr/>
        </p:nvSpPr>
        <p:spPr>
          <a:xfrm>
            <a:off x="7296912" y="50292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3"/>
          <p:cNvSpPr txBox="1"/>
          <p:nvPr/>
        </p:nvSpPr>
        <p:spPr>
          <a:xfrm>
            <a:off x="7891272" y="50292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View study PDF</a:t>
            </a:r>
            <a:endParaRPr lang="en-US" sz="1400" dirty="0"/>
          </a:p>
        </p:txBody>
      </p:sp>
      <p:sp>
        <p:nvSpPr>
          <p:cNvPr id="19" name="Number 5"/>
          <p:cNvSpPr/>
          <p:nvPr/>
        </p:nvSpPr>
        <p:spPr>
          <a:xfrm>
            <a:off x="9546336" y="5029200"/>
            <a:ext cx="502920" cy="502920"/>
          </a:xfrm>
          <a:prstGeom prst="ellipse">
            <a:avLst/>
          </a:prstGeom>
          <a:solidFill>
            <a:schemeClr val="accent1"/>
          </a:solidFill>
          <a:ln/>
        </p:spPr>
      </p:sp>
      <p:sp>
        <p:nvSpPr>
          <p:cNvPr id="20" name="Number text 5"/>
          <p:cNvSpPr txBox="1"/>
          <p:nvPr/>
        </p:nvSpPr>
        <p:spPr>
          <a:xfrm>
            <a:off x="9546336" y="50292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6"/>
          <p:cNvSpPr txBox="1"/>
          <p:nvPr/>
        </p:nvSpPr>
        <p:spPr>
          <a:xfrm>
            <a:off x="10140696" y="5029200"/>
            <a:ext cx="1600200" cy="502920"/>
          </a:xfrm>
          <a:prstGeom prst="rect">
            <a:avLst/>
          </a:prstGeom>
          <a:noFill/>
          <a:ln/>
        </p:spPr>
        <p:txBody>
          <a:bodyPr wrap="square" lIns="0" tIns="0" rIns="0" bIns="0" rtlCol="0" anchor="ctr"/>
          <a:lstStyle/>
          <a:p>
            <a:pPr indent="0" marL="0">
              <a:buNone/>
            </a:pPr>
            <a:r>
              <a:rPr lang="en-US" sz="1400" b="1" dirty="0">
                <a:solidFill>
                  <a:schemeClr val="tx2"/>
                </a:solidFill>
              </a:rPr>
              <a:t>Take the re-test</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RESULTS · KNOWLEDGE TRACING</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EKT beats the DKT baseline on every metric</a:t>
            </a:r>
            <a:endParaRPr lang="en-US" sz="3000" dirty="0"/>
          </a:p>
        </p:txBody>
      </p:sp>
      <p:graphicFrame>
        <p:nvGraphicFramePr>
          <p:cNvPr id="5" name="KT chart" descr=""/>
          <p:cNvGraphicFramePr/>
          <p:nvPr/>
        </p:nvGraphicFramePr>
        <p:xfrm>
          <a:off x="548640" y="15544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Set-up"/>
          <p:cNvSpPr txBox="1"/>
          <p:nvPr/>
        </p:nvSpPr>
        <p:spPr>
          <a:xfrm>
            <a:off x="7863840" y="1645920"/>
            <a:ext cx="3749040" cy="420624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Set-up</a:t>
            </a:r>
            <a:endParaRPr lang="en-US" sz="1800" dirty="0"/>
          </a:p>
          <a:p>
            <a:pPr marL="203200" indent="-203200">
              <a:spcAft>
                <a:spcPts val="800"/>
              </a:spcAft>
              <a:buSzPct val="100000"/>
              <a:buChar char="•"/>
            </a:pPr>
            <a:r>
              <a:rPr lang="en-US" sz="1500" dirty="0">
                <a:solidFill>
                  <a:schemeClr val="tx1"/>
                </a:solidFill>
              </a:rPr>
              <a:t>600 simulated learners, 24,000 answers</a:t>
            </a:r>
            <a:endParaRPr lang="en-US" sz="1800" dirty="0"/>
          </a:p>
          <a:p>
            <a:pPr marL="203200" indent="-203200">
              <a:spcAft>
                <a:spcPts val="800"/>
              </a:spcAft>
              <a:buSzPct val="100000"/>
              <a:buChar char="•"/>
            </a:pPr>
            <a:r>
              <a:rPr lang="en-US" sz="1500" dirty="0">
                <a:solidFill>
                  <a:schemeClr val="tx1"/>
                </a:solidFill>
              </a:rPr>
              <a:t>75 / 25 split of learners</a:t>
            </a:r>
            <a:endParaRPr lang="en-US" sz="1800" dirty="0"/>
          </a:p>
          <a:p>
            <a:pPr marL="203200" indent="-203200">
              <a:spcAft>
                <a:spcPts val="800"/>
              </a:spcAft>
              <a:buSzPct val="100000"/>
              <a:buChar char="•"/>
            </a:pPr>
            <a:r>
              <a:rPr lang="en-US" sz="1500" dirty="0">
                <a:solidFill>
                  <a:schemeClr val="tx1"/>
                </a:solidFill>
              </a:rPr>
              <a:t>12 epochs, Adam, learning rate 0.001</a:t>
            </a:r>
            <a:endParaRPr lang="en-US" sz="1800" dirty="0"/>
          </a:p>
          <a:p>
            <a:pPr marL="203200" indent="-203200">
              <a:spcAft>
                <a:spcPts val="800"/>
              </a:spcAft>
              <a:buSzPct val="100000"/>
              <a:buChar char="•"/>
            </a:pPr>
            <a:r>
              <a:rPr lang="en-US" sz="1500" dirty="0">
                <a:solidFill>
                  <a:schemeClr val="tx1"/>
                </a:solidFill>
              </a:rPr>
              <a:t>Paper (real data): EKT AUC 0.9334</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RESULTS · BEFORE AND AFTER REMEDIATION</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Scores rose on all five concepts</a:t>
            </a:r>
            <a:endParaRPr lang="en-US" sz="3000" dirty="0"/>
          </a:p>
        </p:txBody>
      </p:sp>
      <p:graphicFrame>
        <p:nvGraphicFramePr>
          <p:cNvPr id="5" name="Pre post chart" descr=""/>
          <p:cNvGraphicFramePr/>
          <p:nvPr/>
        </p:nvGraphicFramePr>
        <p:xfrm>
          <a:off x="548640" y="155448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6" name="Stat +38.7%"/>
          <p:cNvSpPr txBox="1"/>
          <p:nvPr/>
        </p:nvSpPr>
        <p:spPr>
          <a:xfrm>
            <a:off x="8229600" y="1691640"/>
            <a:ext cx="338328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+38.7%</a:t>
            </a:r>
            <a:endParaRPr lang="en-US" sz="3600" dirty="0"/>
          </a:p>
        </p:txBody>
      </p:sp>
      <p:sp>
        <p:nvSpPr>
          <p:cNvPr id="7" name="Stat label largest gain: Strings (66.7 → 92.5)"/>
          <p:cNvSpPr txBox="1"/>
          <p:nvPr/>
        </p:nvSpPr>
        <p:spPr>
          <a:xfrm>
            <a:off x="8229600" y="2377440"/>
            <a:ext cx="3383280" cy="548640"/>
          </a:xfrm>
          <a:prstGeom prst="rect">
            <a:avLst/>
          </a:prstGeom>
          <a:noFill/>
          <a:ln/>
        </p:spPr>
        <p:txBody>
          <a:bodyPr wrap="square" lIns="0" tIns="0" rIns="0" bIns="0" rtlCol="0" anchor="t"/>
          <a:lstStyle/>
          <a:p>
            <a:pPr indent="0" marL="0">
              <a:buNone/>
            </a:pPr>
            <a:r>
              <a:rPr lang="en-US" sz="1300" dirty="0">
                <a:solidFill>
                  <a:schemeClr val="accent6"/>
                </a:solidFill>
              </a:rPr>
              <a:t>largest gain: Strings (66.7 → 92.5)</a:t>
            </a:r>
            <a:endParaRPr lang="en-US" sz="1300" dirty="0"/>
          </a:p>
        </p:txBody>
      </p:sp>
      <p:sp>
        <p:nvSpPr>
          <p:cNvPr id="8" name="Stat 3 of 5"/>
          <p:cNvSpPr txBox="1"/>
          <p:nvPr/>
        </p:nvSpPr>
        <p:spPr>
          <a:xfrm>
            <a:off x="8229600" y="3063240"/>
            <a:ext cx="338328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3 of 5</a:t>
            </a:r>
            <a:endParaRPr lang="en-US" sz="3600" dirty="0"/>
          </a:p>
        </p:txBody>
      </p:sp>
      <p:sp>
        <p:nvSpPr>
          <p:cNvPr id="9" name="Stat label concepts significant at p &amp;lt; 0.05"/>
          <p:cNvSpPr txBox="1"/>
          <p:nvPr/>
        </p:nvSpPr>
        <p:spPr>
          <a:xfrm>
            <a:off x="8229600" y="3749040"/>
            <a:ext cx="3383280" cy="548640"/>
          </a:xfrm>
          <a:prstGeom prst="rect">
            <a:avLst/>
          </a:prstGeom>
          <a:noFill/>
          <a:ln/>
        </p:spPr>
        <p:txBody>
          <a:bodyPr wrap="square" lIns="0" tIns="0" rIns="0" bIns="0" rtlCol="0" anchor="t"/>
          <a:lstStyle/>
          <a:p>
            <a:pPr indent="0" marL="0">
              <a:buNone/>
            </a:pPr>
            <a:r>
              <a:rPr lang="en-US" sz="1300" dirty="0">
                <a:solidFill>
                  <a:schemeClr val="accent6"/>
                </a:solidFill>
              </a:rPr>
              <a:t>concepts significant at p &lt; 0.05</a:t>
            </a:r>
            <a:endParaRPr lang="en-US" sz="1300" dirty="0"/>
          </a:p>
        </p:txBody>
      </p:sp>
      <p:sp>
        <p:nvSpPr>
          <p:cNvPr id="10" name="Text 6"/>
          <p:cNvSpPr txBox="1"/>
          <p:nvPr/>
        </p:nvSpPr>
        <p:spPr>
          <a:xfrm>
            <a:off x="8229600" y="4526280"/>
            <a:ext cx="3383280" cy="914400"/>
          </a:xfrm>
          <a:prstGeom prst="rect">
            <a:avLst/>
          </a:prstGeom>
          <a:noFill/>
          <a:ln/>
        </p:spPr>
        <p:txBody>
          <a:bodyPr wrap="square" lIns="0" tIns="0" rIns="0" bIns="0" rtlCol="0" anchor="ctr"/>
          <a:lstStyle/>
          <a:p>
            <a:pPr indent="0" marL="0">
              <a:buNone/>
            </a:pPr>
            <a:r>
              <a:rPr lang="en-US" sz="1300" i="1" dirty="0">
                <a:solidFill>
                  <a:schemeClr val="accent6"/>
                </a:solidFill>
              </a:rPr>
              <a:t>Students and the study effect are simulated; a real class is future work.</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RESULTS · THE FULL LOOP</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Remediation closes gaps faster</a:t>
            </a:r>
            <a:endParaRPr lang="en-US" sz="3000" dirty="0"/>
          </a:p>
        </p:txBody>
      </p:sp>
      <p:sp>
        <p:nvSpPr>
          <p:cNvPr id="5" name="Stat 38 / 40"/>
          <p:cNvSpPr txBox="1"/>
          <p:nvPr/>
        </p:nvSpPr>
        <p:spPr>
          <a:xfrm>
            <a:off x="548640" y="1691640"/>
            <a:ext cx="3291840" cy="6858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38 / 40</a:t>
            </a:r>
            <a:endParaRPr lang="en-US" sz="4800" dirty="0"/>
          </a:p>
        </p:txBody>
      </p:sp>
      <p:sp>
        <p:nvSpPr>
          <p:cNvPr id="6" name="Stat label students with no gaps after one round, with remediation"/>
          <p:cNvSpPr txBox="1"/>
          <p:nvPr/>
        </p:nvSpPr>
        <p:spPr>
          <a:xfrm>
            <a:off x="548640" y="2377440"/>
            <a:ext cx="3291840" cy="548640"/>
          </a:xfrm>
          <a:prstGeom prst="rect">
            <a:avLst/>
          </a:prstGeom>
          <a:noFill/>
          <a:ln/>
        </p:spPr>
        <p:txBody>
          <a:bodyPr wrap="square" lIns="0" tIns="0" rIns="0" bIns="0" rtlCol="0" anchor="t"/>
          <a:lstStyle/>
          <a:p>
            <a:pPr indent="0" marL="0">
              <a:buNone/>
            </a:pPr>
            <a:r>
              <a:rPr lang="en-US" sz="1300" dirty="0">
                <a:solidFill>
                  <a:schemeClr val="accent6"/>
                </a:solidFill>
              </a:rPr>
              <a:t>students with no gaps after one round, with remediation</a:t>
            </a:r>
            <a:endParaRPr lang="en-US" sz="1300" dirty="0"/>
          </a:p>
        </p:txBody>
      </p:sp>
      <p:sp>
        <p:nvSpPr>
          <p:cNvPr id="7" name="Stat 27 / 40"/>
          <p:cNvSpPr txBox="1"/>
          <p:nvPr/>
        </p:nvSpPr>
        <p:spPr>
          <a:xfrm>
            <a:off x="4206240" y="1691640"/>
            <a:ext cx="3291840" cy="685800"/>
          </a:xfrm>
          <a:prstGeom prst="rect">
            <a:avLst/>
          </a:prstGeom>
          <a:noFill/>
          <a:ln/>
        </p:spPr>
        <p:txBody>
          <a:bodyPr wrap="square" lIns="0" tIns="0" rIns="0" bIns="0" rtlCol="0" anchor="ctr"/>
          <a:lstStyle/>
          <a:p>
            <a:pPr indent="0" marL="0">
              <a:buNone/>
            </a:pPr>
            <a:r>
              <a:rPr lang="en-US" sz="4800" b="1" dirty="0">
                <a:solidFill>
                  <a:schemeClr val="accent6"/>
                </a:solidFill>
                <a:latin typeface="Cambria" pitchFamily="34" charset="0"/>
                <a:ea typeface="Cambria" pitchFamily="34" charset="-122"/>
                <a:cs typeface="Cambria" pitchFamily="34" charset="-120"/>
              </a:rPr>
              <a:t>27 / 40</a:t>
            </a:r>
            <a:endParaRPr lang="en-US" sz="4800" dirty="0"/>
          </a:p>
        </p:txBody>
      </p:sp>
      <p:sp>
        <p:nvSpPr>
          <p:cNvPr id="8" name="Stat label without remediation"/>
          <p:cNvSpPr txBox="1"/>
          <p:nvPr/>
        </p:nvSpPr>
        <p:spPr>
          <a:xfrm>
            <a:off x="4206240" y="2377440"/>
            <a:ext cx="3291840" cy="548640"/>
          </a:xfrm>
          <a:prstGeom prst="rect">
            <a:avLst/>
          </a:prstGeom>
          <a:noFill/>
          <a:ln/>
        </p:spPr>
        <p:txBody>
          <a:bodyPr wrap="square" lIns="0" tIns="0" rIns="0" bIns="0" rtlCol="0" anchor="t"/>
          <a:lstStyle/>
          <a:p>
            <a:pPr indent="0" marL="0">
              <a:buNone/>
            </a:pPr>
            <a:r>
              <a:rPr lang="en-US" sz="1300" dirty="0">
                <a:solidFill>
                  <a:schemeClr val="accent6"/>
                </a:solidFill>
              </a:rPr>
              <a:t>without remediation</a:t>
            </a:r>
            <a:endParaRPr lang="en-US" sz="1300" dirty="0"/>
          </a:p>
        </p:txBody>
      </p:sp>
      <p:sp>
        <p:nvSpPr>
          <p:cNvPr id="9" name="Simulation note"/>
          <p:cNvSpPr/>
          <p:nvPr/>
        </p:nvSpPr>
        <p:spPr>
          <a:xfrm>
            <a:off x="7680960" y="1645920"/>
            <a:ext cx="3959352" cy="1463040"/>
          </a:xfrm>
          <a:prstGeom prst="roundRect">
            <a:avLst>
              <a:gd name="adj" fmla="val 5000"/>
            </a:avLst>
          </a:prstGeom>
          <a:solidFill>
            <a:schemeClr val="bg2"/>
          </a:solidFill>
          <a:ln/>
        </p:spPr>
      </p:sp>
      <p:sp>
        <p:nvSpPr>
          <p:cNvPr id="10" name="Text 7"/>
          <p:cNvSpPr txBox="1"/>
          <p:nvPr/>
        </p:nvSpPr>
        <p:spPr>
          <a:xfrm>
            <a:off x="7909560" y="1737360"/>
            <a:ext cx="3520440" cy="1280160"/>
          </a:xfrm>
          <a:prstGeom prst="rect">
            <a:avLst/>
          </a:prstGeom>
          <a:noFill/>
          <a:ln/>
        </p:spPr>
        <p:txBody>
          <a:bodyPr wrap="square" lIns="0" tIns="0" rIns="0" bIns="0" rtlCol="0" anchor="ctr"/>
          <a:lstStyle/>
          <a:p>
            <a:pPr indent="0" marL="0">
              <a:buNone/>
            </a:pPr>
            <a:r>
              <a:rPr lang="en-US" sz="1400" dirty="0">
                <a:solidFill>
                  <a:schemeClr val="tx1"/>
                </a:solidFill>
              </a:rPr>
              <a:t>Closed-loop simulation: 40 students who all start with gaps. One round = plan + study + adaptive re-test.</a:t>
            </a:r>
            <a:endParaRPr lang="en-US" sz="1400" dirty="0"/>
          </a:p>
        </p:txBody>
      </p:sp>
      <p:sp>
        <p:nvSpPr>
          <p:cNvPr id="11" name="Text 8"/>
          <p:cNvSpPr txBox="1"/>
          <p:nvPr/>
        </p:nvSpPr>
        <p:spPr>
          <a:xfrm>
            <a:off x="548640" y="3337560"/>
            <a:ext cx="10972800" cy="365760"/>
          </a:xfrm>
          <a:prstGeom prst="rect">
            <a:avLst/>
          </a:prstGeom>
          <a:noFill/>
          <a:ln/>
        </p:spPr>
        <p:txBody>
          <a:bodyPr wrap="square" lIns="0" tIns="0" rIns="0" bIns="0" rtlCol="0" anchor="ctr"/>
          <a:lstStyle/>
          <a:p>
            <a:pPr indent="0" marL="0">
              <a:buNone/>
            </a:pPr>
            <a:r>
              <a:rPr lang="en-US" sz="1700" b="1" dirty="0">
                <a:solidFill>
                  <a:schemeClr val="tx2"/>
                </a:solidFill>
              </a:rPr>
              <a:t>Case study: learner CSE230001, EKT mastery</a:t>
            </a:r>
            <a:endParaRPr lang="en-US" sz="1700" dirty="0"/>
          </a:p>
        </p:txBody>
      </p:sp>
      <p:graphicFrame>
        <p:nvGraphicFramePr>
          <p:cNvPr id="19" name="Case study table"/>
          <p:cNvGraphicFramePr>
            <a:graphicFrameLocks noGrp="1"/>
          </p:cNvGraphicFramePr>
          <p:nvPr>
            <p:extLst>
              <p:ext uri="{D42A27DB-BD31-4B8C-83A1-F6EECF244321}">
                <p14:modId xmlns:p14="http://schemas.microsoft.com/office/powerpoint/2010/main" val="1579011935"/>
              </p:ext>
            </p:extLst>
          </p:nvPr>
        </p:nvGraphicFramePr>
        <p:xfrm>
          <a:off x="548640" y="3794760"/>
          <a:ext cx="11064240" cy="914400"/>
        </p:xfrm>
        <a:graphic>
          <a:graphicData uri="http://schemas.openxmlformats.org/drawingml/2006/table">
            <a:tbl>
              <a:tblPr/>
              <a:tblGrid>
                <a:gridCol w="3931920"/>
                <a:gridCol w="2286000"/>
                <a:gridCol w="2286000"/>
                <a:gridCol w="2560320"/>
              </a:tblGrid>
              <a:tr h="384048">
                <a:tc>
                  <a:txBody>
                    <a:bodyPr/>
                    <a:lstStyle/>
                    <a:p>
                      <a:pPr indent="0" marL="0">
                        <a:buNone/>
                      </a:pPr>
                      <a:r>
                        <a:rPr lang="en-US" sz="1300" b="1" dirty="0">
                          <a:solidFill>
                            <a:schemeClr val="bg1"/>
                          </a:solidFill>
                        </a:rPr>
                        <a:t>Concept</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Round 1</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Round 2</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Target 70% reached</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accent1"/>
                    </a:solidFill>
                  </a:tcPr>
                </a:tc>
              </a:tr>
              <a:tr h="384048">
                <a:tc>
                  <a:txBody>
                    <a:bodyPr/>
                    <a:lstStyle/>
                    <a:p>
                      <a:pPr indent="0" marL="0">
                        <a:buNone/>
                      </a:pPr>
                      <a:r>
                        <a:rPr lang="en-US" sz="1300" b="1" dirty="0">
                          <a:solidFill>
                            <a:schemeClr val="tx1"/>
                          </a:solidFill>
                        </a:rPr>
                        <a:t>Fundamentals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31%</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79%</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Operators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43%</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75%</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Arrays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55%</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85%</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Strings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35%</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74%</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Data structures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43%</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90%</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a:t>
                      </a:r>
                      <a:endParaRPr lang="en-US" sz="1300" dirty="0"/>
                    </a:p>
                  </a:txBody>
                  <a:tcPr marL="76200" marR="76200" marT="50800" marB="50800" anchor="ctr">
                    <a:lnL w="9525" cap="flat" cmpd="sng" algn="ctr">
                      <a:solidFill>
                        <a:srgbClr val="C9E2DF"/>
                      </a:solidFill>
                      <a:prstDash val="solid"/>
                      <a:round/>
                      <a:headEnd type="none" w="med" len="med"/>
                      <a:tailEnd type="none" w="med" len="med"/>
                    </a:lnL>
                    <a:lnR w="9525" cap="flat" cmpd="sng" algn="ctr">
                      <a:solidFill>
                        <a:srgbClr val="C9E2DF"/>
                      </a:solidFill>
                      <a:prstDash val="solid"/>
                      <a:round/>
                      <a:headEnd type="none" w="med" len="med"/>
                      <a:tailEnd type="none" w="med" len="med"/>
                    </a:lnR>
                    <a:lnT w="9525" cap="flat" cmpd="sng" algn="ctr">
                      <a:solidFill>
                        <a:srgbClr val="C9E2DF"/>
                      </a:solidFill>
                      <a:prstDash val="solid"/>
                      <a:round/>
                      <a:headEnd type="none" w="med" len="med"/>
                      <a:tailEnd type="none" w="med" len="med"/>
                    </a:lnT>
                    <a:lnB w="9525" cap="flat" cmpd="sng" algn="ctr">
                      <a:solidFill>
                        <a:srgbClr val="C9E2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LIMITATIONS AND FUTURE SCOPE</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What remains to be done</a:t>
            </a:r>
            <a:endParaRPr lang="en-US" sz="3000" dirty="0"/>
          </a:p>
        </p:txBody>
      </p:sp>
      <p:sp>
        <p:nvSpPr>
          <p:cNvPr id="5" name="Limitations"/>
          <p:cNvSpPr/>
          <p:nvPr/>
        </p:nvSpPr>
        <p:spPr>
          <a:xfrm>
            <a:off x="548640" y="1645920"/>
            <a:ext cx="5394960" cy="4297680"/>
          </a:xfrm>
          <a:prstGeom prst="roundRect">
            <a:avLst>
              <a:gd name="adj" fmla="val 1702"/>
            </a:avLst>
          </a:prstGeom>
          <a:solidFill>
            <a:schemeClr val="bg2"/>
          </a:solidFill>
          <a:ln/>
        </p:spPr>
      </p:sp>
      <p:sp>
        <p:nvSpPr>
          <p:cNvPr id="6" name="Limitations"/>
          <p:cNvSpPr txBox="1"/>
          <p:nvPr/>
        </p:nvSpPr>
        <p:spPr>
          <a:xfrm>
            <a:off x="822960" y="1874520"/>
            <a:ext cx="4846320" cy="3931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Limitations</a:t>
            </a:r>
            <a:endParaRPr lang="en-US" sz="1800" dirty="0"/>
          </a:p>
          <a:p>
            <a:pPr marL="203200" indent="-203200">
              <a:spcAft>
                <a:spcPts val="800"/>
              </a:spcAft>
              <a:buSzPct val="100000"/>
              <a:buChar char="•"/>
            </a:pPr>
            <a:r>
              <a:rPr lang="en-US" sz="1500" dirty="0">
                <a:solidFill>
                  <a:schemeClr val="tx1"/>
                </a:solidFill>
              </a:rPr>
              <a:t>Students are simulated, not a real class</a:t>
            </a:r>
            <a:endParaRPr lang="en-US" sz="1800" dirty="0"/>
          </a:p>
          <a:p>
            <a:pPr marL="203200" indent="-203200">
              <a:spcAft>
                <a:spcPts val="800"/>
              </a:spcAft>
              <a:buSzPct val="100000"/>
              <a:buChar char="•"/>
            </a:pPr>
            <a:r>
              <a:rPr lang="en-US" sz="1500" dirty="0">
                <a:solidFill>
                  <a:schemeClr val="tx1"/>
                </a:solidFill>
              </a:rPr>
              <a:t>Question quality with the free models not yet measured</a:t>
            </a:r>
            <a:endParaRPr lang="en-US" sz="1800" dirty="0"/>
          </a:p>
          <a:p>
            <a:pPr marL="203200" indent="-203200">
              <a:spcAft>
                <a:spcPts val="800"/>
              </a:spcAft>
              <a:buSzPct val="100000"/>
              <a:buChar char="•"/>
            </a:pPr>
            <a:r>
              <a:rPr lang="en-US" sz="1500" dirty="0">
                <a:solidFill>
                  <a:schemeClr val="tx1"/>
                </a:solidFill>
              </a:rPr>
              <a:t>Free tiers limit requests per minute</a:t>
            </a:r>
            <a:endParaRPr lang="en-US" sz="1800" dirty="0"/>
          </a:p>
          <a:p>
            <a:pPr marL="203200" indent="-203200">
              <a:spcAft>
                <a:spcPts val="800"/>
              </a:spcAft>
              <a:buSzPct val="100000"/>
              <a:buChar char="•"/>
            </a:pPr>
            <a:r>
              <a:rPr lang="en-US" sz="1500" dirty="0">
                <a:solidFill>
                  <a:schemeClr val="tx1"/>
                </a:solidFill>
              </a:rPr>
              <a:t>Generated content still needs a teacher's check</a:t>
            </a:r>
            <a:endParaRPr lang="en-US" sz="1800" dirty="0"/>
          </a:p>
          <a:p>
            <a:pPr marL="203200" indent="-203200">
              <a:spcAft>
                <a:spcPts val="800"/>
              </a:spcAft>
              <a:buSzPct val="100000"/>
              <a:buChar char="•"/>
            </a:pPr>
            <a:r>
              <a:rPr lang="en-US" sz="1500" dirty="0">
                <a:solidFill>
                  <a:schemeClr val="tx1"/>
                </a:solidFill>
              </a:rPr>
              <a:t>Only multiple-choice questions</a:t>
            </a:r>
            <a:endParaRPr lang="en-US" sz="1800" dirty="0"/>
          </a:p>
        </p:txBody>
      </p:sp>
      <p:sp>
        <p:nvSpPr>
          <p:cNvPr id="7" name="Future scope"/>
          <p:cNvSpPr/>
          <p:nvPr/>
        </p:nvSpPr>
        <p:spPr>
          <a:xfrm>
            <a:off x="6217920" y="1645920"/>
            <a:ext cx="5422392" cy="4297680"/>
          </a:xfrm>
          <a:prstGeom prst="roundRect">
            <a:avLst>
              <a:gd name="adj" fmla="val 1702"/>
            </a:avLst>
          </a:prstGeom>
          <a:solidFill>
            <a:schemeClr val="accent4"/>
          </a:solidFill>
          <a:ln/>
        </p:spPr>
      </p:sp>
      <p:sp>
        <p:nvSpPr>
          <p:cNvPr id="8" name="Future scope"/>
          <p:cNvSpPr txBox="1"/>
          <p:nvPr/>
        </p:nvSpPr>
        <p:spPr>
          <a:xfrm>
            <a:off x="6492240" y="1874520"/>
            <a:ext cx="4846320" cy="393192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Future scope</a:t>
            </a:r>
            <a:endParaRPr lang="en-US" sz="1800" dirty="0"/>
          </a:p>
          <a:p>
            <a:pPr marL="203200" indent="-203200">
              <a:spcAft>
                <a:spcPts val="800"/>
              </a:spcAft>
              <a:buSzPct val="100000"/>
              <a:buChar char="•"/>
            </a:pPr>
            <a:r>
              <a:rPr lang="en-US" sz="1500" dirty="0">
                <a:solidFill>
                  <a:schemeClr val="tx1"/>
                </a:solidFill>
              </a:rPr>
              <a:t>Pilot with a real class and real pre/post tests</a:t>
            </a:r>
            <a:endParaRPr lang="en-US" sz="1800" dirty="0"/>
          </a:p>
          <a:p>
            <a:pPr marL="203200" indent="-203200">
              <a:spcAft>
                <a:spcPts val="800"/>
              </a:spcAft>
              <a:buSzPct val="100000"/>
              <a:buChar char="•"/>
            </a:pPr>
            <a:r>
              <a:rPr lang="en-US" sz="1500" dirty="0">
                <a:solidFill>
                  <a:schemeClr val="tx1"/>
                </a:solidFill>
              </a:rPr>
              <a:t>Feedback based on the wrong option a student chose</a:t>
            </a:r>
            <a:endParaRPr lang="en-US" sz="1800" dirty="0"/>
          </a:p>
          <a:p>
            <a:pPr marL="203200" indent="-203200">
              <a:spcAft>
                <a:spcPts val="800"/>
              </a:spcAft>
              <a:buSzPct val="100000"/>
              <a:buChar char="•"/>
            </a:pPr>
            <a:r>
              <a:rPr lang="en-US" sz="1500" dirty="0">
                <a:solidFill>
                  <a:schemeClr val="tx1"/>
                </a:solidFill>
              </a:rPr>
              <a:t>Teacher dashboard and LMS (Moodle) plug-in</a:t>
            </a:r>
            <a:endParaRPr lang="en-US" sz="1800" dirty="0"/>
          </a:p>
          <a:p>
            <a:pPr marL="203200" indent="-203200">
              <a:spcAft>
                <a:spcPts val="800"/>
              </a:spcAft>
              <a:buSzPct val="100000"/>
              <a:buChar char="•"/>
            </a:pPr>
            <a:r>
              <a:rPr lang="en-US" sz="1500" dirty="0">
                <a:solidFill>
                  <a:schemeClr val="tx1"/>
                </a:solidFill>
              </a:rPr>
              <a:t>Descriptive and coding questions</a:t>
            </a:r>
            <a:endParaRPr lang="en-US" sz="1800" dirty="0"/>
          </a:p>
          <a:p>
            <a:pPr marL="203200" indent="-203200">
              <a:spcAft>
                <a:spcPts val="800"/>
              </a:spcAft>
              <a:buSzPct val="100000"/>
              <a:buChar char="•"/>
            </a:pPr>
            <a:r>
              <a:rPr lang="en-US" sz="1500" dirty="0">
                <a:solidFill>
                  <a:schemeClr val="tx1"/>
                </a:solidFill>
              </a:rPr>
              <a:t>Study material in regional languages</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lstStyle/>
          <a:p>
            <a:pPr indent="0" marL="0">
              <a:buNone/>
            </a:pPr>
            <a:r>
              <a:rPr lang="en-US" sz="1300" b="1" spc="200" kern="0" dirty="0">
                <a:solidFill>
                  <a:schemeClr val="accent1"/>
                </a:solidFill>
              </a:rPr>
              <a:t>CONCLUSION</a:t>
            </a:r>
            <a:endParaRPr lang="en-US" sz="1300" dirty="0"/>
          </a:p>
        </p:txBody>
      </p:sp>
      <p:sp>
        <p:nvSpPr>
          <p:cNvPr id="3" name="Text 0"/>
          <p:cNvSpPr/>
          <p:nvPr>
            <p:ph idx="101" type="title" hasCustomPrompt="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From marks to mastery, automatically, at no cost</a:t>
            </a:r>
            <a:endParaRPr lang="en-US" sz="3000" dirty="0"/>
          </a:p>
        </p:txBody>
      </p:sp>
      <p:sp>
        <p:nvSpPr>
          <p:cNvPr id="5" name="Complete implementation"/>
          <p:cNvSpPr/>
          <p:nvPr/>
        </p:nvSpPr>
        <p:spPr>
          <a:xfrm>
            <a:off x="548640" y="1691640"/>
            <a:ext cx="3520440" cy="4023360"/>
          </a:xfrm>
          <a:prstGeom prst="roundRect">
            <a:avLst>
              <a:gd name="adj" fmla="val 2078"/>
            </a:avLst>
          </a:prstGeom>
          <a:solidFill>
            <a:schemeClr val="bg2"/>
          </a:solidFill>
          <a:ln/>
        </p:spPr>
      </p:sp>
      <p:sp>
        <p:nvSpPr>
          <p:cNvPr id="6" name="Number 1"/>
          <p:cNvSpPr/>
          <p:nvPr/>
        </p:nvSpPr>
        <p:spPr>
          <a:xfrm>
            <a:off x="822960" y="1965960"/>
            <a:ext cx="594360" cy="594360"/>
          </a:xfrm>
          <a:prstGeom prst="ellipse">
            <a:avLst/>
          </a:prstGeom>
          <a:solidFill>
            <a:schemeClr val="accent1"/>
          </a:solidFill>
          <a:ln/>
        </p:spPr>
      </p:sp>
      <p:sp>
        <p:nvSpPr>
          <p:cNvPr id="7" name="Number text 1"/>
          <p:cNvSpPr txBox="1"/>
          <p:nvPr/>
        </p:nvSpPr>
        <p:spPr>
          <a:xfrm>
            <a:off x="822960" y="19659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2000" b="1" dirty="0">
                <a:solidFill>
                  <a:schemeClr val="tx2"/>
                </a:solidFill>
              </a:rPr>
              <a:t>Complete implementation</a:t>
            </a:r>
            <a:endParaRPr lang="en-US" sz="2000" dirty="0"/>
          </a:p>
        </p:txBody>
      </p:sp>
      <p:sp>
        <p:nvSpPr>
          <p:cNvPr id="9" name="Text 6"/>
          <p:cNvSpPr txBox="1"/>
          <p:nvPr/>
        </p:nvSpPr>
        <p:spPr>
          <a:xfrm>
            <a:off x="822960" y="3520440"/>
            <a:ext cx="3017520" cy="2011680"/>
          </a:xfrm>
          <a:prstGeom prst="rect">
            <a:avLst/>
          </a:prstGeom>
          <a:noFill/>
          <a:ln/>
        </p:spPr>
        <p:txBody>
          <a:bodyPr wrap="square" lIns="0" tIns="0" rIns="0" bIns="0" rtlCol="0" anchor="t"/>
          <a:lstStyle/>
          <a:p>
            <a:pPr indent="0" marL="0">
              <a:buNone/>
            </a:pPr>
            <a:r>
              <a:rPr lang="en-US" sz="1600" dirty="0">
                <a:solidFill>
                  <a:schemeClr val="tx1"/>
                </a:solidFill>
              </a:rPr>
              <a:t>All six modules of the base paper, working end to end, with web app, API and 36 tests</a:t>
            </a:r>
            <a:endParaRPr lang="en-US" sz="1600" dirty="0"/>
          </a:p>
        </p:txBody>
      </p:sp>
      <p:sp>
        <p:nvSpPr>
          <p:cNvPr id="10" name="Better than the baseline"/>
          <p:cNvSpPr/>
          <p:nvPr/>
        </p:nvSpPr>
        <p:spPr>
          <a:xfrm>
            <a:off x="4297680" y="1691640"/>
            <a:ext cx="3520440" cy="4023360"/>
          </a:xfrm>
          <a:prstGeom prst="roundRect">
            <a:avLst>
              <a:gd name="adj" fmla="val 2078"/>
            </a:avLst>
          </a:prstGeom>
          <a:solidFill>
            <a:schemeClr val="bg2"/>
          </a:solidFill>
          <a:ln/>
        </p:spPr>
      </p:sp>
      <p:sp>
        <p:nvSpPr>
          <p:cNvPr id="11" name="Number 2"/>
          <p:cNvSpPr/>
          <p:nvPr/>
        </p:nvSpPr>
        <p:spPr>
          <a:xfrm>
            <a:off x="4572000" y="1965960"/>
            <a:ext cx="594360" cy="594360"/>
          </a:xfrm>
          <a:prstGeom prst="ellipse">
            <a:avLst/>
          </a:prstGeom>
          <a:solidFill>
            <a:schemeClr val="accent1"/>
          </a:solidFill>
          <a:ln/>
        </p:spPr>
      </p:sp>
      <p:sp>
        <p:nvSpPr>
          <p:cNvPr id="12" name="Number text 2"/>
          <p:cNvSpPr txBox="1"/>
          <p:nvPr/>
        </p:nvSpPr>
        <p:spPr>
          <a:xfrm>
            <a:off x="4572000" y="19659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4572000" y="2743200"/>
            <a:ext cx="3017520" cy="731520"/>
          </a:xfrm>
          <a:prstGeom prst="rect">
            <a:avLst/>
          </a:prstGeom>
          <a:noFill/>
          <a:ln/>
        </p:spPr>
        <p:txBody>
          <a:bodyPr wrap="square" lIns="0" tIns="0" rIns="0" bIns="0" rtlCol="0" anchor="t"/>
          <a:lstStyle/>
          <a:p>
            <a:pPr indent="0" marL="0">
              <a:buNone/>
            </a:pPr>
            <a:r>
              <a:rPr lang="en-US" sz="2000" b="1" dirty="0">
                <a:solidFill>
                  <a:schemeClr val="tx2"/>
                </a:solidFill>
              </a:rPr>
              <a:t>Better than the baseline</a:t>
            </a:r>
            <a:endParaRPr lang="en-US" sz="2000" dirty="0"/>
          </a:p>
        </p:txBody>
      </p:sp>
      <p:sp>
        <p:nvSpPr>
          <p:cNvPr id="14" name="Text 11"/>
          <p:cNvSpPr txBox="1"/>
          <p:nvPr/>
        </p:nvSpPr>
        <p:spPr>
          <a:xfrm>
            <a:off x="4572000" y="3520440"/>
            <a:ext cx="3017520" cy="2011680"/>
          </a:xfrm>
          <a:prstGeom prst="rect">
            <a:avLst/>
          </a:prstGeom>
          <a:noFill/>
          <a:ln/>
        </p:spPr>
        <p:txBody>
          <a:bodyPr wrap="square" lIns="0" tIns="0" rIns="0" bIns="0" rtlCol="0" anchor="t"/>
          <a:lstStyle/>
          <a:p>
            <a:pPr indent="0" marL="0">
              <a:buNone/>
            </a:pPr>
            <a:r>
              <a:rPr lang="en-US" sz="1600" dirty="0">
                <a:solidFill>
                  <a:schemeClr val="tx1"/>
                </a:solidFill>
              </a:rPr>
              <a:t>EKT AUC 0.827 vs DKT 0.665; scores rose on all five concepts after remediation</a:t>
            </a:r>
            <a:endParaRPr lang="en-US" sz="1600" dirty="0"/>
          </a:p>
        </p:txBody>
      </p:sp>
      <p:sp>
        <p:nvSpPr>
          <p:cNvPr id="15" name="Our additions"/>
          <p:cNvSpPr/>
          <p:nvPr/>
        </p:nvSpPr>
        <p:spPr>
          <a:xfrm>
            <a:off x="8046720" y="1691640"/>
            <a:ext cx="3520440" cy="4023360"/>
          </a:xfrm>
          <a:prstGeom prst="roundRect">
            <a:avLst>
              <a:gd name="adj" fmla="val 2078"/>
            </a:avLst>
          </a:prstGeom>
          <a:solidFill>
            <a:srgbClr val="FDF3E3"/>
          </a:solidFill>
          <a:ln w="15875">
            <a:solidFill>
              <a:schemeClr val="accent2"/>
            </a:solidFill>
            <a:prstDash val="solid"/>
          </a:ln>
        </p:spPr>
      </p:sp>
      <p:sp>
        <p:nvSpPr>
          <p:cNvPr id="16" name="Number 3"/>
          <p:cNvSpPr/>
          <p:nvPr/>
        </p:nvSpPr>
        <p:spPr>
          <a:xfrm>
            <a:off x="8321040" y="1965960"/>
            <a:ext cx="594360" cy="594360"/>
          </a:xfrm>
          <a:prstGeom prst="ellipse">
            <a:avLst/>
          </a:prstGeom>
          <a:solidFill>
            <a:schemeClr val="accent2"/>
          </a:solidFill>
          <a:ln/>
        </p:spPr>
      </p:sp>
      <p:sp>
        <p:nvSpPr>
          <p:cNvPr id="17" name="Number text 3"/>
          <p:cNvSpPr txBox="1"/>
          <p:nvPr/>
        </p:nvSpPr>
        <p:spPr>
          <a:xfrm>
            <a:off x="8321040" y="19659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5"/>
          <p:cNvSpPr txBox="1"/>
          <p:nvPr/>
        </p:nvSpPr>
        <p:spPr>
          <a:xfrm>
            <a:off x="8321040" y="2743200"/>
            <a:ext cx="3017520" cy="731520"/>
          </a:xfrm>
          <a:prstGeom prst="rect">
            <a:avLst/>
          </a:prstGeom>
          <a:noFill/>
          <a:ln/>
        </p:spPr>
        <p:txBody>
          <a:bodyPr wrap="square" lIns="0" tIns="0" rIns="0" bIns="0" rtlCol="0" anchor="t"/>
          <a:lstStyle/>
          <a:p>
            <a:pPr indent="0" marL="0">
              <a:buNone/>
            </a:pPr>
            <a:r>
              <a:rPr lang="en-US" sz="2000" b="1" dirty="0">
                <a:solidFill>
                  <a:schemeClr val="tx2"/>
                </a:solidFill>
              </a:rPr>
              <a:t>Our additions</a:t>
            </a:r>
            <a:endParaRPr lang="en-US" sz="2000" dirty="0"/>
          </a:p>
        </p:txBody>
      </p:sp>
      <p:sp>
        <p:nvSpPr>
          <p:cNvPr id="19" name="Text 16"/>
          <p:cNvSpPr txBox="1"/>
          <p:nvPr/>
        </p:nvSpPr>
        <p:spPr>
          <a:xfrm>
            <a:off x="8321040" y="3520440"/>
            <a:ext cx="3017520" cy="2011680"/>
          </a:xfrm>
          <a:prstGeom prst="rect">
            <a:avLst/>
          </a:prstGeom>
          <a:noFill/>
          <a:ln/>
        </p:spPr>
        <p:txBody>
          <a:bodyPr wrap="square" lIns="0" tIns="0" rIns="0" bIns="0" rtlCol="0" anchor="t"/>
          <a:lstStyle/>
          <a:p>
            <a:pPr indent="0" marL="0">
              <a:buNone/>
            </a:pPr>
            <a:r>
              <a:rPr lang="en-US" sz="1600" dirty="0">
                <a:solidFill>
                  <a:schemeClr val="tx1"/>
                </a:solidFill>
              </a:rPr>
              <a:t>Free AI with automatic fallback, unit-aware retrieval, calibrated mastery and a personal study PDF</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64240" cy="1097280"/>
          </a:xfrm>
          <a:prstGeom prst="rect">
            <a:avLst/>
          </a:prstGeom>
          <a:noFill/>
          <a:ln/>
        </p:spPr>
        <p:txBody>
          <a:bodyPr wrap="square" lIns="0" tIns="0" rIns="0" bIns="0" rtlCol="0"/>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1371600" y="3291840"/>
            <a:ext cx="9418320" cy="1280160"/>
          </a:xfrm>
          <a:prstGeom prst="rect">
            <a:avLst/>
          </a:prstGeom>
          <a:noFill/>
          <a:ln/>
        </p:spPr>
        <p:txBody>
          <a:bodyPr wrap="square" lIns="0" tIns="0" rIns="0" bIns="0" rtlCol="0"/>
          <a:lstStyle/>
          <a:p>
            <a:pPr algn="ctr" indent="0" marL="0">
              <a:buNone/>
            </a:pPr>
            <a:r>
              <a:rPr lang="en-US" sz="1800" dirty="0">
                <a:solidFill>
                  <a:schemeClr val="accent4"/>
                </a:solidFill>
              </a:rPr>
              <a:t>Questions are welcome</a:t>
            </a:r>
            <a:endParaRPr lang="en-US" sz="1800" dirty="0"/>
          </a:p>
        </p:txBody>
      </p:sp>
    </p:spTree>
  </p:cSld>
  <p:clrMapOvr>
    <a:masterClrMapping/>
  </p:clrMapOvr>
</p:sld>
</file>

<file path=ppt/theme/theme1.xml><?xml version="1.0" encoding="utf-8"?>
<a:theme xmlns:a="http://schemas.openxmlformats.org/drawingml/2006/main" name="Personalized Learning Teal">
  <a:themeElements>
    <a:clrScheme name="Personalized Learning Teal">
      <a:dk1>
        <a:srgbClr val="1F2D3A"/>
      </a:dk1>
      <a:lt1>
        <a:srgbClr val="FFFFFF"/>
      </a:lt1>
      <a:dk2>
        <a:srgbClr val="0B3C49"/>
      </a:dk2>
      <a:lt2>
        <a:srgbClr val="E8F3F2"/>
      </a:lt2>
      <a:accent1>
        <a:srgbClr val="0E7C86"/>
      </a:accent1>
      <a:accent2>
        <a:srgbClr val="D98A1C"/>
      </a:accent2>
      <a:accent3>
        <a:srgbClr val="5B9AA0"/>
      </a:accent3>
      <a:accent4>
        <a:srgbClr val="C9E2DF"/>
      </a:accent4>
      <a:accent5>
        <a:srgbClr val="9C4F2E"/>
      </a:accent5>
      <a:accent6>
        <a:srgbClr val="6B7785"/>
      </a:accent6>
      <a:hlink>
        <a:srgbClr val="0E7C86"/>
      </a:hlink>
      <a:folHlink>
        <a:srgbClr val="5B9AA0"/>
      </a:folHlink>
    </a:clrScheme>
    <a:fontScheme name="Personalized Learning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Review - AI-Driven Personalized Learning and Remedial Recommendation</dc:title>
  <dc:subject>PptxGenJS Presentation</dc:subject>
  <dc:creator>[Student names]</dc:creator>
  <cp:lastModifiedBy>[Student names]</cp:lastModifiedBy>
  <cp:revision>1</cp:revision>
  <dcterms:created xsi:type="dcterms:W3CDTF">2026-10-08T10:23:53Z</dcterms:created>
  <dcterms:modified xsi:type="dcterms:W3CDTF">2026-10-08T10:23:53Z</dcterms:modified>
</cp:coreProperties>
</file>