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guide. One sentence: we identify each student's weak concepts and give them a personalised study plan and new questions until they reach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order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idea of concept-level evaluation with the illustrative bars on the right: the average hides the weak concepts. (Illustrative values, not results.)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problem statement at the bottom; the three cards explain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educational reason. Right: why AI makes it feasible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tracing has moved from BKT to deep models; EKT adds exercise text. RAG and MCQGen cover question generation. The base paper joins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gap: integration plus verification plus a reproducible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this one-shot process with the loop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what the system does. Right: the loop that repeats until every concept meets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goals map one-to-one to modules in the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modules; the loop closes when re-test answers are fed back into knowledge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grounds every question in the syllabus, which limits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“5 and 80” rule: 5 questions per level, 80%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 from top: users, interfaces, pipeline, six modules, shared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open source and runs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expected outcomes at proposal stage; actual results come in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are planned durations; adjust them to your semester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FIRST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7373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AI-Driven Personalized Learning and Remedial Recommendation Through Knowledge Concept-Centric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C9D3E6"/>
                </a:solidFill>
                <a:latin typeface="Calibri"/>
              </a:rPr>
              <a:t>Concept-level knowledge tracing, RAG question generation and AI remedial learning in one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24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1371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1]  ·  [Roll No.]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2]  ·  [Roll No.]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3]  ·  [Roll No.]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9476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24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PROJECT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[Guide Name], [Designation]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75488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9D3E6"/>
                </a:solidFill>
                <a:latin typeface="Calibri"/>
              </a:rPr>
              <a:t>Base paper: Pradeesh et al., IEEE Access, vol. 13, 2025 (DOI 10.1109/ACCESS.2025.3638427)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9D3E6"/>
                </a:solidFill>
                <a:latin typeface="Calibri"/>
              </a:rPr>
              <a:t>Department of Computer Science and Engineering  ·  [College Name]  ·  [2025–2026]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FIRST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3055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1576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8269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64408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96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31336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Literature Survey &amp; Research Gap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98264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6519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5040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3212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8" name="Oval 17"/>
          <p:cNvSpPr/>
          <p:nvPr/>
        </p:nvSpPr>
        <p:spPr>
          <a:xfrm>
            <a:off x="6309359" y="214884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13055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20" name="Oval 19"/>
          <p:cNvSpPr/>
          <p:nvPr/>
        </p:nvSpPr>
        <p:spPr>
          <a:xfrm>
            <a:off x="6309359" y="271576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269748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2" name="Oval 21"/>
          <p:cNvSpPr/>
          <p:nvPr/>
        </p:nvSpPr>
        <p:spPr>
          <a:xfrm>
            <a:off x="6309359" y="328269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3264408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24" name="Oval 23"/>
          <p:cNvSpPr/>
          <p:nvPr/>
        </p:nvSpPr>
        <p:spPr>
          <a:xfrm>
            <a:off x="6309359" y="38496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999" y="3831336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Expected Results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59" y="441655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9" y="4398264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sp>
        <p:nvSpPr>
          <p:cNvPr id="28" name="Oval 27"/>
          <p:cNvSpPr/>
          <p:nvPr/>
        </p:nvSpPr>
        <p:spPr>
          <a:xfrm>
            <a:off x="6309359" y="498348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9" y="496519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A total mark hides what a student still doesn't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7607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760720" cy="21945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Most courses give every student the same material, the same test and one total mark.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Outcome-Based Education (OBE) asks for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measurable attainment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of each course outcome, not just a total.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Generative AI and knowledge tracing now make concept-level support possible at class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57607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What is personalized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760720" cy="1463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Adapting content, practice and assessment to each learner's current knowledge, so that time is spent on the concepts the learner has not yet mastered.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965192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One score can hide very different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4884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24028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2240280"/>
            <a:ext cx="2551176" cy="274320"/>
          </a:xfrm>
          <a:prstGeom prst="roundRect">
            <a:avLst>
              <a:gd name="adj" fmla="val 26666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42032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90% concept mastery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01752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Pointers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10896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3108960"/>
            <a:ext cx="850392" cy="274320"/>
          </a:xfrm>
          <a:prstGeom prst="roundRect">
            <a:avLst>
              <a:gd name="adj" fmla="val 2666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410711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30% concept mastery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8620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Strings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977639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3977639"/>
            <a:ext cx="2125980" cy="274320"/>
          </a:xfrm>
          <a:prstGeom prst="roundRect">
            <a:avLst>
              <a:gd name="adj" fmla="val 26666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79392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75% concept mastery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54879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84632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4846320"/>
            <a:ext cx="1275588" cy="274320"/>
          </a:xfrm>
          <a:prstGeom prst="roundRect">
            <a:avLst>
              <a:gd name="adj" fmla="val 2666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148071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45% concept mastery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486400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Average: 60%, yet two concepts are clearly weak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Existing learning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Same content and test for every learner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Total marks hide weak concepts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Re-tests repeat the same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Impact on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Gaps carry into later topics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Mistakes repeat without targeted help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Teachers cannot write material for every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Need for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Find gaps at the concept level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Give a plan for each weak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Re-assess with new questions until the target is 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923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0515600" cy="10058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Problem: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build an intelligent system that identifies knowledge gaps at the concept level, recommends personalized remedial learning, re-assesses the learner with new questions and repeats until the required level of competency is reached.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4297680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Why personalized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383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Students learn at different speeds and have different gaps.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60% score can hide a complete lack of understanding of one concept.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OBE requires every course outcome to be attained, not just a pass mark.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Supports SDG 4: inclusive, quality education for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9672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1691640"/>
            <a:ext cx="4297680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Why AI-based remedial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77440"/>
            <a:ext cx="4937760" cy="3383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Knowledge tracing estimates mastery after every answer, continuously.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Generative AI can write explanations and practice for each weak concept.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RAG keeps all generated content inside the course syllabus.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Automation removes the manual effort that makes personalization impractical.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09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/>
                <a:gridCol w="4206240"/>
                <a:gridCol w="386791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BKT – Corbett &amp; Anderson (1994)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Hidden mastery state per concept (HMM)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One concept at a time, no exercise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DKT – Piech et al. (NeurIPS 2015)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RNN over (concept, correct) sequences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Ignores exercise text; mastery hard to read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DKVMN – Zhang et al. (WWW 2017)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Key–value memory per concept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Does not use exercise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EKT – Liu et al. (IEEE TKDE 2021)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Exercise text + LSTM + attention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Needs exercise text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RAG – Lewis et al. (NeurIPS 2020)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Generation grounded in retrieved documents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General purpose, not education-specific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MCQGen – Hang et al. (IEEE Access 2024)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LLM + RAG multiple-choice questions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No knowledge tracing or remediation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Pradeesh et al. (IEEE Access 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EKT + RAG + GenAI in an OBE loop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Base paper for this project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Adaptive assessment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tests that adjust difficulty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4428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7580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Question generation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LLM / RAG MCQs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mastery per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6004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9156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Recommendation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learning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5F6B7A"/>
                </a:solidFill>
                <a:latin typeface="Calibri"/>
              </a:rPr>
              <a:t>Studied mostly in isolation, rarely tied to OBE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THE GAP THIS PROJECT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424160" cy="16459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 single working system links knowledge tracing, RAG question generation and remedial content in one loop.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Generated remedial content is rarely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cross-verified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by a second AI model before reaching students.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Few implementations can be run and tested end to end, with or without paid AI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Current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Same material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0307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7739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054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Same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182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614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929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Total marks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6057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3489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804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Generic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539496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Example feedback: “revise chapter 3”, with no indication of which concept inside the chapter was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94960" cy="1874519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learner gets a number, not a diagnosis, and the teacher has no concept-level view of the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148840"/>
            <a:ext cx="4937760" cy="3657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Same content regardless of each learner's understanding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Marks do not reveal weak concepts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Manual personalization is too time-consuming for teachers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No continuous tracking of progress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No targeted remediation; re-tests reuse the same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Proposed system: a closed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1280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Replace the single mark with a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concept-level knowledge state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, and repeat assessment → remediation → re-assessment until every concept reaches the OBE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120640" cy="23774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Concepts extracted automatically from the syllabus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Syllabus-grounded MCQs at chosen difficulty and Bloom level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Exercise-aware Knowledge Tracing (EKT) for mastery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Five-part remedial plan, cross-verified by a second model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Adaptive Easy → Medium → Hard re-test</a:t>
            </a:r>
          </a:p>
        </p:txBody>
      </p:sp>
      <p:sp>
        <p:nvSpPr>
          <p:cNvPr id="8" name="Oval 7"/>
          <p:cNvSpPr/>
          <p:nvPr/>
        </p:nvSpPr>
        <p:spPr>
          <a:xfrm>
            <a:off x="8138159" y="3017520"/>
            <a:ext cx="1371600" cy="13716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3291839"/>
            <a:ext cx="1371600" cy="8229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Until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target met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33025" y="2442546"/>
            <a:ext cx="434197" cy="30716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997993" y="3638584"/>
            <a:ext cx="325455" cy="97529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11882" y="5071885"/>
            <a:ext cx="24155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324471" y="3638584"/>
            <a:ext cx="325455" cy="97529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80697" y="2442546"/>
            <a:ext cx="434197" cy="30716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63839" y="1623059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FF3D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650491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mastery per concept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16167" y="2791954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1887" y="2819386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Gap analysis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below 70%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5034" y="4683265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0754" y="4710697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Remedial plan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five parts,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2645" y="4683265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8365" y="4710697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New MCQs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RAG, de-duplicated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1512" y="2791954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7232" y="2819386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Adaptive re-test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Easy → Medium → 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5836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Project goals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4708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Extract concepts and course outcomes from the curriculum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Build a RAG knowledge base with embeddings and a vector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Generate concept-aligned MCQs by difficulty and Bloom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2043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Estimate concept mastery with EKT; compare with a DKT 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06907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4164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Detect weak concepts using the OBE threshold and target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9028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Generate cross-verified personalized remedial plans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6635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38927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Re-assess adaptively and track improvement statistically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17320"/>
            <a:ext cx="4142232" cy="4480560"/>
          </a:xfrm>
          <a:prstGeom prst="roundRect">
            <a:avLst>
              <a:gd name="adj" fmla="val 3311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EXPECTED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57400"/>
            <a:ext cx="3657600" cy="3657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working web application, REST API and CLI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concept-wise knowledge report for each learner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Higher mastery after remediation (pre vs post)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Less manual effort for teachers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Concept extraction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syllabus → concepts + COs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83510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4927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242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RAG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chunks · embeddings · vector 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84140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4990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305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MCQ generation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difficulty + Bloom level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4771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0531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3683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C9D3E6"/>
                </a:solidFill>
                <a:latin typeface="Calibri"/>
              </a:rPr>
              <a:t>EKT mastery per concept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5401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51161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4313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Remedial recommendation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five-part plan + re-test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64240" y="2880360"/>
            <a:ext cx="0" cy="365760"/>
          </a:xfrm>
          <a:prstGeom prst="line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554480" y="3246120"/>
            <a:ext cx="9509760" cy="0"/>
          </a:xfrm>
          <a:prstGeom prst="line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54480" y="2880360"/>
            <a:ext cx="0" cy="36576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repeat until every concept reaches the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Course curriculum (PDF / text)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Learners' OBE exam results (CSV)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5904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5904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Gap = mastery below the 70% target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Content generated only from retrieved syllabus 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968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4568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4568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Mastery report per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Study plan + new questions per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Methodology: concept extraction, RAG and MCQ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Concept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Read the syllabus PDF (pypdf)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Split by unit: one concept and course outcome per unit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Teacher reviews the extracted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~1000-character chunks, 100 overlap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MiniLM sentence embeddings (384-d)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FAISS vector database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Top-4 chunks retrieved per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MCQ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LLM writes 4-option MCQs from retrieved text only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Easy = Remember/Understand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Medium = Apply/Analyze; Hard = Evaluate/Create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Duplicates removed (cosine &gt; 0.85)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Second model verifies each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515600" cy="9601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Every question is written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only from retrieved syllabus text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, so content stays inside the course and duplicates or off-level questions are filtered before students see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Methodology: knowledge tracing and remedial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Knowledge tracing (EKT)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Input: question text + right/wrong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LSTM (100 units) tracks knowledge over time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Outputs mastery (0–1) for every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Baseline: DKT without question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Gap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OBE threshold 50%, target 70%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Below 50%: Beginner (gap)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50–70%: Intermediate (gap)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70% and above: Expert (no gap)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Remedial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Plan: objectives, topics, explanation, 2 practice tasks, rationale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Adaptive re-test Easy → Medium → Hard (“5 and 80” rule)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Answers go back to EKT; repeat until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515600" cy="9601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Gaps are decided from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EKT mastery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, not the raw score, so one lucky or unlucky answer does not decide what a learner studies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System architecture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5" y="1371600"/>
            <a:ext cx="6367649" cy="4572000"/>
          </a:xfrm>
          <a:prstGeom prst="rect">
            <a:avLst/>
          </a:prstGeom>
          <a:ln w="12700">
            <a:solidFill>
              <a:srgbClr val="D5DB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635240" y="1417320"/>
            <a:ext cx="40233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Overall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828800"/>
            <a:ext cx="4023360" cy="4114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1. Teacher uploads the curriculum and exam results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2. Curriculum is chunked, embedded and indexed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3. EKT estimates mastery for each learner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4. Weak concepts receive a remedial plan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5. New questions are generated and verified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6. Learner takes the adaptive re-test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7. Results update the knowledge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AI /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PyTorch: EKT and DKT models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sentence-transformers: MiniLM embeddings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LLMs: OpenAI, Gemini, DeepSeek (or offline mock)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46304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32803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5" y="159105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0236" y="228600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FAISS vector index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pypdf for PDF text extraction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NumPy for 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995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2277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Python 3.13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FastAPI + Uvicorn REST API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Command-line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379476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2803" y="3995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8875" y="392277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Frontend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461772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HTML, CSS, JavaScript single page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JSON / CSV / NumPy files (no SQL database)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pytest for automated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Expected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Personalized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3566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study plan only for the concepts the learner is weak in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Explanations and practice written from the course's own material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clear rationale: which answers revealed the gap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New, non-repeated questions for each re-test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8A33D"/>
                </a:solidFill>
                <a:latin typeface="Calibri"/>
              </a:rPr>
              <a:t>Improved concept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148840"/>
            <a:ext cx="4937760" cy="3566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Mastery rises above the 70% target after remediation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Pre-test vs post-test gains measured per concept (paired t-test)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EKT expected to predict answers better than the DKT baseline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Teachers see which concepts the whole class finds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421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515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7024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889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357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451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828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Literature study and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901952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32304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432304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Data, RAG pipeline and concept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5152" y="2505456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35808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035808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Knowledge tracing (EKT, DKT)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7024" y="3108960"/>
            <a:ext cx="1892807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39312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639312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MCQ generation and remedial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68896" y="3712463"/>
            <a:ext cx="1892807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42816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242816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Adaptive evaluation, web UI and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1704" y="4315968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84632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Testing, evaluation and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23576" y="4919472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Milestones:  First review after Phase 2  ·  Second review after Phase 4  ·  Final review after Phase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The project proposes a closed loop that finds each learner's weak concepts, explains them, and re-tests with new questions until the OBE target is met.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Proposed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complete, tested implementation of the base paper's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138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1306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7378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Concept-level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738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Mastery per concept instead of one total 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2803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5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Trustworthy AI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RAG grounding plus cross-verification by a second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3134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4302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0374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Practical for 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1734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Runs offline without paid APIs; web UI, REST API and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5F6B7A"/>
                </a:solidFill>
                <a:latin typeface="Calibri"/>
              </a:rPr>
              <a:t>Next: implement and evaluate the modules for the second and final reviews.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26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[1] N. Pradeesh et al., “AI-Driven Personalized Learning and Remedial Recommendation Through Knowledge Concept-Centric Evaluation,” IEEE Access, vol. 13, pp. 207817–207837,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[2] Q. Liu et al., “EKT: Exercise-aware knowledge tracing for student performance prediction,” IEEE TKDE, vol. 33, no. 1, pp. 100–115, 2021.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[3] C. Piech et al., “Deep knowledge tracing,” in Proc. NeurIPS, 2015.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[4] J. Zhang et al., “Dynamic key-value memory networks for knowledge tracing,” in Proc. WWW, 2017.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[5] P. Lewis et al., “Retrieval-augmented generation for knowledge-intensive NLP tasks,” in Proc. NeurIPS, 2020.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[6] C. N. Hang, C. W. Tan and P.-D. Yu, “MCQGen: A large language model-driven MCQ generator for personalized learning,” IEEE Access, vol. 12, 2024.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[7] A. T. Corbett and J. R. Anderson, “Knowledge tracing: Modeling the acquisition of procedural knowledge,” UMUAI, vol. 4, 1994.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[8] L. W. Anderson and D. R. Krathwohl, A Taxonomy for Learning, Teaching, and Assessing. Longman, 2001.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1">
                <a:solidFill>
                  <a:srgbClr val="C9D3E6"/>
                </a:solidFill>
                <a:latin typeface="Calibri"/>
              </a:rPr>
              <a:t>Questions and suggestions are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9D3E6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