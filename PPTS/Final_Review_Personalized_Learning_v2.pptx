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20.xml" ContentType="application/vnd.openxmlformats-officedocument.presentationml.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75" r:id="rId32"/>
    <p:sldId id="268" r:id="rId18"/>
    <p:sldId id="269" r:id="rId19"/>
    <p:sldId id="270" r:id="rId20"/>
    <p:sldId id="271" r:id="rId21"/>
    <p:sldId id="272" r:id="rId22"/>
    <p:sldId id="273" r:id="rId23"/>
    <p:sldId id="274" r:id="rId24"/>
  </p:sldIdLst>
  <p:sldSz cy="6858000" cx="12192000"/>
  <p:notesSz cx="6858000" cy="12192000"/>
  <p:embeddedFontLst>
    <p:embeddedFont>
      <p:font typeface="Domine"/>
      <p:regular r:id="rId25"/>
      <p:bold r:id="rId26"/>
    </p:embeddedFont>
    <p:embeddedFont>
      <p:font typeface="Nunito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hjR/RpGjj4oru4hIgou6E3YvUd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622916-A73C-4988-B90C-C9FCDE98B4EF}">
  <a:tblStyle styleId="{07622916-A73C-4988-B90C-C9FCDE98B4E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omine-bold.fntdata"/><Relationship Id="rId25" Type="http://schemas.openxmlformats.org/officeDocument/2006/relationships/font" Target="fonts/Domine-regular.fntdata"/><Relationship Id="rId28" Type="http://schemas.openxmlformats.org/officeDocument/2006/relationships/font" Target="fonts/NunitoSans-bold.fntdata"/><Relationship Id="rId27" Type="http://schemas.openxmlformats.org/officeDocument/2006/relationships/font" Target="fonts/Nunito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Sans-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Nunito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  <Relationship Id="rId32" Type="http://schemas.openxmlformats.org/officeDocument/2006/relationships/slide" Target="slides/slide2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final review shows what we built, how each module works with real output, and the results.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sentence summary, then walk the loop once. Everything on this slide was built and is shown working later in the deck.</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this short: the panel heard the full problem at the first review.</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slide only for the literature. The base paper combines these pieces in one loop; our project implements it and adds three improvements, shown on the comparison slide.</a:t>
            </a:r>
            <a:endParaRPr/>
          </a:p>
        </p:txBody>
      </p:sp>
      <p:sp>
        <p:nvSpPr>
          <p:cNvPr id="76" name="Google Shape;7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architecture we actually built, including the parts that differ from the first plan: unit-aware chunking, de-duplication, the web quiz and the free or offline AI layer.</a:t>
            </a:r>
            <a:endParaRPr/>
          </a:p>
        </p:txBody>
      </p:sp>
      <p:sp>
        <p:nvSpPr>
          <p:cNvPr id="95" name="Google Shape;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Only technologies we actually used. There is no database server: data is kept in simple files, which keeps the prototype easy to install.</a:t>
            </a:r>
            <a:endParaRPr/>
          </a:p>
        </p:txBody>
      </p:sp>
      <p:sp>
        <p:nvSpPr>
          <p:cNvPr id="134" name="Google Shape;13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clear: no real student records were available, so a simulator based on Item Response Theory generated the answers. The system accepts real exam CSV files with the same columns.</a:t>
            </a:r>
            <a:endParaRPr/>
          </a:p>
        </p:txBody>
      </p:sp>
      <p:sp>
        <p:nvSpPr>
          <p:cNvPr id="174" name="Google Shape;1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real output of the ingest command on the sample course. Splitting by unit before chunking is our improvement: it keeps each concept's content separate.</a:t>
            </a:r>
            <a:endParaRPr/>
          </a:p>
        </p:txBody>
      </p:sp>
      <p:sp>
        <p:nvSpPr>
          <p:cNvPr id="197" name="Google Shape;1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context shown is real text retrieved from the course's Unit 3. With fixed 1000-character windows only 38% of retrieved sentences were from the right unit; our unit filter makes it 100%.</a:t>
            </a:r>
            <a:endParaRPr/>
          </a:p>
        </p:txBody>
      </p:sp>
      <p:sp>
        <p:nvSpPr>
          <p:cNvPr id="209" name="Google Shape;20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question has a stem, four options, the correct answer, an explanation, the concept, difficulty and Bloom level. Near-duplicates above 0.85 cosine similarity are removed, and two other models check the rest.</a:t>
            </a:r>
            <a:endParaRPr/>
          </a:p>
        </p:txBody>
      </p:sp>
      <p:sp>
        <p:nvSpPr>
          <p:cNvPr id="235" name="Google Shape;23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real EKT model, not a score-based shortcut: an LSTM over the question text and response, with a mastery output per concept. We also trained DKT as a baseline; results are on the metrics slide.</a:t>
            </a:r>
            <a:endParaRPr/>
          </a:p>
        </p:txBody>
      </p:sp>
      <p:sp>
        <p:nvSpPr>
          <p:cNvPr id="253" name="Google Shape;25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five sections follow the base paper. The rationale names the question the student actually missed.</a:t>
            </a:r>
            <a:endParaRPr/>
          </a:p>
        </p:txBody>
      </p:sp>
      <p:sp>
        <p:nvSpPr>
          <p:cNvPr id="267" name="Google Shape;26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actual numbers from the demo run. The student's answers in the re-test come from the simulator, so this shows the loop works, not a classroom result.</a:t>
            </a:r>
            <a:endParaRPr/>
          </a:p>
        </p:txBody>
      </p:sp>
      <p:sp>
        <p:nvSpPr>
          <p:cNvPr id="285" name="Google Shape;28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option: start the server before the review, load student CSE230001, click Analyse, open a plan, take the self-assessment and click Next round. In the round-2 screenshot the answers were entered by a script acting as a student.</a:t>
            </a:r>
            <a:endParaRPr/>
          </a:p>
        </p:txBody>
      </p:sp>
      <p:sp>
        <p:nvSpPr>
          <p:cNvPr id="301" name="Google Shape;30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Scores are mean percentages out of 100. Be clear that the students and the effect of studying are simulated. The paper's own classroom study found significant gains on all five concepts; ours reaches significance on three of five with 30 simulated students.</a:t>
            </a:r>
            <a:endParaRPr/>
          </a:p>
        </p:txBody>
      </p:sp>
      <p:sp>
        <p:nvSpPr>
          <p:cNvPr id="317" name="Google Shape;31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Only metrics we actually calculated are shown. EKT beats DKT on every knowledge-tracing metric. The loop numbers come from the 40-student simulation in our research paper.</a:t>
            </a:r>
            <a:endParaRPr/>
          </a:p>
        </p:txBody>
      </p:sp>
      <p:sp>
        <p:nvSpPr>
          <p:cNvPr id="330" name="Google Shape;33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base paper integrated the loop inside its own LMS with commercial AI models. We kept its design and added unit-aware retrieval, calibrated mastery, free or offline AI, and a tested open web application.</a:t>
            </a:r>
            <a:endParaRPr/>
          </a:p>
        </p:txBody>
      </p:sp>
      <p:sp>
        <p:nvSpPr>
          <p:cNvPr id="349" name="Google Shape;34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honest about the synthetic data. The mistake-level feedback addresses the lowest-rated item in the base paper's own student survey.</a:t>
            </a:r>
            <a:endParaRPr/>
          </a:p>
        </p:txBody>
      </p:sp>
      <p:sp>
        <p:nvSpPr>
          <p:cNvPr id="359" name="Google Shape;35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Summarise in one breath and open for questions. Keep the live demo ready if the panel asks.</a:t>
            </a:r>
            <a:endParaRPr/>
          </a:p>
        </p:txBody>
      </p:sp>
      <p:sp>
        <p:nvSpPr>
          <p:cNvPr id="373" name="Google Shape;37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18.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9.png"/><Relationship Id="rId4" Type="http://schemas.openxmlformats.org/officeDocument/2006/relationships/image" Target="../media/image33.png"/><Relationship Id="rId10" Type="http://schemas.openxmlformats.org/officeDocument/2006/relationships/image" Target="../media/image41.png"/><Relationship Id="rId9"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36.png"/><Relationship Id="rId7" Type="http://schemas.openxmlformats.org/officeDocument/2006/relationships/image" Target="../media/image42.png"/><Relationship Id="rId8" Type="http://schemas.openxmlformats.org/officeDocument/2006/relationships/image" Target="../media/image5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tudy_pdf_page.png"/><Relationship Id="rId4" Type="http://schemas.openxmlformats.org/officeDocument/2006/relationships/image" Target="../media/study_ui.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A"/>
        </a:solidFill>
      </p:bgPr>
    </p:bg>
    <p:spTree>
      <p:nvGrpSpPr>
        <p:cNvPr id="15" name="Shape 15"/>
        <p:cNvGrpSpPr/>
        <p:nvPr/>
      </p:nvGrpSpPr>
      <p:grpSpPr>
        <a:xfrm>
          <a:off x="0" y="0"/>
          <a:ext cx="0" cy="0"/>
          <a:chOff x="0" y="0"/>
          <a:chExt cx="0" cy="0"/>
        </a:xfrm>
      </p:grpSpPr>
      <p:sp>
        <p:nvSpPr>
          <p:cNvPr id="16" name="Google Shape;16;p1"/>
          <p:cNvSpPr/>
          <p:nvPr/>
        </p:nvSpPr>
        <p:spPr>
          <a:xfrm>
            <a:off x="0" y="0"/>
            <a:ext cx="152400" cy="6858000"/>
          </a:xfrm>
          <a:prstGeom prst="rect">
            <a:avLst/>
          </a:prstGeom>
          <a:solidFill>
            <a:srgbClr val="8FB4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863550" y="1067475"/>
            <a:ext cx="10464900" cy="1732200"/>
          </a:xfrm>
          <a:prstGeom prst="rect">
            <a:avLst/>
          </a:prstGeom>
          <a:noFill/>
          <a:ln>
            <a:noFill/>
          </a:ln>
        </p:spPr>
        <p:txBody>
          <a:bodyPr anchorCtr="0" anchor="t" bIns="0" lIns="0" spcFirstLastPara="1" rIns="0" wrap="square" tIns="0">
            <a:normAutofit/>
          </a:bodyPr>
          <a:lstStyle/>
          <a:p>
            <a:pPr indent="0" lvl="0" marL="0" marR="0" rtl="0" algn="l">
              <a:lnSpc>
                <a:spcPct val="112000"/>
              </a:lnSpc>
              <a:spcBef>
                <a:spcPts val="0"/>
              </a:spcBef>
              <a:spcAft>
                <a:spcPts val="0"/>
              </a:spcAft>
              <a:buClr>
                <a:srgbClr val="F3F1EA"/>
              </a:buClr>
              <a:buSzPts val="4000"/>
              <a:buFont typeface="Domine"/>
              <a:buNone/>
            </a:pPr>
            <a:r>
              <a:rPr b="1" i="0" lang="en-US" sz="4000" u="none" cap="none" strike="noStrike">
                <a:solidFill>
                  <a:srgbClr val="F3F1EA"/>
                </a:solidFill>
                <a:latin typeface="Domine"/>
                <a:ea typeface="Domine"/>
                <a:cs typeface="Domine"/>
                <a:sym typeface="Domine"/>
              </a:rPr>
              <a:t>AI-Driven Personalized Learning and Remedial Recommendation Through Knowledge Concept-Centric Evaluation</a:t>
            </a:r>
            <a:endParaRPr b="0" i="0" sz="4000" u="none" cap="none" strike="noStrike">
              <a:solidFill>
                <a:schemeClr val="dk1"/>
              </a:solidFill>
              <a:latin typeface="Calibri"/>
              <a:ea typeface="Calibri"/>
              <a:cs typeface="Calibri"/>
              <a:sym typeface="Calibri"/>
            </a:endParaRPr>
          </a:p>
        </p:txBody>
      </p:sp>
      <p:sp>
        <p:nvSpPr>
          <p:cNvPr id="18" name="Google Shape;18;p1"/>
          <p:cNvSpPr/>
          <p:nvPr/>
        </p:nvSpPr>
        <p:spPr>
          <a:xfrm>
            <a:off x="812800" y="4057650"/>
            <a:ext cx="1701800" cy="7188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300"/>
              <a:buFont typeface="Nunito Sans"/>
              <a:buNone/>
            </a:pPr>
            <a:r>
              <a:rPr b="1" i="0" lang="en-US" sz="1300" u="none" cap="none" strike="noStrike">
                <a:solidFill>
                  <a:srgbClr val="8FB4F5"/>
                </a:solidFill>
                <a:latin typeface="Nunito Sans"/>
                <a:ea typeface="Nunito Sans"/>
                <a:cs typeface="Nunito Sans"/>
                <a:sym typeface="Nunito Sans"/>
              </a:rPr>
              <a:t>Students</a:t>
            </a:r>
            <a:endParaRPr b="0" i="0" sz="1300" u="none" cap="none" strike="noStrike">
              <a:solidFill>
                <a:schemeClr val="dk1"/>
              </a:solidFill>
              <a:latin typeface="Calibri"/>
              <a:ea typeface="Calibri"/>
              <a:cs typeface="Calibri"/>
              <a:sym typeface="Calibri"/>
            </a:endParaRPr>
          </a:p>
        </p:txBody>
      </p:sp>
      <p:sp>
        <p:nvSpPr>
          <p:cNvPr id="19" name="Google Shape;19;p1"/>
          <p:cNvSpPr/>
          <p:nvPr/>
        </p:nvSpPr>
        <p:spPr>
          <a:xfrm>
            <a:off x="2463800" y="4057650"/>
            <a:ext cx="3531870" cy="7188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[Student Name 1] · [Roll No.]</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[Student Name 2] · [Roll No.]</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[Student Name 3] · [Roll No.]</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5892800" y="4057650"/>
            <a:ext cx="1701800" cy="7188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300"/>
              <a:buFont typeface="Nunito Sans"/>
              <a:buNone/>
            </a:pPr>
            <a:r>
              <a:rPr b="1" i="0" lang="en-US" sz="1300" u="none" cap="none" strike="noStrike">
                <a:solidFill>
                  <a:srgbClr val="8FB4F5"/>
                </a:solidFill>
                <a:latin typeface="Nunito Sans"/>
                <a:ea typeface="Nunito Sans"/>
                <a:cs typeface="Nunito Sans"/>
                <a:sym typeface="Nunito Sans"/>
              </a:rPr>
              <a:t>Guide</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7543813" y="4057650"/>
            <a:ext cx="3531900" cy="71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[Guide Name], [Designation]</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812800" y="5116532"/>
            <a:ext cx="17019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300"/>
              <a:buFont typeface="Nunito Sans"/>
              <a:buNone/>
            </a:pPr>
            <a:r>
              <a:rPr b="1" i="0" lang="en-US" sz="1300" u="none" cap="none" strike="noStrike">
                <a:solidFill>
                  <a:srgbClr val="8FB4F5"/>
                </a:solidFill>
                <a:latin typeface="Nunito Sans"/>
                <a:ea typeface="Nunito Sans"/>
                <a:cs typeface="Nunito Sans"/>
                <a:sym typeface="Nunito Sans"/>
              </a:rPr>
              <a:t>Department</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2463800" y="5116582"/>
            <a:ext cx="35319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[Computer Science and Engineering]</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5892800" y="5116632"/>
            <a:ext cx="17019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300"/>
              <a:buFont typeface="Nunito Sans"/>
              <a:buNone/>
            </a:pPr>
            <a:r>
              <a:rPr b="1" i="0" lang="en-US" sz="1300" u="none" cap="none" strike="noStrike">
                <a:solidFill>
                  <a:srgbClr val="8FB4F5"/>
                </a:solidFill>
                <a:latin typeface="Nunito Sans"/>
                <a:ea typeface="Nunito Sans"/>
                <a:cs typeface="Nunito Sans"/>
                <a:sym typeface="Nunito Sans"/>
              </a:rPr>
              <a:t>College</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7543825" y="5116532"/>
            <a:ext cx="35319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[College Name]</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4E8F0"/>
              </a:buClr>
              <a:buSzPts val="1300"/>
              <a:buFont typeface="Nunito Sans"/>
              <a:buNone/>
            </a:pPr>
            <a:r>
              <a:rPr b="0" i="0" lang="en-US" sz="1300" u="none" cap="none" strike="noStrike">
                <a:solidFill>
                  <a:srgbClr val="E4E8F0"/>
                </a:solidFill>
                <a:latin typeface="Nunito Sans"/>
                <a:ea typeface="Nunito Sans"/>
                <a:cs typeface="Nunito Sans"/>
                <a:sym typeface="Nunito Sans"/>
              </a:rPr>
              <a:t>Academic Year [2025 – 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0" name="Shape 30"/>
        <p:cNvGrpSpPr/>
        <p:nvPr/>
      </p:nvGrpSpPr>
      <p:grpSpPr>
        <a:xfrm>
          <a:off x="0" y="0"/>
          <a:ext cx="0" cy="0"/>
          <a:chOff x="0" y="0"/>
          <a:chExt cx="0" cy="0"/>
        </a:xfrm>
      </p:grpSpPr>
      <p:sp>
        <p:nvSpPr>
          <p:cNvPr id="31" name="Google Shape;31;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PROJECT OVERVIEW</a:t>
            </a:r>
            <a:endParaRPr b="0" i="0" sz="1200" u="none" cap="none" strike="noStrike">
              <a:solidFill>
                <a:schemeClr val="dk1"/>
              </a:solidFill>
              <a:latin typeface="Calibri"/>
              <a:ea typeface="Calibri"/>
              <a:cs typeface="Calibri"/>
              <a:sym typeface="Calibri"/>
            </a:endParaRPr>
          </a:p>
        </p:txBody>
      </p:sp>
      <p:sp>
        <p:nvSpPr>
          <p:cNvPr id="32" name="Google Shape;32;p2"/>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Concept-level learning support, end to end</a:t>
            </a:r>
            <a:endParaRPr b="0" i="0" sz="3200" u="none" cap="none" strike="noStrike">
              <a:solidFill>
                <a:schemeClr val="dk1"/>
              </a:solidFill>
              <a:latin typeface="Calibri"/>
              <a:ea typeface="Calibri"/>
              <a:cs typeface="Calibri"/>
              <a:sym typeface="Calibri"/>
            </a:endParaRPr>
          </a:p>
        </p:txBody>
      </p:sp>
      <p:sp>
        <p:nvSpPr>
          <p:cNvPr id="33" name="Google Shape;33;p2"/>
          <p:cNvSpPr/>
          <p:nvPr/>
        </p:nvSpPr>
        <p:spPr>
          <a:xfrm>
            <a:off x="812800" y="1645841"/>
            <a:ext cx="10203180" cy="57785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34405A"/>
              </a:buClr>
              <a:buSzPts val="1500"/>
              <a:buFont typeface="Nunito Sans"/>
              <a:buNone/>
            </a:pPr>
            <a:r>
              <a:rPr b="0" i="0" lang="en-US" sz="1500" u="none" cap="none" strike="noStrike">
                <a:solidFill>
                  <a:srgbClr val="34405A"/>
                </a:solidFill>
                <a:latin typeface="Nunito Sans"/>
                <a:ea typeface="Nunito Sans"/>
                <a:cs typeface="Nunito Sans"/>
                <a:sym typeface="Nunito Sans"/>
              </a:rPr>
              <a:t>Our system analyses student responses, identifies weak concepts, generates AI-based remedial recommendations and re-tests the student, in a continuous loop.</a:t>
            </a:r>
            <a:endParaRPr b="0" i="0" sz="1500" u="none" cap="none" strike="noStrike">
              <a:solidFill>
                <a:schemeClr val="dk1"/>
              </a:solidFill>
              <a:latin typeface="Calibri"/>
              <a:ea typeface="Calibri"/>
              <a:cs typeface="Calibri"/>
              <a:sym typeface="Calibri"/>
            </a:endParaRPr>
          </a:p>
        </p:txBody>
      </p:sp>
      <p:sp>
        <p:nvSpPr>
          <p:cNvPr id="34" name="Google Shape;34;p2"/>
          <p:cNvSpPr/>
          <p:nvPr/>
        </p:nvSpPr>
        <p:spPr>
          <a:xfrm>
            <a:off x="819150" y="29908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Course</a:t>
            </a:r>
            <a:endParaRPr b="0" i="0" sz="1400" u="none" cap="none" strike="noStrike">
              <a:solidFill>
                <a:schemeClr val="dk1"/>
              </a:solidFill>
              <a:latin typeface="Calibri"/>
              <a:ea typeface="Calibri"/>
              <a:cs typeface="Calibri"/>
              <a:sym typeface="Calibri"/>
            </a:endParaRPr>
          </a:p>
        </p:txBody>
      </p:sp>
      <p:sp>
        <p:nvSpPr>
          <p:cNvPr id="35" name="Google Shape;35;p2"/>
          <p:cNvSpPr/>
          <p:nvPr/>
        </p:nvSpPr>
        <p:spPr>
          <a:xfrm>
            <a:off x="3613150" y="29908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Concepts</a:t>
            </a:r>
            <a:endParaRPr b="0" i="0" sz="1400" u="none" cap="none" strike="noStrike">
              <a:solidFill>
                <a:schemeClr val="dk1"/>
              </a:solidFill>
              <a:latin typeface="Calibri"/>
              <a:ea typeface="Calibri"/>
              <a:cs typeface="Calibri"/>
              <a:sym typeface="Calibri"/>
            </a:endParaRPr>
          </a:p>
        </p:txBody>
      </p:sp>
      <p:sp>
        <p:nvSpPr>
          <p:cNvPr id="36" name="Google Shape;36;p2"/>
          <p:cNvSpPr/>
          <p:nvPr/>
        </p:nvSpPr>
        <p:spPr>
          <a:xfrm>
            <a:off x="6407150" y="29908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Questions</a:t>
            </a:r>
            <a:endParaRPr b="0" i="0" sz="1400" u="none" cap="none" strike="noStrike">
              <a:solidFill>
                <a:schemeClr val="dk1"/>
              </a:solidFill>
              <a:latin typeface="Calibri"/>
              <a:ea typeface="Calibri"/>
              <a:cs typeface="Calibri"/>
              <a:sym typeface="Calibri"/>
            </a:endParaRPr>
          </a:p>
        </p:txBody>
      </p:sp>
      <p:sp>
        <p:nvSpPr>
          <p:cNvPr id="37" name="Google Shape;37;p2"/>
          <p:cNvSpPr/>
          <p:nvPr/>
        </p:nvSpPr>
        <p:spPr>
          <a:xfrm>
            <a:off x="9201150" y="29908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Student</a:t>
            </a:r>
            <a:endParaRPr b="0" i="0" sz="1400" u="none" cap="none" strike="noStrike">
              <a:solidFill>
                <a:schemeClr val="dk1"/>
              </a:solidFill>
              <a:latin typeface="Calibri"/>
              <a:ea typeface="Calibri"/>
              <a:cs typeface="Calibri"/>
              <a:sym typeface="Calibri"/>
            </a:endParaRPr>
          </a:p>
        </p:txBody>
      </p:sp>
      <p:sp>
        <p:nvSpPr>
          <p:cNvPr id="38" name="Google Shape;38;p2"/>
          <p:cNvSpPr/>
          <p:nvPr/>
        </p:nvSpPr>
        <p:spPr>
          <a:xfrm>
            <a:off x="9201150" y="43243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Analysis (EKT)</a:t>
            </a:r>
            <a:endParaRPr b="0" i="0" sz="1400" u="none" cap="none" strike="noStrike">
              <a:solidFill>
                <a:schemeClr val="dk1"/>
              </a:solidFill>
              <a:latin typeface="Calibri"/>
              <a:ea typeface="Calibri"/>
              <a:cs typeface="Calibri"/>
              <a:sym typeface="Calibri"/>
            </a:endParaRPr>
          </a:p>
        </p:txBody>
      </p:sp>
      <p:sp>
        <p:nvSpPr>
          <p:cNvPr id="39" name="Google Shape;39;p2"/>
          <p:cNvSpPr/>
          <p:nvPr/>
        </p:nvSpPr>
        <p:spPr>
          <a:xfrm>
            <a:off x="6407150" y="43243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Weak concepts</a:t>
            </a:r>
            <a:endParaRPr b="0" i="0" sz="1400" u="none" cap="none" strike="noStrike">
              <a:solidFill>
                <a:schemeClr val="dk1"/>
              </a:solidFill>
              <a:latin typeface="Calibri"/>
              <a:ea typeface="Calibri"/>
              <a:cs typeface="Calibri"/>
              <a:sym typeface="Calibri"/>
            </a:endParaRPr>
          </a:p>
        </p:txBody>
      </p:sp>
      <p:sp>
        <p:nvSpPr>
          <p:cNvPr id="40" name="Google Shape;40;p2"/>
          <p:cNvSpPr/>
          <p:nvPr/>
        </p:nvSpPr>
        <p:spPr>
          <a:xfrm>
            <a:off x="3613150" y="43243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Recommendation</a:t>
            </a:r>
            <a:endParaRPr b="0" i="0" sz="1400" u="none" cap="none" strike="noStrike">
              <a:solidFill>
                <a:schemeClr val="dk1"/>
              </a:solidFill>
              <a:latin typeface="Calibri"/>
              <a:ea typeface="Calibri"/>
              <a:cs typeface="Calibri"/>
              <a:sym typeface="Calibri"/>
            </a:endParaRPr>
          </a:p>
        </p:txBody>
      </p:sp>
      <p:sp>
        <p:nvSpPr>
          <p:cNvPr id="41" name="Google Shape;41;p2"/>
          <p:cNvSpPr/>
          <p:nvPr/>
        </p:nvSpPr>
        <p:spPr>
          <a:xfrm>
            <a:off x="819150" y="4324350"/>
            <a:ext cx="2171700" cy="685800"/>
          </a:xfrm>
          <a:custGeom>
            <a:rect b="b" l="l" r="r" t="t"/>
            <a:pathLst>
              <a:path extrusionOk="0" h="685800" w="2171700">
                <a:moveTo>
                  <a:pt x="82550" y="0"/>
                </a:moveTo>
                <a:lnTo>
                  <a:pt x="2089150" y="0"/>
                </a:lnTo>
                <a:cubicBezTo>
                  <a:pt x="2111044" y="0"/>
                  <a:pt x="2132041" y="8697"/>
                  <a:pt x="2147522" y="24178"/>
                </a:cubicBezTo>
                <a:cubicBezTo>
                  <a:pt x="2163003" y="39659"/>
                  <a:pt x="2171700" y="60656"/>
                  <a:pt x="2171700" y="82550"/>
                </a:cubicBezTo>
                <a:lnTo>
                  <a:pt x="2171700" y="603250"/>
                </a:lnTo>
                <a:cubicBezTo>
                  <a:pt x="2171700" y="648841"/>
                  <a:pt x="2134741" y="685800"/>
                  <a:pt x="2089150" y="685800"/>
                </a:cubicBezTo>
                <a:lnTo>
                  <a:pt x="82550" y="685800"/>
                </a:lnTo>
                <a:cubicBezTo>
                  <a:pt x="36959" y="685800"/>
                  <a:pt x="0" y="648841"/>
                  <a:pt x="0" y="603250"/>
                </a:cubicBezTo>
                <a:lnTo>
                  <a:pt x="0" y="82550"/>
                </a:lnTo>
                <a:cubicBezTo>
                  <a:pt x="0" y="36959"/>
                  <a:pt x="36959" y="0"/>
                  <a:pt x="825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350" lIns="0" spcFirstLastPara="1" rIns="0" wrap="square" tIns="6350">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Re-test</a:t>
            </a:r>
            <a:endParaRPr b="0" i="0" sz="1400" u="none" cap="none" strike="noStrike">
              <a:solidFill>
                <a:schemeClr val="dk1"/>
              </a:solidFill>
              <a:latin typeface="Calibri"/>
              <a:ea typeface="Calibri"/>
              <a:cs typeface="Calibri"/>
              <a:sym typeface="Calibri"/>
            </a:endParaRPr>
          </a:p>
        </p:txBody>
      </p:sp>
      <p:pic>
        <p:nvPicPr>
          <p:cNvPr descr="connector" id="42" name="Google Shape;42;p2"/>
          <p:cNvPicPr preferRelativeResize="0"/>
          <p:nvPr/>
        </p:nvPicPr>
        <p:blipFill rotWithShape="1">
          <a:blip r:embed="rId3">
            <a:alphaModFix/>
          </a:blip>
          <a:srcRect b="0" l="0" r="0" t="0"/>
          <a:stretch/>
        </p:blipFill>
        <p:spPr>
          <a:xfrm>
            <a:off x="2933700" y="3270250"/>
            <a:ext cx="736600" cy="127000"/>
          </a:xfrm>
          <a:prstGeom prst="rect">
            <a:avLst/>
          </a:prstGeom>
          <a:noFill/>
          <a:ln>
            <a:noFill/>
          </a:ln>
        </p:spPr>
      </p:pic>
      <p:pic>
        <p:nvPicPr>
          <p:cNvPr descr="connector" id="43" name="Google Shape;43;p2"/>
          <p:cNvPicPr preferRelativeResize="0"/>
          <p:nvPr/>
        </p:nvPicPr>
        <p:blipFill rotWithShape="1">
          <a:blip r:embed="rId3">
            <a:alphaModFix/>
          </a:blip>
          <a:srcRect b="0" l="0" r="0" t="0"/>
          <a:stretch/>
        </p:blipFill>
        <p:spPr>
          <a:xfrm>
            <a:off x="5727700" y="3270250"/>
            <a:ext cx="736600" cy="127000"/>
          </a:xfrm>
          <a:prstGeom prst="rect">
            <a:avLst/>
          </a:prstGeom>
          <a:noFill/>
          <a:ln>
            <a:noFill/>
          </a:ln>
        </p:spPr>
      </p:pic>
      <p:pic>
        <p:nvPicPr>
          <p:cNvPr descr="connector" id="44" name="Google Shape;44;p2"/>
          <p:cNvPicPr preferRelativeResize="0"/>
          <p:nvPr/>
        </p:nvPicPr>
        <p:blipFill rotWithShape="1">
          <a:blip r:embed="rId3">
            <a:alphaModFix/>
          </a:blip>
          <a:srcRect b="0" l="0" r="0" t="0"/>
          <a:stretch/>
        </p:blipFill>
        <p:spPr>
          <a:xfrm>
            <a:off x="8521700" y="3270250"/>
            <a:ext cx="736600" cy="127000"/>
          </a:xfrm>
          <a:prstGeom prst="rect">
            <a:avLst/>
          </a:prstGeom>
          <a:noFill/>
          <a:ln>
            <a:noFill/>
          </a:ln>
        </p:spPr>
      </p:pic>
      <p:pic>
        <p:nvPicPr>
          <p:cNvPr descr="connector" id="45" name="Google Shape;45;p2"/>
          <p:cNvPicPr preferRelativeResize="0"/>
          <p:nvPr/>
        </p:nvPicPr>
        <p:blipFill rotWithShape="1">
          <a:blip r:embed="rId4">
            <a:alphaModFix/>
          </a:blip>
          <a:srcRect b="0" l="0" r="0" t="0"/>
          <a:stretch/>
        </p:blipFill>
        <p:spPr>
          <a:xfrm>
            <a:off x="10223500" y="3619500"/>
            <a:ext cx="127000" cy="762000"/>
          </a:xfrm>
          <a:prstGeom prst="rect">
            <a:avLst/>
          </a:prstGeom>
          <a:noFill/>
          <a:ln>
            <a:noFill/>
          </a:ln>
        </p:spPr>
      </p:pic>
      <p:pic>
        <p:nvPicPr>
          <p:cNvPr descr="connector" id="46" name="Google Shape;46;p2"/>
          <p:cNvPicPr preferRelativeResize="0"/>
          <p:nvPr/>
        </p:nvPicPr>
        <p:blipFill rotWithShape="1">
          <a:blip r:embed="rId5">
            <a:alphaModFix/>
          </a:blip>
          <a:srcRect b="0" l="0" r="0" t="0"/>
          <a:stretch/>
        </p:blipFill>
        <p:spPr>
          <a:xfrm>
            <a:off x="8521700" y="4603750"/>
            <a:ext cx="736600" cy="127000"/>
          </a:xfrm>
          <a:prstGeom prst="rect">
            <a:avLst/>
          </a:prstGeom>
          <a:noFill/>
          <a:ln>
            <a:noFill/>
          </a:ln>
        </p:spPr>
      </p:pic>
      <p:pic>
        <p:nvPicPr>
          <p:cNvPr descr="connector" id="47" name="Google Shape;47;p2"/>
          <p:cNvPicPr preferRelativeResize="0"/>
          <p:nvPr/>
        </p:nvPicPr>
        <p:blipFill rotWithShape="1">
          <a:blip r:embed="rId5">
            <a:alphaModFix/>
          </a:blip>
          <a:srcRect b="0" l="0" r="0" t="0"/>
          <a:stretch/>
        </p:blipFill>
        <p:spPr>
          <a:xfrm>
            <a:off x="5727700" y="4603750"/>
            <a:ext cx="736600" cy="127000"/>
          </a:xfrm>
          <a:prstGeom prst="rect">
            <a:avLst/>
          </a:prstGeom>
          <a:noFill/>
          <a:ln>
            <a:noFill/>
          </a:ln>
        </p:spPr>
      </p:pic>
      <p:pic>
        <p:nvPicPr>
          <p:cNvPr descr="connector" id="48" name="Google Shape;48;p2"/>
          <p:cNvPicPr preferRelativeResize="0"/>
          <p:nvPr/>
        </p:nvPicPr>
        <p:blipFill rotWithShape="1">
          <a:blip r:embed="rId5">
            <a:alphaModFix/>
          </a:blip>
          <a:srcRect b="0" l="0" r="0" t="0"/>
          <a:stretch/>
        </p:blipFill>
        <p:spPr>
          <a:xfrm>
            <a:off x="2933700" y="4603750"/>
            <a:ext cx="736600" cy="127000"/>
          </a:xfrm>
          <a:prstGeom prst="rect">
            <a:avLst/>
          </a:prstGeom>
          <a:noFill/>
          <a:ln>
            <a:noFill/>
          </a:ln>
        </p:spPr>
      </p:pic>
      <p:pic>
        <p:nvPicPr>
          <p:cNvPr descr="connector" id="49" name="Google Shape;49;p2"/>
          <p:cNvPicPr preferRelativeResize="0"/>
          <p:nvPr/>
        </p:nvPicPr>
        <p:blipFill rotWithShape="1">
          <a:blip r:embed="rId6">
            <a:alphaModFix/>
          </a:blip>
          <a:srcRect b="0" l="0" r="0" t="0"/>
          <a:stretch/>
        </p:blipFill>
        <p:spPr>
          <a:xfrm>
            <a:off x="1841500" y="4953000"/>
            <a:ext cx="127000" cy="508000"/>
          </a:xfrm>
          <a:prstGeom prst="rect">
            <a:avLst/>
          </a:prstGeom>
          <a:noFill/>
          <a:ln>
            <a:noFill/>
          </a:ln>
        </p:spPr>
      </p:pic>
      <p:pic>
        <p:nvPicPr>
          <p:cNvPr descr="connector" id="50" name="Google Shape;50;p2"/>
          <p:cNvPicPr preferRelativeResize="0"/>
          <p:nvPr/>
        </p:nvPicPr>
        <p:blipFill rotWithShape="1">
          <a:blip r:embed="rId7">
            <a:alphaModFix/>
          </a:blip>
          <a:srcRect b="0" l="0" r="0" t="0"/>
          <a:stretch/>
        </p:blipFill>
        <p:spPr>
          <a:xfrm>
            <a:off x="1841500" y="5334000"/>
            <a:ext cx="8509000" cy="127000"/>
          </a:xfrm>
          <a:prstGeom prst="rect">
            <a:avLst/>
          </a:prstGeom>
          <a:noFill/>
          <a:ln>
            <a:noFill/>
          </a:ln>
        </p:spPr>
      </p:pic>
      <p:pic>
        <p:nvPicPr>
          <p:cNvPr descr="connector" id="51" name="Google Shape;51;p2"/>
          <p:cNvPicPr preferRelativeResize="0"/>
          <p:nvPr/>
        </p:nvPicPr>
        <p:blipFill rotWithShape="1">
          <a:blip r:embed="rId8">
            <a:alphaModFix/>
          </a:blip>
          <a:srcRect b="0" l="0" r="0" t="0"/>
          <a:stretch/>
        </p:blipFill>
        <p:spPr>
          <a:xfrm>
            <a:off x="10223500" y="4953000"/>
            <a:ext cx="127000" cy="508000"/>
          </a:xfrm>
          <a:prstGeom prst="rect">
            <a:avLst/>
          </a:prstGeom>
          <a:noFill/>
          <a:ln>
            <a:noFill/>
          </a:ln>
        </p:spPr>
      </p:pic>
      <p:sp>
        <p:nvSpPr>
          <p:cNvPr id="52" name="Google Shape;52;p2"/>
          <p:cNvSpPr/>
          <p:nvPr/>
        </p:nvSpPr>
        <p:spPr>
          <a:xfrm>
            <a:off x="4133850" y="5473700"/>
            <a:ext cx="39243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repeat until the target is reached</a:t>
            </a:r>
            <a:endParaRPr b="0" i="0" sz="1200" u="none" cap="none" strike="noStrike">
              <a:solidFill>
                <a:schemeClr val="dk1"/>
              </a:solidFill>
              <a:latin typeface="Calibri"/>
              <a:ea typeface="Calibri"/>
              <a:cs typeface="Calibri"/>
              <a:sym typeface="Calibri"/>
            </a:endParaRPr>
          </a:p>
        </p:txBody>
      </p:sp>
      <p:sp>
        <p:nvSpPr>
          <p:cNvPr id="53" name="Google Shape;53;p2"/>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58" name="Shape 58"/>
        <p:cNvGrpSpPr/>
        <p:nvPr/>
      </p:nvGrpSpPr>
      <p:grpSpPr>
        <a:xfrm>
          <a:off x="0" y="0"/>
          <a:ext cx="0" cy="0"/>
          <a:chOff x="0" y="0"/>
          <a:chExt cx="0" cy="0"/>
        </a:xfrm>
      </p:grpSpPr>
      <p:sp>
        <p:nvSpPr>
          <p:cNvPr id="59" name="Google Shape;59;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PROBLEM STATEMENT</a:t>
            </a:r>
            <a:endParaRPr b="0" i="0" sz="1200" u="none" cap="none" strike="noStrike">
              <a:solidFill>
                <a:schemeClr val="dk1"/>
              </a:solidFill>
              <a:latin typeface="Calibri"/>
              <a:ea typeface="Calibri"/>
              <a:cs typeface="Calibri"/>
              <a:sym typeface="Calibri"/>
            </a:endParaRPr>
          </a:p>
        </p:txBody>
      </p:sp>
      <p:sp>
        <p:nvSpPr>
          <p:cNvPr id="60" name="Google Shape;60;p3"/>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Problem, impact and need</a:t>
            </a:r>
            <a:endParaRPr b="0" i="0" sz="3200" u="none" cap="none" strike="noStrike">
              <a:solidFill>
                <a:schemeClr val="dk1"/>
              </a:solidFill>
              <a:latin typeface="Calibri"/>
              <a:ea typeface="Calibri"/>
              <a:cs typeface="Calibri"/>
              <a:sym typeface="Calibri"/>
            </a:endParaRPr>
          </a:p>
        </p:txBody>
      </p:sp>
      <p:sp>
        <p:nvSpPr>
          <p:cNvPr id="61" name="Google Shape;61;p3"/>
          <p:cNvSpPr/>
          <p:nvPr/>
        </p:nvSpPr>
        <p:spPr>
          <a:xfrm>
            <a:off x="819150" y="1880791"/>
            <a:ext cx="3111500" cy="2204045"/>
          </a:xfrm>
          <a:prstGeom prst="roundRect">
            <a:avLst>
              <a:gd fmla="val 4322"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1079500" y="2141141"/>
            <a:ext cx="26685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PROBLEM</a:t>
            </a:r>
            <a:endParaRPr b="0" i="0" sz="1200" u="none" cap="none" strike="noStrike">
              <a:solidFill>
                <a:schemeClr val="dk1"/>
              </a:solidFill>
              <a:latin typeface="Calibri"/>
              <a:ea typeface="Calibri"/>
              <a:cs typeface="Calibri"/>
              <a:sym typeface="Calibri"/>
            </a:endParaRPr>
          </a:p>
        </p:txBody>
      </p:sp>
      <p:sp>
        <p:nvSpPr>
          <p:cNvPr id="63" name="Google Shape;63;p3"/>
          <p:cNvSpPr/>
          <p:nvPr/>
        </p:nvSpPr>
        <p:spPr>
          <a:xfrm>
            <a:off x="1079500" y="2443361"/>
            <a:ext cx="2668524" cy="1406525"/>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6233A"/>
              </a:buClr>
              <a:buSzPts val="1500"/>
              <a:buFont typeface="Nunito Sans"/>
              <a:buNone/>
            </a:pPr>
            <a:r>
              <a:rPr b="0" i="0" lang="en-US" sz="1500" u="none" cap="none" strike="noStrike">
                <a:solidFill>
                  <a:srgbClr val="16233A"/>
                </a:solidFill>
                <a:latin typeface="Nunito Sans"/>
                <a:ea typeface="Nunito Sans"/>
                <a:cs typeface="Nunito Sans"/>
                <a:sym typeface="Nunito Sans"/>
              </a:rPr>
              <a:t>Marks show how much a student scored, not which concepts they missed. Everyone gets the same material.</a:t>
            </a:r>
            <a:endParaRPr b="0" i="0" sz="1500" u="none" cap="none" strike="noStrike">
              <a:solidFill>
                <a:schemeClr val="dk1"/>
              </a:solidFill>
              <a:latin typeface="Calibri"/>
              <a:ea typeface="Calibri"/>
              <a:cs typeface="Calibri"/>
              <a:sym typeface="Calibri"/>
            </a:endParaRPr>
          </a:p>
        </p:txBody>
      </p:sp>
      <p:pic>
        <p:nvPicPr>
          <p:cNvPr descr="arrow-right" id="64" name="Google Shape;64;p3"/>
          <p:cNvPicPr preferRelativeResize="0"/>
          <p:nvPr/>
        </p:nvPicPr>
        <p:blipFill rotWithShape="1">
          <a:blip r:embed="rId3">
            <a:alphaModFix/>
          </a:blip>
          <a:srcRect b="0" l="0" r="0" t="0"/>
          <a:stretch/>
        </p:blipFill>
        <p:spPr>
          <a:xfrm>
            <a:off x="4064000" y="2893881"/>
            <a:ext cx="355600" cy="177800"/>
          </a:xfrm>
          <a:prstGeom prst="rect">
            <a:avLst/>
          </a:prstGeom>
          <a:noFill/>
          <a:ln>
            <a:noFill/>
          </a:ln>
        </p:spPr>
      </p:pic>
      <p:sp>
        <p:nvSpPr>
          <p:cNvPr id="65" name="Google Shape;65;p3"/>
          <p:cNvSpPr/>
          <p:nvPr/>
        </p:nvSpPr>
        <p:spPr>
          <a:xfrm>
            <a:off x="4552950" y="1880791"/>
            <a:ext cx="3111500" cy="2204045"/>
          </a:xfrm>
          <a:prstGeom prst="roundRect">
            <a:avLst>
              <a:gd fmla="val 4322"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813300" y="2141141"/>
            <a:ext cx="26685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IMPACT</a:t>
            </a:r>
            <a:endParaRPr b="0" i="0" sz="1200" u="none" cap="none" strike="noStrike">
              <a:solidFill>
                <a:schemeClr val="dk1"/>
              </a:solidFill>
              <a:latin typeface="Calibri"/>
              <a:ea typeface="Calibri"/>
              <a:cs typeface="Calibri"/>
              <a:sym typeface="Calibri"/>
            </a:endParaRPr>
          </a:p>
        </p:txBody>
      </p:sp>
      <p:sp>
        <p:nvSpPr>
          <p:cNvPr id="67" name="Google Shape;67;p3"/>
          <p:cNvSpPr/>
          <p:nvPr/>
        </p:nvSpPr>
        <p:spPr>
          <a:xfrm>
            <a:off x="4813300" y="2443361"/>
            <a:ext cx="2668524" cy="113030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6233A"/>
              </a:buClr>
              <a:buSzPts val="1500"/>
              <a:buFont typeface="Nunito Sans"/>
              <a:buNone/>
            </a:pPr>
            <a:r>
              <a:rPr b="0" i="0" lang="en-US" sz="1500" u="none" cap="none" strike="noStrike">
                <a:solidFill>
                  <a:srgbClr val="16233A"/>
                </a:solidFill>
                <a:latin typeface="Nunito Sans"/>
                <a:ea typeface="Nunito Sans"/>
                <a:cs typeface="Nunito Sans"/>
                <a:sym typeface="Nunito Sans"/>
              </a:rPr>
              <a:t>Weak concepts stay hidden, mistakes repeat, and teachers cannot personalize for every student.</a:t>
            </a:r>
            <a:endParaRPr b="0" i="0" sz="1500" u="none" cap="none" strike="noStrike">
              <a:solidFill>
                <a:schemeClr val="dk1"/>
              </a:solidFill>
              <a:latin typeface="Calibri"/>
              <a:ea typeface="Calibri"/>
              <a:cs typeface="Calibri"/>
              <a:sym typeface="Calibri"/>
            </a:endParaRPr>
          </a:p>
        </p:txBody>
      </p:sp>
      <p:pic>
        <p:nvPicPr>
          <p:cNvPr descr="arrow-right" id="68" name="Google Shape;68;p3"/>
          <p:cNvPicPr preferRelativeResize="0"/>
          <p:nvPr/>
        </p:nvPicPr>
        <p:blipFill rotWithShape="1">
          <a:blip r:embed="rId3">
            <a:alphaModFix/>
          </a:blip>
          <a:srcRect b="0" l="0" r="0" t="0"/>
          <a:stretch/>
        </p:blipFill>
        <p:spPr>
          <a:xfrm>
            <a:off x="7797800" y="2893881"/>
            <a:ext cx="355600" cy="177800"/>
          </a:xfrm>
          <a:prstGeom prst="rect">
            <a:avLst/>
          </a:prstGeom>
          <a:noFill/>
          <a:ln>
            <a:noFill/>
          </a:ln>
        </p:spPr>
      </p:pic>
      <p:sp>
        <p:nvSpPr>
          <p:cNvPr id="69" name="Google Shape;69;p3"/>
          <p:cNvSpPr/>
          <p:nvPr/>
        </p:nvSpPr>
        <p:spPr>
          <a:xfrm>
            <a:off x="8280400" y="1874441"/>
            <a:ext cx="3098800" cy="2216745"/>
          </a:xfrm>
          <a:prstGeom prst="roundRect">
            <a:avLst>
              <a:gd fmla="val 4583" name="adj"/>
            </a:avLst>
          </a:prstGeom>
          <a:solidFill>
            <a:srgbClr val="162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8534400" y="2128441"/>
            <a:ext cx="26685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200"/>
              <a:buFont typeface="Nunito Sans"/>
              <a:buNone/>
            </a:pPr>
            <a:r>
              <a:rPr b="1" i="0" lang="en-US" sz="1200" u="none" cap="none" strike="noStrike">
                <a:solidFill>
                  <a:srgbClr val="8FB4F5"/>
                </a:solidFill>
                <a:latin typeface="Nunito Sans"/>
                <a:ea typeface="Nunito Sans"/>
                <a:cs typeface="Nunito Sans"/>
                <a:sym typeface="Nunito Sans"/>
              </a:rPr>
              <a:t>NEED</a:t>
            </a:r>
            <a:endParaRPr b="0" i="0" sz="1200" u="none" cap="none" strike="noStrike">
              <a:solidFill>
                <a:schemeClr val="dk1"/>
              </a:solidFill>
              <a:latin typeface="Calibri"/>
              <a:ea typeface="Calibri"/>
              <a:cs typeface="Calibri"/>
              <a:sym typeface="Calibri"/>
            </a:endParaRPr>
          </a:p>
        </p:txBody>
      </p:sp>
      <p:sp>
        <p:nvSpPr>
          <p:cNvPr id="71" name="Google Shape;71;p3"/>
          <p:cNvSpPr/>
          <p:nvPr/>
        </p:nvSpPr>
        <p:spPr>
          <a:xfrm>
            <a:off x="8534400" y="2430661"/>
            <a:ext cx="2668524" cy="113030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F3F1EA"/>
              </a:buClr>
              <a:buSzPts val="1500"/>
              <a:buFont typeface="Nunito Sans"/>
              <a:buNone/>
            </a:pPr>
            <a:r>
              <a:rPr b="0" i="0" lang="en-US" sz="1500" u="none" cap="none" strike="noStrike">
                <a:solidFill>
                  <a:srgbClr val="F3F1EA"/>
                </a:solidFill>
                <a:latin typeface="Nunito Sans"/>
                <a:ea typeface="Nunito Sans"/>
                <a:cs typeface="Nunito Sans"/>
                <a:sym typeface="Nunito Sans"/>
              </a:rPr>
              <a:t>A system that finds each student's weak concepts and gives targeted help automatically.</a:t>
            </a:r>
            <a:endParaRPr b="0" i="0" sz="1500" u="none" cap="none" strike="noStrike">
              <a:solidFill>
                <a:schemeClr val="dk1"/>
              </a:solidFill>
              <a:latin typeface="Calibri"/>
              <a:ea typeface="Calibri"/>
              <a:cs typeface="Calibri"/>
              <a:sym typeface="Calibri"/>
            </a:endParaRPr>
          </a:p>
        </p:txBody>
      </p:sp>
      <p:sp>
        <p:nvSpPr>
          <p:cNvPr id="72" name="Google Shape;72;p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77" name="Shape 77"/>
        <p:cNvGrpSpPr/>
        <p:nvPr/>
      </p:nvGrpSpPr>
      <p:grpSpPr>
        <a:xfrm>
          <a:off x="0" y="0"/>
          <a:ext cx="0" cy="0"/>
          <a:chOff x="0" y="0"/>
          <a:chExt cx="0" cy="0"/>
        </a:xfrm>
      </p:grpSpPr>
      <p:sp>
        <p:nvSpPr>
          <p:cNvPr id="78" name="Google Shape;78;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LITERATURE REVIEW / RESEARCH GAP</a:t>
            </a:r>
            <a:endParaRPr b="0" i="0" sz="1200" u="none" cap="none" strike="noStrike">
              <a:solidFill>
                <a:schemeClr val="dk1"/>
              </a:solidFill>
              <a:latin typeface="Calibri"/>
              <a:ea typeface="Calibri"/>
              <a:cs typeface="Calibri"/>
              <a:sym typeface="Calibri"/>
            </a:endParaRPr>
          </a:p>
        </p:txBody>
      </p:sp>
      <p:sp>
        <p:nvSpPr>
          <p:cNvPr id="79" name="Google Shape;79;p5"/>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Separate pieces, not one loop</a:t>
            </a:r>
            <a:endParaRPr b="0" i="0" sz="3200" u="none" cap="none" strike="noStrike">
              <a:solidFill>
                <a:schemeClr val="dk1"/>
              </a:solidFill>
              <a:latin typeface="Calibri"/>
              <a:ea typeface="Calibri"/>
              <a:cs typeface="Calibri"/>
              <a:sym typeface="Calibri"/>
            </a:endParaRPr>
          </a:p>
        </p:txBody>
      </p:sp>
      <p:sp>
        <p:nvSpPr>
          <p:cNvPr id="80" name="Google Shape;80;p5"/>
          <p:cNvSpPr/>
          <p:nvPr/>
        </p:nvSpPr>
        <p:spPr>
          <a:xfrm>
            <a:off x="819150" y="1728391"/>
            <a:ext cx="3272367" cy="515607"/>
          </a:xfrm>
          <a:prstGeom prst="roundRect">
            <a:avLst>
              <a:gd fmla="val 13547" name="adj"/>
            </a:avLst>
          </a:prstGeom>
          <a:solidFill>
            <a:srgbClr val="FDFDFB"/>
          </a:solidFill>
          <a:ln cap="flat" cmpd="sng" w="12700">
            <a:solidFill>
              <a:srgbClr val="D5DAE3"/>
            </a:solidFill>
            <a:prstDash val="solid"/>
            <a:round/>
            <a:headEnd len="sm" w="sm" type="none"/>
            <a:tailEnd len="sm" w="sm" type="none"/>
          </a:ln>
        </p:spPr>
        <p:txBody>
          <a:bodyPr anchorCtr="0" anchor="t" bIns="87475" lIns="67800" spcFirstLastPara="1" rIns="67800" wrap="square" tIns="112875">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Adaptive assessment</a:t>
            </a:r>
            <a:endParaRPr b="0" i="0" sz="1400" u="none" cap="none" strike="noStrike">
              <a:solidFill>
                <a:schemeClr val="dk1"/>
              </a:solidFill>
              <a:latin typeface="Calibri"/>
              <a:ea typeface="Calibri"/>
              <a:cs typeface="Calibri"/>
              <a:sym typeface="Calibri"/>
            </a:endParaRPr>
          </a:p>
        </p:txBody>
      </p:sp>
      <p:sp>
        <p:nvSpPr>
          <p:cNvPr id="81" name="Google Shape;81;p5"/>
          <p:cNvSpPr/>
          <p:nvPr/>
        </p:nvSpPr>
        <p:spPr>
          <a:xfrm>
            <a:off x="4199467" y="1808361"/>
            <a:ext cx="20320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000"/>
              <a:buFont typeface="Nunito Sans"/>
              <a:buNone/>
            </a:pPr>
            <a:r>
              <a:rPr b="1" i="0" lang="en-US" sz="2000" u="none" cap="none" strike="noStrike">
                <a:solidFill>
                  <a:srgbClr val="2A5FC0"/>
                </a:solidFill>
                <a:latin typeface="Nunito Sans"/>
                <a:ea typeface="Nunito Sans"/>
                <a:cs typeface="Nunito Sans"/>
                <a:sym typeface="Nunito Sans"/>
              </a:rPr>
              <a:t>+</a:t>
            </a:r>
            <a:endParaRPr b="0" i="0" sz="2000" u="none" cap="none" strike="noStrike">
              <a:solidFill>
                <a:schemeClr val="dk1"/>
              </a:solidFill>
              <a:latin typeface="Calibri"/>
              <a:ea typeface="Calibri"/>
              <a:cs typeface="Calibri"/>
              <a:sym typeface="Calibri"/>
            </a:endParaRPr>
          </a:p>
        </p:txBody>
      </p:sp>
      <p:sp>
        <p:nvSpPr>
          <p:cNvPr id="82" name="Google Shape;82;p5"/>
          <p:cNvSpPr/>
          <p:nvPr/>
        </p:nvSpPr>
        <p:spPr>
          <a:xfrm>
            <a:off x="4459817" y="1728391"/>
            <a:ext cx="3272367" cy="515607"/>
          </a:xfrm>
          <a:prstGeom prst="roundRect">
            <a:avLst>
              <a:gd fmla="val 13547" name="adj"/>
            </a:avLst>
          </a:prstGeom>
          <a:solidFill>
            <a:srgbClr val="FDFDFB"/>
          </a:solidFill>
          <a:ln cap="flat" cmpd="sng" w="12700">
            <a:solidFill>
              <a:srgbClr val="D5DAE3"/>
            </a:solidFill>
            <a:prstDash val="solid"/>
            <a:round/>
            <a:headEnd len="sm" w="sm" type="none"/>
            <a:tailEnd len="sm" w="sm" type="none"/>
          </a:ln>
        </p:spPr>
        <p:txBody>
          <a:bodyPr anchorCtr="0" anchor="t" bIns="87475" lIns="67800" spcFirstLastPara="1" rIns="67800" wrap="square" tIns="112875">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Question generation</a:t>
            </a:r>
            <a:endParaRPr b="0" i="0" sz="1400" u="none" cap="none" strike="noStrike">
              <a:solidFill>
                <a:schemeClr val="dk1"/>
              </a:solidFill>
              <a:latin typeface="Calibri"/>
              <a:ea typeface="Calibri"/>
              <a:cs typeface="Calibri"/>
              <a:sym typeface="Calibri"/>
            </a:endParaRPr>
          </a:p>
        </p:txBody>
      </p:sp>
      <p:sp>
        <p:nvSpPr>
          <p:cNvPr id="83" name="Google Shape;83;p5"/>
          <p:cNvSpPr/>
          <p:nvPr/>
        </p:nvSpPr>
        <p:spPr>
          <a:xfrm>
            <a:off x="7840134" y="1808361"/>
            <a:ext cx="20320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000"/>
              <a:buFont typeface="Nunito Sans"/>
              <a:buNone/>
            </a:pPr>
            <a:r>
              <a:rPr b="1" i="0" lang="en-US" sz="2000" u="none" cap="none" strike="noStrike">
                <a:solidFill>
                  <a:srgbClr val="2A5FC0"/>
                </a:solidFill>
                <a:latin typeface="Nunito Sans"/>
                <a:ea typeface="Nunito Sans"/>
                <a:cs typeface="Nunito Sans"/>
                <a:sym typeface="Nunito Sans"/>
              </a:rPr>
              <a:t>+</a:t>
            </a:r>
            <a:endParaRPr b="0" i="0" sz="2000" u="none" cap="none" strike="noStrike">
              <a:solidFill>
                <a:schemeClr val="dk1"/>
              </a:solidFill>
              <a:latin typeface="Calibri"/>
              <a:ea typeface="Calibri"/>
              <a:cs typeface="Calibri"/>
              <a:sym typeface="Calibri"/>
            </a:endParaRPr>
          </a:p>
        </p:txBody>
      </p:sp>
      <p:sp>
        <p:nvSpPr>
          <p:cNvPr id="84" name="Google Shape;84;p5"/>
          <p:cNvSpPr/>
          <p:nvPr/>
        </p:nvSpPr>
        <p:spPr>
          <a:xfrm>
            <a:off x="8100484" y="1728391"/>
            <a:ext cx="3272367" cy="515607"/>
          </a:xfrm>
          <a:prstGeom prst="roundRect">
            <a:avLst>
              <a:gd fmla="val 13547" name="adj"/>
            </a:avLst>
          </a:prstGeom>
          <a:solidFill>
            <a:srgbClr val="FDFDFB"/>
          </a:solidFill>
          <a:ln cap="flat" cmpd="sng" w="12700">
            <a:solidFill>
              <a:srgbClr val="D5DAE3"/>
            </a:solidFill>
            <a:prstDash val="solid"/>
            <a:round/>
            <a:headEnd len="sm" w="sm" type="none"/>
            <a:tailEnd len="sm" w="sm" type="none"/>
          </a:ln>
        </p:spPr>
        <p:txBody>
          <a:bodyPr anchorCtr="0" anchor="t" bIns="87475" lIns="67800" spcFirstLastPara="1" rIns="67800" wrap="square" tIns="112875">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Knowledge tracing</a:t>
            </a:r>
            <a:endParaRPr b="0" i="0" sz="1400" u="none" cap="none" strike="noStrike">
              <a:solidFill>
                <a:schemeClr val="dk1"/>
              </a:solidFill>
              <a:latin typeface="Calibri"/>
              <a:ea typeface="Calibri"/>
              <a:cs typeface="Calibri"/>
              <a:sym typeface="Calibri"/>
            </a:endParaRPr>
          </a:p>
        </p:txBody>
      </p:sp>
      <p:pic>
        <p:nvPicPr>
          <p:cNvPr descr="arrow-down" id="85" name="Google Shape;85;p5"/>
          <p:cNvPicPr preferRelativeResize="0"/>
          <p:nvPr/>
        </p:nvPicPr>
        <p:blipFill rotWithShape="1">
          <a:blip r:embed="rId3">
            <a:alphaModFix/>
          </a:blip>
          <a:srcRect b="0" l="0" r="0" t="0"/>
          <a:stretch/>
        </p:blipFill>
        <p:spPr>
          <a:xfrm>
            <a:off x="6019800" y="2402749"/>
            <a:ext cx="152400" cy="254000"/>
          </a:xfrm>
          <a:prstGeom prst="rect">
            <a:avLst/>
          </a:prstGeom>
          <a:noFill/>
          <a:ln>
            <a:noFill/>
          </a:ln>
        </p:spPr>
      </p:pic>
      <p:sp>
        <p:nvSpPr>
          <p:cNvPr id="86" name="Google Shape;86;p5"/>
          <p:cNvSpPr/>
          <p:nvPr/>
        </p:nvSpPr>
        <p:spPr>
          <a:xfrm>
            <a:off x="819150" y="2815499"/>
            <a:ext cx="10553700" cy="515607"/>
          </a:xfrm>
          <a:prstGeom prst="roundRect">
            <a:avLst>
              <a:gd fmla="val 13547" name="adj"/>
            </a:avLst>
          </a:prstGeom>
          <a:solidFill>
            <a:srgbClr val="FBF1DF"/>
          </a:solidFill>
          <a:ln cap="flat" cmpd="sng" w="12700">
            <a:solidFill>
              <a:srgbClr val="A9540F"/>
            </a:solidFill>
            <a:prstDash val="solid"/>
            <a:round/>
            <a:headEnd len="sm" w="sm" type="none"/>
            <a:tailEnd len="sm" w="sm" type="none"/>
          </a:ln>
        </p:spPr>
        <p:txBody>
          <a:bodyPr anchorCtr="0" anchor="t" bIns="87475" lIns="0" spcFirstLastPara="1" rIns="0" wrap="square" tIns="112875">
            <a:normAutofit/>
          </a:bodyPr>
          <a:lstStyle/>
          <a:p>
            <a:pPr indent="0" lvl="0" marL="0" marR="0" rtl="0" algn="ctr">
              <a:lnSpc>
                <a:spcPct val="14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Research gap:</a:t>
            </a:r>
            <a:r>
              <a:rPr b="0" i="0" lang="en-US" sz="1400" u="none" cap="none" strike="noStrike">
                <a:solidFill>
                  <a:srgbClr val="16233A"/>
                </a:solidFill>
                <a:latin typeface="Nunito Sans"/>
                <a:ea typeface="Nunito Sans"/>
                <a:cs typeface="Nunito Sans"/>
                <a:sym typeface="Nunito Sans"/>
              </a:rPr>
              <a:t> these are usually studied separately and rarely linked to Outcome-Based Education targets.</a:t>
            </a:r>
            <a:endParaRPr b="0" i="0" sz="1400" u="none" cap="none" strike="noStrike">
              <a:solidFill>
                <a:schemeClr val="dk1"/>
              </a:solidFill>
              <a:latin typeface="Calibri"/>
              <a:ea typeface="Calibri"/>
              <a:cs typeface="Calibri"/>
              <a:sym typeface="Calibri"/>
            </a:endParaRPr>
          </a:p>
        </p:txBody>
      </p:sp>
      <p:pic>
        <p:nvPicPr>
          <p:cNvPr descr="arrow-down" id="87" name="Google Shape;87;p5"/>
          <p:cNvPicPr preferRelativeResize="0"/>
          <p:nvPr/>
        </p:nvPicPr>
        <p:blipFill rotWithShape="1">
          <a:blip r:embed="rId3">
            <a:alphaModFix/>
          </a:blip>
          <a:srcRect b="0" l="0" r="0" t="0"/>
          <a:stretch/>
        </p:blipFill>
        <p:spPr>
          <a:xfrm>
            <a:off x="6019800" y="3489855"/>
            <a:ext cx="152400" cy="254000"/>
          </a:xfrm>
          <a:prstGeom prst="rect">
            <a:avLst/>
          </a:prstGeom>
          <a:noFill/>
          <a:ln>
            <a:noFill/>
          </a:ln>
        </p:spPr>
      </p:pic>
      <p:sp>
        <p:nvSpPr>
          <p:cNvPr id="88" name="Google Shape;88;p5"/>
          <p:cNvSpPr/>
          <p:nvPr/>
        </p:nvSpPr>
        <p:spPr>
          <a:xfrm>
            <a:off x="812800" y="3896255"/>
            <a:ext cx="10566400" cy="835620"/>
          </a:xfrm>
          <a:prstGeom prst="roundRect">
            <a:avLst>
              <a:gd fmla="val 9119" name="adj"/>
            </a:avLst>
          </a:prstGeom>
          <a:solidFill>
            <a:srgbClr val="162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863600" y="4048655"/>
            <a:ext cx="10464800" cy="29210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3F1EA"/>
              </a:buClr>
              <a:buSzPts val="1500"/>
              <a:buFont typeface="Nunito Sans"/>
              <a:buNone/>
            </a:pPr>
            <a:r>
              <a:rPr b="1" i="0" lang="en-US" sz="1500" u="none" cap="none" strike="noStrike">
                <a:solidFill>
                  <a:srgbClr val="F3F1EA"/>
                </a:solidFill>
                <a:latin typeface="Nunito Sans"/>
                <a:ea typeface="Nunito Sans"/>
                <a:cs typeface="Nunito Sans"/>
                <a:sym typeface="Nunito Sans"/>
              </a:rPr>
              <a:t>Integrated personalized remedial learning system</a:t>
            </a:r>
            <a:endParaRPr b="0" i="0" sz="1500" u="none" cap="none" strike="noStrike">
              <a:solidFill>
                <a:schemeClr val="dk1"/>
              </a:solidFill>
              <a:latin typeface="Calibri"/>
              <a:ea typeface="Calibri"/>
              <a:cs typeface="Calibri"/>
              <a:sym typeface="Calibri"/>
            </a:endParaRPr>
          </a:p>
        </p:txBody>
      </p:sp>
      <p:sp>
        <p:nvSpPr>
          <p:cNvPr id="90" name="Google Shape;90;p5"/>
          <p:cNvSpPr/>
          <p:nvPr/>
        </p:nvSpPr>
        <p:spPr>
          <a:xfrm>
            <a:off x="863600" y="4366155"/>
            <a:ext cx="104648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C9D3E3"/>
              </a:buClr>
              <a:buSzPts val="1200"/>
              <a:buFont typeface="Nunito Sans"/>
              <a:buNone/>
            </a:pPr>
            <a:r>
              <a:rPr b="0" i="0" lang="en-US" sz="1200" u="none" cap="none" strike="noStrike">
                <a:solidFill>
                  <a:srgbClr val="C9D3E3"/>
                </a:solidFill>
                <a:latin typeface="Nunito Sans"/>
                <a:ea typeface="Nunito Sans"/>
                <a:cs typeface="Nunito Sans"/>
                <a:sym typeface="Nunito Sans"/>
              </a:rPr>
              <a:t>Framework of Pradeesh et al. (IEEE Access, 2025), implemented by us with free/offline models, unit-aware retrieval and calibrated mastery</a:t>
            </a:r>
            <a:endParaRPr b="0" i="0" sz="1200" u="none" cap="none" strike="noStrike">
              <a:solidFill>
                <a:schemeClr val="dk1"/>
              </a:solidFill>
              <a:latin typeface="Calibri"/>
              <a:ea typeface="Calibri"/>
              <a:cs typeface="Calibri"/>
              <a:sym typeface="Calibri"/>
            </a:endParaRPr>
          </a:p>
        </p:txBody>
      </p:sp>
      <p:sp>
        <p:nvSpPr>
          <p:cNvPr id="91" name="Google Shape;91;p5"/>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96" name="Shape 96"/>
        <p:cNvGrpSpPr/>
        <p:nvPr/>
      </p:nvGrpSpPr>
      <p:grpSpPr>
        <a:xfrm>
          <a:off x="0" y="0"/>
          <a:ext cx="0" cy="0"/>
          <a:chOff x="0" y="0"/>
          <a:chExt cx="0" cy="0"/>
        </a:xfrm>
      </p:grpSpPr>
      <p:sp>
        <p:nvSpPr>
          <p:cNvPr id="97" name="Google Shape;97;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FINAL SYSTEM ARCHITECTURE</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The system as implemented</a:t>
            </a:r>
            <a:endParaRPr b="0" i="0" sz="3200" u="none" cap="none" strike="noStrike">
              <a:solidFill>
                <a:schemeClr val="dk1"/>
              </a:solidFill>
              <a:latin typeface="Calibri"/>
              <a:ea typeface="Calibri"/>
              <a:cs typeface="Calibri"/>
              <a:sym typeface="Calibri"/>
            </a:endParaRPr>
          </a:p>
        </p:txBody>
      </p:sp>
      <p:sp>
        <p:nvSpPr>
          <p:cNvPr id="99" name="Google Shape;99;p6"/>
          <p:cNvSpPr/>
          <p:nvPr/>
        </p:nvSpPr>
        <p:spPr>
          <a:xfrm>
            <a:off x="819150" y="191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Course PDF</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3003550" y="1911350"/>
            <a:ext cx="1765300" cy="685800"/>
          </a:xfrm>
          <a:prstGeom prst="roundRect">
            <a:avLst>
              <a:gd fmla="val 10185" name="adj"/>
            </a:avLst>
          </a:prstGeom>
          <a:solidFill>
            <a:srgbClr val="FDFDFB"/>
          </a:solidFill>
          <a:ln cap="flat" cmpd="sng" w="12700">
            <a:solidFill>
              <a:srgbClr val="C5CCD9"/>
            </a:solidFill>
            <a:prstDash val="solid"/>
            <a:round/>
            <a:headEnd len="sm" w="sm" type="none"/>
            <a:tailEnd len="sm" w="sm" type="none"/>
          </a:ln>
        </p:spPr>
        <p:txBody>
          <a:bodyPr anchorCtr="0" anchor="ctr" bIns="49375" lIns="0" spcFirstLastPara="1" rIns="0" wrap="square" tIns="49375">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PDF extraction (pypdf)</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5187950" y="191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Unit-aware chunking</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7372350" y="191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MiniLM embeddings</a:t>
            </a:r>
            <a:endParaRPr b="0" i="0" sz="1200" u="none" cap="none" strike="noStrike">
              <a:solidFill>
                <a:schemeClr val="dk1"/>
              </a:solidFill>
              <a:latin typeface="Calibri"/>
              <a:ea typeface="Calibri"/>
              <a:cs typeface="Calibri"/>
              <a:sym typeface="Calibri"/>
            </a:endParaRPr>
          </a:p>
        </p:txBody>
      </p:sp>
      <p:sp>
        <p:nvSpPr>
          <p:cNvPr id="103" name="Google Shape;103;p6"/>
          <p:cNvSpPr/>
          <p:nvPr/>
        </p:nvSpPr>
        <p:spPr>
          <a:xfrm>
            <a:off x="9556750" y="191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FAISS vector DB</a:t>
            </a:r>
            <a:endParaRPr b="0" i="0" sz="1200" u="none" cap="none" strike="noStrike">
              <a:solidFill>
                <a:schemeClr val="dk1"/>
              </a:solidFill>
              <a:latin typeface="Calibri"/>
              <a:ea typeface="Calibri"/>
              <a:cs typeface="Calibri"/>
              <a:sym typeface="Calibri"/>
            </a:endParaRPr>
          </a:p>
        </p:txBody>
      </p:sp>
      <p:sp>
        <p:nvSpPr>
          <p:cNvPr id="104" name="Google Shape;104;p6"/>
          <p:cNvSpPr/>
          <p:nvPr/>
        </p:nvSpPr>
        <p:spPr>
          <a:xfrm>
            <a:off x="95567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RAG retrieval</a:t>
            </a:r>
            <a:endParaRPr b="0" i="0" sz="1200" u="none" cap="none" strike="noStrike">
              <a:solidFill>
                <a:schemeClr val="dk1"/>
              </a:solidFill>
              <a:latin typeface="Calibri"/>
              <a:ea typeface="Calibri"/>
              <a:cs typeface="Calibri"/>
              <a:sym typeface="Calibri"/>
            </a:endParaRPr>
          </a:p>
        </p:txBody>
      </p:sp>
      <p:sp>
        <p:nvSpPr>
          <p:cNvPr id="105" name="Google Shape;105;p6"/>
          <p:cNvSpPr/>
          <p:nvPr/>
        </p:nvSpPr>
        <p:spPr>
          <a:xfrm>
            <a:off x="73723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MCQ generation + dedup</a:t>
            </a:r>
            <a:endParaRPr b="0" i="0" sz="1200" u="none" cap="none" strike="noStrike">
              <a:solidFill>
                <a:schemeClr val="dk1"/>
              </a:solidFill>
              <a:latin typeface="Calibri"/>
              <a:ea typeface="Calibri"/>
              <a:cs typeface="Calibri"/>
              <a:sym typeface="Calibri"/>
            </a:endParaRPr>
          </a:p>
        </p:txBody>
      </p:sp>
      <p:sp>
        <p:nvSpPr>
          <p:cNvPr id="106" name="Google Shape;106;p6"/>
          <p:cNvSpPr/>
          <p:nvPr/>
        </p:nvSpPr>
        <p:spPr>
          <a:xfrm>
            <a:off x="51879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Adaptive quiz (web)</a:t>
            </a:r>
            <a:endParaRPr b="0" i="0" sz="1200" u="none" cap="none" strike="noStrike">
              <a:solidFill>
                <a:schemeClr val="dk1"/>
              </a:solidFill>
              <a:latin typeface="Calibri"/>
              <a:ea typeface="Calibri"/>
              <a:cs typeface="Calibri"/>
              <a:sym typeface="Calibri"/>
            </a:endParaRPr>
          </a:p>
        </p:txBody>
      </p:sp>
      <p:sp>
        <p:nvSpPr>
          <p:cNvPr id="107" name="Google Shape;107;p6"/>
          <p:cNvSpPr/>
          <p:nvPr/>
        </p:nvSpPr>
        <p:spPr>
          <a:xfrm>
            <a:off x="30035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Answer storage (OBE records)</a:t>
            </a:r>
            <a:endParaRPr b="0" i="0" sz="1200" u="none" cap="none" strike="noStrike">
              <a:solidFill>
                <a:schemeClr val="dk1"/>
              </a:solidFill>
              <a:latin typeface="Calibri"/>
              <a:ea typeface="Calibri"/>
              <a:cs typeface="Calibri"/>
              <a:sym typeface="Calibri"/>
            </a:endParaRPr>
          </a:p>
        </p:txBody>
      </p:sp>
      <p:sp>
        <p:nvSpPr>
          <p:cNvPr id="108" name="Google Shape;108;p6"/>
          <p:cNvSpPr/>
          <p:nvPr/>
        </p:nvSpPr>
        <p:spPr>
          <a:xfrm>
            <a:off x="819150" y="318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EKT knowledge tracing</a:t>
            </a:r>
            <a:endParaRPr b="0" i="0" sz="1200" u="none" cap="none" strike="noStrike">
              <a:solidFill>
                <a:schemeClr val="dk1"/>
              </a:solidFill>
              <a:latin typeface="Calibri"/>
              <a:ea typeface="Calibri"/>
              <a:cs typeface="Calibri"/>
              <a:sym typeface="Calibri"/>
            </a:endParaRPr>
          </a:p>
        </p:txBody>
      </p:sp>
      <p:sp>
        <p:nvSpPr>
          <p:cNvPr id="109" name="Google Shape;109;p6"/>
          <p:cNvSpPr/>
          <p:nvPr/>
        </p:nvSpPr>
        <p:spPr>
          <a:xfrm>
            <a:off x="8191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Weak concepts (below 70%)</a:t>
            </a:r>
            <a:endParaRPr b="0" i="0" sz="1200" u="none" cap="none" strike="noStrike">
              <a:solidFill>
                <a:schemeClr val="dk1"/>
              </a:solidFill>
              <a:latin typeface="Calibri"/>
              <a:ea typeface="Calibri"/>
              <a:cs typeface="Calibri"/>
              <a:sym typeface="Calibri"/>
            </a:endParaRPr>
          </a:p>
        </p:txBody>
      </p:sp>
      <p:sp>
        <p:nvSpPr>
          <p:cNvPr id="110" name="Google Shape;110;p6"/>
          <p:cNvSpPr/>
          <p:nvPr/>
        </p:nvSpPr>
        <p:spPr>
          <a:xfrm>
            <a:off x="30035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Remedial generator</a:t>
            </a:r>
            <a:endParaRPr b="0" i="0" sz="1200" u="none" cap="none" strike="noStrike">
              <a:solidFill>
                <a:schemeClr val="dk1"/>
              </a:solidFill>
              <a:latin typeface="Calibri"/>
              <a:ea typeface="Calibri"/>
              <a:cs typeface="Calibri"/>
              <a:sym typeface="Calibri"/>
            </a:endParaRPr>
          </a:p>
        </p:txBody>
      </p:sp>
      <p:sp>
        <p:nvSpPr>
          <p:cNvPr id="111" name="Google Shape;111;p6"/>
          <p:cNvSpPr/>
          <p:nvPr/>
        </p:nvSpPr>
        <p:spPr>
          <a:xfrm>
            <a:off x="51879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Recommendation + study PDF</a:t>
            </a:r>
            <a:endParaRPr b="0" i="0" sz="1200" u="none" cap="none" strike="noStrike">
              <a:solidFill>
                <a:schemeClr val="dk1"/>
              </a:solidFill>
              <a:latin typeface="Calibri"/>
              <a:ea typeface="Calibri"/>
              <a:cs typeface="Calibri"/>
              <a:sym typeface="Calibri"/>
            </a:endParaRPr>
          </a:p>
        </p:txBody>
      </p:sp>
      <p:sp>
        <p:nvSpPr>
          <p:cNvPr id="112" name="Google Shape;112;p6"/>
          <p:cNvSpPr/>
          <p:nvPr/>
        </p:nvSpPr>
        <p:spPr>
          <a:xfrm>
            <a:off x="73723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Re-test</a:t>
            </a:r>
            <a:endParaRPr b="0" i="0" sz="1200" u="none" cap="none" strike="noStrike">
              <a:solidFill>
                <a:schemeClr val="dk1"/>
              </a:solidFill>
              <a:latin typeface="Calibri"/>
              <a:ea typeface="Calibri"/>
              <a:cs typeface="Calibri"/>
              <a:sym typeface="Calibri"/>
            </a:endParaRPr>
          </a:p>
        </p:txBody>
      </p:sp>
      <p:sp>
        <p:nvSpPr>
          <p:cNvPr id="113" name="Google Shape;113;p6"/>
          <p:cNvSpPr/>
          <p:nvPr/>
        </p:nvSpPr>
        <p:spPr>
          <a:xfrm>
            <a:off x="9556750" y="4451350"/>
            <a:ext cx="1765300" cy="685800"/>
          </a:xfrm>
          <a:custGeom>
            <a:rect b="b" l="l" r="r" t="t"/>
            <a:pathLst>
              <a:path extrusionOk="0" h="685800" w="1765300">
                <a:moveTo>
                  <a:pt x="69850" y="0"/>
                </a:moveTo>
                <a:lnTo>
                  <a:pt x="1695450" y="0"/>
                </a:lnTo>
                <a:cubicBezTo>
                  <a:pt x="1713975" y="0"/>
                  <a:pt x="1731742" y="7359"/>
                  <a:pt x="1744841" y="20459"/>
                </a:cubicBezTo>
                <a:cubicBezTo>
                  <a:pt x="1757941" y="33558"/>
                  <a:pt x="1765300" y="51325"/>
                  <a:pt x="1765300" y="69850"/>
                </a:cubicBezTo>
                <a:lnTo>
                  <a:pt x="1765300" y="615950"/>
                </a:lnTo>
                <a:cubicBezTo>
                  <a:pt x="1765300" y="654527"/>
                  <a:pt x="1734027" y="685800"/>
                  <a:pt x="1695450" y="685800"/>
                </a:cubicBezTo>
                <a:lnTo>
                  <a:pt x="69850" y="685800"/>
                </a:lnTo>
                <a:cubicBezTo>
                  <a:pt x="31273" y="685800"/>
                  <a:pt x="0" y="654527"/>
                  <a:pt x="0" y="615950"/>
                </a:cubicBezTo>
                <a:lnTo>
                  <a:pt x="0" y="69850"/>
                </a:lnTo>
                <a:cubicBezTo>
                  <a:pt x="0" y="31273"/>
                  <a:pt x="31273" y="0"/>
                  <a:pt x="69850" y="0"/>
                </a:cubicBezTo>
                <a:close/>
              </a:path>
            </a:pathLst>
          </a:custGeom>
          <a:solidFill>
            <a:srgbClr val="FDFDFB"/>
          </a:solidFill>
          <a:ln cap="flat" cmpd="sng" w="12700">
            <a:solidFill>
              <a:srgbClr val="C5CCD9"/>
            </a:solidFill>
            <a:prstDash val="solid"/>
            <a:round/>
            <a:headEnd len="sm" w="sm" type="none"/>
            <a:tailEnd len="sm" w="sm" type="none"/>
          </a:ln>
        </p:spPr>
        <p:txBody>
          <a:bodyPr anchorCtr="0" anchor="ctr" bIns="69850" lIns="44450" spcFirstLastPara="1" rIns="44450" wrap="square" tIns="69850">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Progress report</a:t>
            </a:r>
            <a:endParaRPr b="0" i="0" sz="1200" u="none" cap="none" strike="noStrike">
              <a:solidFill>
                <a:schemeClr val="dk1"/>
              </a:solidFill>
              <a:latin typeface="Calibri"/>
              <a:ea typeface="Calibri"/>
              <a:cs typeface="Calibri"/>
              <a:sym typeface="Calibri"/>
            </a:endParaRPr>
          </a:p>
        </p:txBody>
      </p:sp>
      <p:pic>
        <p:nvPicPr>
          <p:cNvPr descr="connector" id="114" name="Google Shape;114;p6"/>
          <p:cNvPicPr preferRelativeResize="0"/>
          <p:nvPr/>
        </p:nvPicPr>
        <p:blipFill rotWithShape="1">
          <a:blip r:embed="rId3">
            <a:alphaModFix/>
          </a:blip>
          <a:srcRect b="0" l="0" r="0" t="0"/>
          <a:stretch/>
        </p:blipFill>
        <p:spPr>
          <a:xfrm>
            <a:off x="2527300" y="2190750"/>
            <a:ext cx="533400" cy="127000"/>
          </a:xfrm>
          <a:prstGeom prst="rect">
            <a:avLst/>
          </a:prstGeom>
          <a:noFill/>
          <a:ln>
            <a:noFill/>
          </a:ln>
        </p:spPr>
      </p:pic>
      <p:pic>
        <p:nvPicPr>
          <p:cNvPr descr="connector" id="115" name="Google Shape;115;p6"/>
          <p:cNvPicPr preferRelativeResize="0"/>
          <p:nvPr/>
        </p:nvPicPr>
        <p:blipFill rotWithShape="1">
          <a:blip r:embed="rId3">
            <a:alphaModFix/>
          </a:blip>
          <a:srcRect b="0" l="0" r="0" t="0"/>
          <a:stretch/>
        </p:blipFill>
        <p:spPr>
          <a:xfrm>
            <a:off x="4711700" y="2190750"/>
            <a:ext cx="533400" cy="127000"/>
          </a:xfrm>
          <a:prstGeom prst="rect">
            <a:avLst/>
          </a:prstGeom>
          <a:noFill/>
          <a:ln>
            <a:noFill/>
          </a:ln>
        </p:spPr>
      </p:pic>
      <p:pic>
        <p:nvPicPr>
          <p:cNvPr descr="connector" id="116" name="Google Shape;116;p6"/>
          <p:cNvPicPr preferRelativeResize="0"/>
          <p:nvPr/>
        </p:nvPicPr>
        <p:blipFill rotWithShape="1">
          <a:blip r:embed="rId3">
            <a:alphaModFix/>
          </a:blip>
          <a:srcRect b="0" l="0" r="0" t="0"/>
          <a:stretch/>
        </p:blipFill>
        <p:spPr>
          <a:xfrm>
            <a:off x="6896100" y="2190750"/>
            <a:ext cx="533400" cy="127000"/>
          </a:xfrm>
          <a:prstGeom prst="rect">
            <a:avLst/>
          </a:prstGeom>
          <a:noFill/>
          <a:ln>
            <a:noFill/>
          </a:ln>
        </p:spPr>
      </p:pic>
      <p:pic>
        <p:nvPicPr>
          <p:cNvPr descr="connector" id="117" name="Google Shape;117;p6"/>
          <p:cNvPicPr preferRelativeResize="0"/>
          <p:nvPr/>
        </p:nvPicPr>
        <p:blipFill rotWithShape="1">
          <a:blip r:embed="rId3">
            <a:alphaModFix/>
          </a:blip>
          <a:srcRect b="0" l="0" r="0" t="0"/>
          <a:stretch/>
        </p:blipFill>
        <p:spPr>
          <a:xfrm>
            <a:off x="9080500" y="2190750"/>
            <a:ext cx="533400" cy="127000"/>
          </a:xfrm>
          <a:prstGeom prst="rect">
            <a:avLst/>
          </a:prstGeom>
          <a:noFill/>
          <a:ln>
            <a:noFill/>
          </a:ln>
        </p:spPr>
      </p:pic>
      <p:pic>
        <p:nvPicPr>
          <p:cNvPr descr="connector" id="118" name="Google Shape;118;p6"/>
          <p:cNvPicPr preferRelativeResize="0"/>
          <p:nvPr/>
        </p:nvPicPr>
        <p:blipFill rotWithShape="1">
          <a:blip r:embed="rId4">
            <a:alphaModFix/>
          </a:blip>
          <a:srcRect b="0" l="0" r="0" t="0"/>
          <a:stretch/>
        </p:blipFill>
        <p:spPr>
          <a:xfrm>
            <a:off x="10375900" y="2540000"/>
            <a:ext cx="127000" cy="698500"/>
          </a:xfrm>
          <a:prstGeom prst="rect">
            <a:avLst/>
          </a:prstGeom>
          <a:noFill/>
          <a:ln>
            <a:noFill/>
          </a:ln>
        </p:spPr>
      </p:pic>
      <p:pic>
        <p:nvPicPr>
          <p:cNvPr descr="connector" id="119" name="Google Shape;119;p6"/>
          <p:cNvPicPr preferRelativeResize="0"/>
          <p:nvPr/>
        </p:nvPicPr>
        <p:blipFill rotWithShape="1">
          <a:blip r:embed="rId5">
            <a:alphaModFix/>
          </a:blip>
          <a:srcRect b="0" l="0" r="0" t="0"/>
          <a:stretch/>
        </p:blipFill>
        <p:spPr>
          <a:xfrm>
            <a:off x="9080500" y="3460750"/>
            <a:ext cx="533400" cy="127000"/>
          </a:xfrm>
          <a:prstGeom prst="rect">
            <a:avLst/>
          </a:prstGeom>
          <a:noFill/>
          <a:ln>
            <a:noFill/>
          </a:ln>
        </p:spPr>
      </p:pic>
      <p:pic>
        <p:nvPicPr>
          <p:cNvPr descr="connector" id="120" name="Google Shape;120;p6"/>
          <p:cNvPicPr preferRelativeResize="0"/>
          <p:nvPr/>
        </p:nvPicPr>
        <p:blipFill rotWithShape="1">
          <a:blip r:embed="rId5">
            <a:alphaModFix/>
          </a:blip>
          <a:srcRect b="0" l="0" r="0" t="0"/>
          <a:stretch/>
        </p:blipFill>
        <p:spPr>
          <a:xfrm>
            <a:off x="6896100" y="3460750"/>
            <a:ext cx="533400" cy="127000"/>
          </a:xfrm>
          <a:prstGeom prst="rect">
            <a:avLst/>
          </a:prstGeom>
          <a:noFill/>
          <a:ln>
            <a:noFill/>
          </a:ln>
        </p:spPr>
      </p:pic>
      <p:pic>
        <p:nvPicPr>
          <p:cNvPr descr="connector" id="121" name="Google Shape;121;p6"/>
          <p:cNvPicPr preferRelativeResize="0"/>
          <p:nvPr/>
        </p:nvPicPr>
        <p:blipFill rotWithShape="1">
          <a:blip r:embed="rId5">
            <a:alphaModFix/>
          </a:blip>
          <a:srcRect b="0" l="0" r="0" t="0"/>
          <a:stretch/>
        </p:blipFill>
        <p:spPr>
          <a:xfrm>
            <a:off x="4711700" y="3460750"/>
            <a:ext cx="533400" cy="127000"/>
          </a:xfrm>
          <a:prstGeom prst="rect">
            <a:avLst/>
          </a:prstGeom>
          <a:noFill/>
          <a:ln>
            <a:noFill/>
          </a:ln>
        </p:spPr>
      </p:pic>
      <p:pic>
        <p:nvPicPr>
          <p:cNvPr descr="connector" id="122" name="Google Shape;122;p6"/>
          <p:cNvPicPr preferRelativeResize="0"/>
          <p:nvPr/>
        </p:nvPicPr>
        <p:blipFill rotWithShape="1">
          <a:blip r:embed="rId5">
            <a:alphaModFix/>
          </a:blip>
          <a:srcRect b="0" l="0" r="0" t="0"/>
          <a:stretch/>
        </p:blipFill>
        <p:spPr>
          <a:xfrm>
            <a:off x="2527300" y="3460750"/>
            <a:ext cx="533400" cy="127000"/>
          </a:xfrm>
          <a:prstGeom prst="rect">
            <a:avLst/>
          </a:prstGeom>
          <a:noFill/>
          <a:ln>
            <a:noFill/>
          </a:ln>
        </p:spPr>
      </p:pic>
      <p:pic>
        <p:nvPicPr>
          <p:cNvPr descr="connector" id="123" name="Google Shape;123;p6"/>
          <p:cNvPicPr preferRelativeResize="0"/>
          <p:nvPr/>
        </p:nvPicPr>
        <p:blipFill rotWithShape="1">
          <a:blip r:embed="rId4">
            <a:alphaModFix/>
          </a:blip>
          <a:srcRect b="0" l="0" r="0" t="0"/>
          <a:stretch/>
        </p:blipFill>
        <p:spPr>
          <a:xfrm>
            <a:off x="1638300" y="3810000"/>
            <a:ext cx="127000" cy="698500"/>
          </a:xfrm>
          <a:prstGeom prst="rect">
            <a:avLst/>
          </a:prstGeom>
          <a:noFill/>
          <a:ln>
            <a:noFill/>
          </a:ln>
        </p:spPr>
      </p:pic>
      <p:pic>
        <p:nvPicPr>
          <p:cNvPr descr="connector" id="124" name="Google Shape;124;p6"/>
          <p:cNvPicPr preferRelativeResize="0"/>
          <p:nvPr/>
        </p:nvPicPr>
        <p:blipFill rotWithShape="1">
          <a:blip r:embed="rId3">
            <a:alphaModFix/>
          </a:blip>
          <a:srcRect b="0" l="0" r="0" t="0"/>
          <a:stretch/>
        </p:blipFill>
        <p:spPr>
          <a:xfrm>
            <a:off x="2527300" y="4730750"/>
            <a:ext cx="533400" cy="127000"/>
          </a:xfrm>
          <a:prstGeom prst="rect">
            <a:avLst/>
          </a:prstGeom>
          <a:noFill/>
          <a:ln>
            <a:noFill/>
          </a:ln>
        </p:spPr>
      </p:pic>
      <p:pic>
        <p:nvPicPr>
          <p:cNvPr descr="connector" id="125" name="Google Shape;125;p6"/>
          <p:cNvPicPr preferRelativeResize="0"/>
          <p:nvPr/>
        </p:nvPicPr>
        <p:blipFill rotWithShape="1">
          <a:blip r:embed="rId3">
            <a:alphaModFix/>
          </a:blip>
          <a:srcRect b="0" l="0" r="0" t="0"/>
          <a:stretch/>
        </p:blipFill>
        <p:spPr>
          <a:xfrm>
            <a:off x="4711700" y="4730750"/>
            <a:ext cx="533400" cy="127000"/>
          </a:xfrm>
          <a:prstGeom prst="rect">
            <a:avLst/>
          </a:prstGeom>
          <a:noFill/>
          <a:ln>
            <a:noFill/>
          </a:ln>
        </p:spPr>
      </p:pic>
      <p:pic>
        <p:nvPicPr>
          <p:cNvPr descr="connector" id="126" name="Google Shape;126;p6"/>
          <p:cNvPicPr preferRelativeResize="0"/>
          <p:nvPr/>
        </p:nvPicPr>
        <p:blipFill rotWithShape="1">
          <a:blip r:embed="rId3">
            <a:alphaModFix/>
          </a:blip>
          <a:srcRect b="0" l="0" r="0" t="0"/>
          <a:stretch/>
        </p:blipFill>
        <p:spPr>
          <a:xfrm>
            <a:off x="6896100" y="4730750"/>
            <a:ext cx="533400" cy="127000"/>
          </a:xfrm>
          <a:prstGeom prst="rect">
            <a:avLst/>
          </a:prstGeom>
          <a:noFill/>
          <a:ln>
            <a:noFill/>
          </a:ln>
        </p:spPr>
      </p:pic>
      <p:pic>
        <p:nvPicPr>
          <p:cNvPr descr="connector" id="127" name="Google Shape;127;p6"/>
          <p:cNvPicPr preferRelativeResize="0"/>
          <p:nvPr/>
        </p:nvPicPr>
        <p:blipFill rotWithShape="1">
          <a:blip r:embed="rId3">
            <a:alphaModFix/>
          </a:blip>
          <a:srcRect b="0" l="0" r="0" t="0"/>
          <a:stretch/>
        </p:blipFill>
        <p:spPr>
          <a:xfrm>
            <a:off x="9080500" y="4730750"/>
            <a:ext cx="533400" cy="127000"/>
          </a:xfrm>
          <a:prstGeom prst="rect">
            <a:avLst/>
          </a:prstGeom>
          <a:noFill/>
          <a:ln>
            <a:noFill/>
          </a:ln>
        </p:spPr>
      </p:pic>
      <p:pic>
        <p:nvPicPr>
          <p:cNvPr descr="connector" id="128" name="Google Shape;128;p6"/>
          <p:cNvPicPr preferRelativeResize="0"/>
          <p:nvPr/>
        </p:nvPicPr>
        <p:blipFill rotWithShape="1">
          <a:blip r:embed="rId6">
            <a:alphaModFix/>
          </a:blip>
          <a:srcRect b="0" l="0" r="0" t="0"/>
          <a:stretch/>
        </p:blipFill>
        <p:spPr>
          <a:xfrm>
            <a:off x="8191500" y="3810000"/>
            <a:ext cx="127000" cy="698500"/>
          </a:xfrm>
          <a:prstGeom prst="rect">
            <a:avLst/>
          </a:prstGeom>
          <a:noFill/>
          <a:ln>
            <a:noFill/>
          </a:ln>
        </p:spPr>
      </p:pic>
      <p:sp>
        <p:nvSpPr>
          <p:cNvPr id="129" name="Google Shape;129;p6"/>
          <p:cNvSpPr/>
          <p:nvPr/>
        </p:nvSpPr>
        <p:spPr>
          <a:xfrm>
            <a:off x="812800" y="53721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AI layer:</a:t>
            </a:r>
            <a:r>
              <a:rPr b="0" i="0" lang="en-US" sz="1200" u="none" cap="none" strike="noStrike">
                <a:solidFill>
                  <a:srgbClr val="34405A"/>
                </a:solidFill>
                <a:latin typeface="Nunito Sans"/>
                <a:ea typeface="Nunito Sans"/>
                <a:cs typeface="Nunito Sans"/>
                <a:sym typeface="Nunito Sans"/>
              </a:rPr>
              <a:t> Gemini, Groq, OpenRouter or Ollama (free), OpenAI optional, with an offline fallback · </a:t>
            </a:r>
            <a:r>
              <a:rPr b="1" i="0" lang="en-US" sz="1200" u="none" cap="none" strike="noStrike">
                <a:solidFill>
                  <a:srgbClr val="A9540F"/>
                </a:solidFill>
                <a:latin typeface="Nunito Sans"/>
                <a:ea typeface="Nunito Sans"/>
                <a:cs typeface="Nunito Sans"/>
                <a:sym typeface="Nunito Sans"/>
              </a:rPr>
              <a:t>dashed:</a:t>
            </a:r>
            <a:r>
              <a:rPr b="0" i="0" lang="en-US" sz="1200" u="none" cap="none" strike="noStrike">
                <a:solidFill>
                  <a:srgbClr val="A9540F"/>
                </a:solidFill>
                <a:latin typeface="Nunito Sans"/>
                <a:ea typeface="Nunito Sans"/>
                <a:cs typeface="Nunito Sans"/>
                <a:sym typeface="Nunito Sans"/>
              </a:rPr>
              <a:t> re-test answers are stored and traced again</a:t>
            </a:r>
            <a:endParaRPr b="0" i="0" sz="1200" u="none" cap="none" strike="noStrike">
              <a:solidFill>
                <a:schemeClr val="dk1"/>
              </a:solidFill>
              <a:latin typeface="Calibri"/>
              <a:ea typeface="Calibri"/>
              <a:cs typeface="Calibri"/>
              <a:sym typeface="Calibri"/>
            </a:endParaRPr>
          </a:p>
        </p:txBody>
      </p:sp>
      <p:sp>
        <p:nvSpPr>
          <p:cNvPr id="130" name="Google Shape;130;p6"/>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35" name="Shape 135"/>
        <p:cNvGrpSpPr/>
        <p:nvPr/>
      </p:nvGrpSpPr>
      <p:grpSpPr>
        <a:xfrm>
          <a:off x="0" y="0"/>
          <a:ext cx="0" cy="0"/>
          <a:chOff x="0" y="0"/>
          <a:chExt cx="0" cy="0"/>
        </a:xfrm>
      </p:grpSpPr>
      <p:sp>
        <p:nvSpPr>
          <p:cNvPr id="136" name="Google Shape;136;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TECHNOLOGY STACK</a:t>
            </a:r>
            <a:endParaRPr b="0" i="0" sz="1200" u="none" cap="none" strike="noStrike">
              <a:solidFill>
                <a:schemeClr val="dk1"/>
              </a:solidFill>
              <a:latin typeface="Calibri"/>
              <a:ea typeface="Calibri"/>
              <a:cs typeface="Calibri"/>
              <a:sym typeface="Calibri"/>
            </a:endParaRPr>
          </a:p>
        </p:txBody>
      </p:sp>
      <p:sp>
        <p:nvSpPr>
          <p:cNvPr id="137" name="Google Shape;137;p7"/>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What the system is built with</a:t>
            </a:r>
            <a:endParaRPr b="0" i="0" sz="3200" u="none" cap="none" strike="noStrike">
              <a:solidFill>
                <a:schemeClr val="dk1"/>
              </a:solidFill>
              <a:latin typeface="Calibri"/>
              <a:ea typeface="Calibri"/>
              <a:cs typeface="Calibri"/>
              <a:sym typeface="Calibri"/>
            </a:endParaRPr>
          </a:p>
        </p:txBody>
      </p:sp>
      <p:sp>
        <p:nvSpPr>
          <p:cNvPr id="138" name="Google Shape;138;p7"/>
          <p:cNvSpPr/>
          <p:nvPr/>
        </p:nvSpPr>
        <p:spPr>
          <a:xfrm>
            <a:off x="819150" y="1829991"/>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id="139" name="Google Shape;139;p7"/>
          <p:cNvPicPr preferRelativeResize="0"/>
          <p:nvPr/>
        </p:nvPicPr>
        <p:blipFill rotWithShape="1">
          <a:blip r:embed="rId3">
            <a:alphaModFix/>
          </a:blip>
          <a:srcRect b="0" l="0" r="0" t="0"/>
          <a:stretch/>
        </p:blipFill>
        <p:spPr>
          <a:xfrm>
            <a:off x="1003300" y="2014141"/>
            <a:ext cx="279400" cy="279400"/>
          </a:xfrm>
          <a:prstGeom prst="rect">
            <a:avLst/>
          </a:prstGeom>
          <a:noFill/>
          <a:ln>
            <a:noFill/>
          </a:ln>
        </p:spPr>
      </p:pic>
      <p:sp>
        <p:nvSpPr>
          <p:cNvPr id="140" name="Google Shape;140;p7"/>
          <p:cNvSpPr/>
          <p:nvPr/>
        </p:nvSpPr>
        <p:spPr>
          <a:xfrm>
            <a:off x="1003300" y="235704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Frontend</a:t>
            </a:r>
            <a:endParaRPr b="0" i="0" sz="1400" u="none" cap="none" strike="noStrike">
              <a:solidFill>
                <a:schemeClr val="dk1"/>
              </a:solidFill>
              <a:latin typeface="Calibri"/>
              <a:ea typeface="Calibri"/>
              <a:cs typeface="Calibri"/>
              <a:sym typeface="Calibri"/>
            </a:endParaRPr>
          </a:p>
        </p:txBody>
      </p:sp>
      <p:sp>
        <p:nvSpPr>
          <p:cNvPr id="141" name="Google Shape;141;p7"/>
          <p:cNvSpPr/>
          <p:nvPr/>
        </p:nvSpPr>
        <p:spPr>
          <a:xfrm>
            <a:off x="1003300" y="263386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HTML, CSS, JavaScript</a:t>
            </a:r>
            <a:endParaRPr b="0" i="0" sz="1200" u="none" cap="none" strike="noStrike">
              <a:solidFill>
                <a:schemeClr val="dk1"/>
              </a:solidFill>
              <a:latin typeface="Calibri"/>
              <a:ea typeface="Calibri"/>
              <a:cs typeface="Calibri"/>
              <a:sym typeface="Calibri"/>
            </a:endParaRPr>
          </a:p>
        </p:txBody>
      </p:sp>
      <p:sp>
        <p:nvSpPr>
          <p:cNvPr id="142" name="Google Shape;142;p7"/>
          <p:cNvSpPr/>
          <p:nvPr/>
        </p:nvSpPr>
        <p:spPr>
          <a:xfrm>
            <a:off x="3498850" y="1829991"/>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de" id="143" name="Google Shape;143;p7"/>
          <p:cNvPicPr preferRelativeResize="0"/>
          <p:nvPr/>
        </p:nvPicPr>
        <p:blipFill rotWithShape="1">
          <a:blip r:embed="rId4">
            <a:alphaModFix/>
          </a:blip>
          <a:srcRect b="0" l="0" r="0" t="0"/>
          <a:stretch/>
        </p:blipFill>
        <p:spPr>
          <a:xfrm>
            <a:off x="3683000" y="2014141"/>
            <a:ext cx="279400" cy="279400"/>
          </a:xfrm>
          <a:prstGeom prst="rect">
            <a:avLst/>
          </a:prstGeom>
          <a:noFill/>
          <a:ln>
            <a:noFill/>
          </a:ln>
        </p:spPr>
      </p:pic>
      <p:sp>
        <p:nvSpPr>
          <p:cNvPr id="144" name="Google Shape;144;p7"/>
          <p:cNvSpPr/>
          <p:nvPr/>
        </p:nvSpPr>
        <p:spPr>
          <a:xfrm>
            <a:off x="3683000" y="235704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Backend</a:t>
            </a:r>
            <a:endParaRPr b="0" i="0" sz="1400" u="none" cap="none" strike="noStrike">
              <a:solidFill>
                <a:schemeClr val="dk1"/>
              </a:solidFill>
              <a:latin typeface="Calibri"/>
              <a:ea typeface="Calibri"/>
              <a:cs typeface="Calibri"/>
              <a:sym typeface="Calibri"/>
            </a:endParaRPr>
          </a:p>
        </p:txBody>
      </p:sp>
      <p:sp>
        <p:nvSpPr>
          <p:cNvPr id="145" name="Google Shape;145;p7"/>
          <p:cNvSpPr/>
          <p:nvPr/>
        </p:nvSpPr>
        <p:spPr>
          <a:xfrm>
            <a:off x="3683000" y="263386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Python, FastAPI, Uvicorn</a:t>
            </a:r>
            <a:endParaRPr b="0" i="0" sz="1200" u="none" cap="none" strike="noStrike">
              <a:solidFill>
                <a:schemeClr val="dk1"/>
              </a:solidFill>
              <a:latin typeface="Calibri"/>
              <a:ea typeface="Calibri"/>
              <a:cs typeface="Calibri"/>
              <a:sym typeface="Calibri"/>
            </a:endParaRPr>
          </a:p>
        </p:txBody>
      </p:sp>
      <p:sp>
        <p:nvSpPr>
          <p:cNvPr id="146" name="Google Shape;146;p7"/>
          <p:cNvSpPr/>
          <p:nvPr/>
        </p:nvSpPr>
        <p:spPr>
          <a:xfrm>
            <a:off x="6178550" y="1829991"/>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147" name="Google Shape;147;p7"/>
          <p:cNvPicPr preferRelativeResize="0"/>
          <p:nvPr/>
        </p:nvPicPr>
        <p:blipFill rotWithShape="1">
          <a:blip r:embed="rId5">
            <a:alphaModFix/>
          </a:blip>
          <a:srcRect b="0" l="0" r="0" t="0"/>
          <a:stretch/>
        </p:blipFill>
        <p:spPr>
          <a:xfrm>
            <a:off x="6362700" y="2014141"/>
            <a:ext cx="279400" cy="279400"/>
          </a:xfrm>
          <a:prstGeom prst="rect">
            <a:avLst/>
          </a:prstGeom>
          <a:noFill/>
          <a:ln>
            <a:noFill/>
          </a:ln>
        </p:spPr>
      </p:pic>
      <p:sp>
        <p:nvSpPr>
          <p:cNvPr id="148" name="Google Shape;148;p7"/>
          <p:cNvSpPr/>
          <p:nvPr/>
        </p:nvSpPr>
        <p:spPr>
          <a:xfrm>
            <a:off x="6362700" y="235704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AI models</a:t>
            </a:r>
            <a:endParaRPr b="0" i="0" sz="1400" u="none" cap="none" strike="noStrike">
              <a:solidFill>
                <a:schemeClr val="dk1"/>
              </a:solidFill>
              <a:latin typeface="Calibri"/>
              <a:ea typeface="Calibri"/>
              <a:cs typeface="Calibri"/>
              <a:sym typeface="Calibri"/>
            </a:endParaRPr>
          </a:p>
        </p:txBody>
      </p:sp>
      <p:sp>
        <p:nvSpPr>
          <p:cNvPr id="149" name="Google Shape;149;p7"/>
          <p:cNvSpPr/>
          <p:nvPr/>
        </p:nvSpPr>
        <p:spPr>
          <a:xfrm>
            <a:off x="6362700" y="2633861"/>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Gemini, Groq, OpenRouter, Ollama; OpenAI optional</a:t>
            </a:r>
            <a:endParaRPr b="0" i="0" sz="1200" u="none" cap="none" strike="noStrike">
              <a:solidFill>
                <a:schemeClr val="dk1"/>
              </a:solidFill>
              <a:latin typeface="Calibri"/>
              <a:ea typeface="Calibri"/>
              <a:cs typeface="Calibri"/>
              <a:sym typeface="Calibri"/>
            </a:endParaRPr>
          </a:p>
        </p:txBody>
      </p:sp>
      <p:sp>
        <p:nvSpPr>
          <p:cNvPr id="150" name="Google Shape;150;p7"/>
          <p:cNvSpPr/>
          <p:nvPr/>
        </p:nvSpPr>
        <p:spPr>
          <a:xfrm>
            <a:off x="8858250" y="1829991"/>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151" name="Google Shape;151;p7"/>
          <p:cNvPicPr preferRelativeResize="0"/>
          <p:nvPr/>
        </p:nvPicPr>
        <p:blipFill rotWithShape="1">
          <a:blip r:embed="rId6">
            <a:alphaModFix/>
          </a:blip>
          <a:srcRect b="0" l="0" r="0" t="0"/>
          <a:stretch/>
        </p:blipFill>
        <p:spPr>
          <a:xfrm>
            <a:off x="9042400" y="2014141"/>
            <a:ext cx="279400" cy="279400"/>
          </a:xfrm>
          <a:prstGeom prst="rect">
            <a:avLst/>
          </a:prstGeom>
          <a:noFill/>
          <a:ln>
            <a:noFill/>
          </a:ln>
        </p:spPr>
      </p:pic>
      <p:sp>
        <p:nvSpPr>
          <p:cNvPr id="152" name="Google Shape;152;p7"/>
          <p:cNvSpPr/>
          <p:nvPr/>
        </p:nvSpPr>
        <p:spPr>
          <a:xfrm>
            <a:off x="9042400" y="2357041"/>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RAG</a:t>
            </a:r>
            <a:endParaRPr b="0" i="0" sz="1400" u="none" cap="none" strike="noStrike">
              <a:solidFill>
                <a:schemeClr val="dk1"/>
              </a:solidFill>
              <a:latin typeface="Calibri"/>
              <a:ea typeface="Calibri"/>
              <a:cs typeface="Calibri"/>
              <a:sym typeface="Calibri"/>
            </a:endParaRPr>
          </a:p>
        </p:txBody>
      </p:sp>
      <p:sp>
        <p:nvSpPr>
          <p:cNvPr id="153" name="Google Shape;153;p7"/>
          <p:cNvSpPr/>
          <p:nvPr/>
        </p:nvSpPr>
        <p:spPr>
          <a:xfrm>
            <a:off x="9042400" y="2633861"/>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FAISS, MiniLM embeddings, pypdf</a:t>
            </a:r>
            <a:endParaRPr b="0" i="0" sz="1200" u="none" cap="none" strike="noStrike">
              <a:solidFill>
                <a:schemeClr val="dk1"/>
              </a:solidFill>
              <a:latin typeface="Calibri"/>
              <a:ea typeface="Calibri"/>
              <a:cs typeface="Calibri"/>
              <a:sym typeface="Calibri"/>
            </a:endParaRPr>
          </a:p>
        </p:txBody>
      </p:sp>
      <p:sp>
        <p:nvSpPr>
          <p:cNvPr id="154" name="Google Shape;154;p7"/>
          <p:cNvSpPr/>
          <p:nvPr/>
        </p:nvSpPr>
        <p:spPr>
          <a:xfrm>
            <a:off x="819150" y="3409752"/>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155" name="Google Shape;155;p7"/>
          <p:cNvPicPr preferRelativeResize="0"/>
          <p:nvPr/>
        </p:nvPicPr>
        <p:blipFill rotWithShape="1">
          <a:blip r:embed="rId7">
            <a:alphaModFix/>
          </a:blip>
          <a:srcRect b="0" l="0" r="0" t="0"/>
          <a:stretch/>
        </p:blipFill>
        <p:spPr>
          <a:xfrm>
            <a:off x="1003300" y="3593902"/>
            <a:ext cx="279400" cy="279400"/>
          </a:xfrm>
          <a:prstGeom prst="rect">
            <a:avLst/>
          </a:prstGeom>
          <a:noFill/>
          <a:ln>
            <a:noFill/>
          </a:ln>
        </p:spPr>
      </p:pic>
      <p:sp>
        <p:nvSpPr>
          <p:cNvPr id="156" name="Google Shape;156;p7"/>
          <p:cNvSpPr/>
          <p:nvPr/>
        </p:nvSpPr>
        <p:spPr>
          <a:xfrm>
            <a:off x="1003300" y="393680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Machine learning</a:t>
            </a:r>
            <a:endParaRPr b="0" i="0" sz="1400" u="none" cap="none" strike="noStrike">
              <a:solidFill>
                <a:schemeClr val="dk1"/>
              </a:solidFill>
              <a:latin typeface="Calibri"/>
              <a:ea typeface="Calibri"/>
              <a:cs typeface="Calibri"/>
              <a:sym typeface="Calibri"/>
            </a:endParaRPr>
          </a:p>
        </p:txBody>
      </p:sp>
      <p:sp>
        <p:nvSpPr>
          <p:cNvPr id="157" name="Google Shape;157;p7"/>
          <p:cNvSpPr/>
          <p:nvPr/>
        </p:nvSpPr>
        <p:spPr>
          <a:xfrm>
            <a:off x="1003300" y="4213622"/>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PyTorch: EKT (LSTM), DKT baseline</a:t>
            </a:r>
            <a:endParaRPr b="0" i="0" sz="1200" u="none" cap="none" strike="noStrike">
              <a:solidFill>
                <a:schemeClr val="dk1"/>
              </a:solidFill>
              <a:latin typeface="Calibri"/>
              <a:ea typeface="Calibri"/>
              <a:cs typeface="Calibri"/>
              <a:sym typeface="Calibri"/>
            </a:endParaRPr>
          </a:p>
        </p:txBody>
      </p:sp>
      <p:sp>
        <p:nvSpPr>
          <p:cNvPr id="158" name="Google Shape;158;p7"/>
          <p:cNvSpPr/>
          <p:nvPr/>
        </p:nvSpPr>
        <p:spPr>
          <a:xfrm>
            <a:off x="3498850" y="3409752"/>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159" name="Google Shape;159;p7"/>
          <p:cNvPicPr preferRelativeResize="0"/>
          <p:nvPr/>
        </p:nvPicPr>
        <p:blipFill rotWithShape="1">
          <a:blip r:embed="rId8">
            <a:alphaModFix/>
          </a:blip>
          <a:srcRect b="0" l="0" r="0" t="0"/>
          <a:stretch/>
        </p:blipFill>
        <p:spPr>
          <a:xfrm>
            <a:off x="3683000" y="3593902"/>
            <a:ext cx="279400" cy="279400"/>
          </a:xfrm>
          <a:prstGeom prst="rect">
            <a:avLst/>
          </a:prstGeom>
          <a:noFill/>
          <a:ln>
            <a:noFill/>
          </a:ln>
        </p:spPr>
      </p:pic>
      <p:sp>
        <p:nvSpPr>
          <p:cNvPr id="160" name="Google Shape;160;p7"/>
          <p:cNvSpPr/>
          <p:nvPr/>
        </p:nvSpPr>
        <p:spPr>
          <a:xfrm>
            <a:off x="3683000" y="393680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Storage</a:t>
            </a:r>
            <a:endParaRPr b="0" i="0" sz="1400" u="none" cap="none" strike="noStrike">
              <a:solidFill>
                <a:schemeClr val="dk1"/>
              </a:solidFill>
              <a:latin typeface="Calibri"/>
              <a:ea typeface="Calibri"/>
              <a:cs typeface="Calibri"/>
              <a:sym typeface="Calibri"/>
            </a:endParaRPr>
          </a:p>
        </p:txBody>
      </p:sp>
      <p:sp>
        <p:nvSpPr>
          <p:cNvPr id="161" name="Google Shape;161;p7"/>
          <p:cNvSpPr/>
          <p:nvPr/>
        </p:nvSpPr>
        <p:spPr>
          <a:xfrm>
            <a:off x="3683000" y="421362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JSON, CSV and NumPy files</a:t>
            </a:r>
            <a:endParaRPr b="0" i="0" sz="1200" u="none" cap="none" strike="noStrike">
              <a:solidFill>
                <a:schemeClr val="dk1"/>
              </a:solidFill>
              <a:latin typeface="Calibri"/>
              <a:ea typeface="Calibri"/>
              <a:cs typeface="Calibri"/>
              <a:sym typeface="Calibri"/>
            </a:endParaRPr>
          </a:p>
        </p:txBody>
      </p:sp>
      <p:sp>
        <p:nvSpPr>
          <p:cNvPr id="162" name="Google Shape;162;p7"/>
          <p:cNvSpPr/>
          <p:nvPr/>
        </p:nvSpPr>
        <p:spPr>
          <a:xfrm>
            <a:off x="6178550" y="3409752"/>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163" name="Google Shape;163;p7"/>
          <p:cNvPicPr preferRelativeResize="0"/>
          <p:nvPr/>
        </p:nvPicPr>
        <p:blipFill rotWithShape="1">
          <a:blip r:embed="rId9">
            <a:alphaModFix/>
          </a:blip>
          <a:srcRect b="0" l="0" r="0" t="0"/>
          <a:stretch/>
        </p:blipFill>
        <p:spPr>
          <a:xfrm>
            <a:off x="6362700" y="3593902"/>
            <a:ext cx="279400" cy="279400"/>
          </a:xfrm>
          <a:prstGeom prst="rect">
            <a:avLst/>
          </a:prstGeom>
          <a:noFill/>
          <a:ln>
            <a:noFill/>
          </a:ln>
        </p:spPr>
      </p:pic>
      <p:sp>
        <p:nvSpPr>
          <p:cNvPr id="164" name="Google Shape;164;p7"/>
          <p:cNvSpPr/>
          <p:nvPr/>
        </p:nvSpPr>
        <p:spPr>
          <a:xfrm>
            <a:off x="6362700" y="393680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Visualization</a:t>
            </a:r>
            <a:endParaRPr b="0" i="0" sz="1400" u="none" cap="none" strike="noStrike">
              <a:solidFill>
                <a:schemeClr val="dk1"/>
              </a:solidFill>
              <a:latin typeface="Calibri"/>
              <a:ea typeface="Calibri"/>
              <a:cs typeface="Calibri"/>
              <a:sym typeface="Calibri"/>
            </a:endParaRPr>
          </a:p>
        </p:txBody>
      </p:sp>
      <p:sp>
        <p:nvSpPr>
          <p:cNvPr id="165" name="Google Shape;165;p7"/>
          <p:cNvSpPr/>
          <p:nvPr/>
        </p:nvSpPr>
        <p:spPr>
          <a:xfrm>
            <a:off x="6362700" y="421362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Matplotlib</a:t>
            </a:r>
            <a:endParaRPr b="0" i="0" sz="1200" u="none" cap="none" strike="noStrike">
              <a:solidFill>
                <a:schemeClr val="dk1"/>
              </a:solidFill>
              <a:latin typeface="Calibri"/>
              <a:ea typeface="Calibri"/>
              <a:cs typeface="Calibri"/>
              <a:sym typeface="Calibri"/>
            </a:endParaRPr>
          </a:p>
        </p:txBody>
      </p:sp>
      <p:sp>
        <p:nvSpPr>
          <p:cNvPr id="166" name="Google Shape;166;p7"/>
          <p:cNvSpPr/>
          <p:nvPr/>
        </p:nvSpPr>
        <p:spPr>
          <a:xfrm>
            <a:off x="8858250" y="3409752"/>
            <a:ext cx="2514600" cy="1414661"/>
          </a:xfrm>
          <a:prstGeom prst="roundRect">
            <a:avLst>
              <a:gd fmla="val 6733"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167" name="Google Shape;167;p7"/>
          <p:cNvPicPr preferRelativeResize="0"/>
          <p:nvPr/>
        </p:nvPicPr>
        <p:blipFill rotWithShape="1">
          <a:blip r:embed="rId10">
            <a:alphaModFix/>
          </a:blip>
          <a:srcRect b="0" l="0" r="0" t="0"/>
          <a:stretch/>
        </p:blipFill>
        <p:spPr>
          <a:xfrm>
            <a:off x="9042400" y="3593902"/>
            <a:ext cx="279400" cy="279400"/>
          </a:xfrm>
          <a:prstGeom prst="rect">
            <a:avLst/>
          </a:prstGeom>
          <a:noFill/>
          <a:ln>
            <a:noFill/>
          </a:ln>
        </p:spPr>
      </p:pic>
      <p:sp>
        <p:nvSpPr>
          <p:cNvPr id="168" name="Google Shape;168;p7"/>
          <p:cNvSpPr/>
          <p:nvPr/>
        </p:nvSpPr>
        <p:spPr>
          <a:xfrm>
            <a:off x="9042400" y="393680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Testing</a:t>
            </a:r>
            <a:endParaRPr b="0" i="0" sz="1400" u="none" cap="none" strike="noStrike">
              <a:solidFill>
                <a:schemeClr val="dk1"/>
              </a:solidFill>
              <a:latin typeface="Calibri"/>
              <a:ea typeface="Calibri"/>
              <a:cs typeface="Calibri"/>
              <a:sym typeface="Calibri"/>
            </a:endParaRPr>
          </a:p>
        </p:txBody>
      </p:sp>
      <p:sp>
        <p:nvSpPr>
          <p:cNvPr id="169" name="Google Shape;169;p7"/>
          <p:cNvSpPr/>
          <p:nvPr/>
        </p:nvSpPr>
        <p:spPr>
          <a:xfrm>
            <a:off x="9042400" y="4213622"/>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pytest, 36 tests passing</a:t>
            </a:r>
            <a:endParaRPr b="0" i="0" sz="1200" u="none" cap="none" strike="noStrike">
              <a:solidFill>
                <a:schemeClr val="dk1"/>
              </a:solidFill>
              <a:latin typeface="Calibri"/>
              <a:ea typeface="Calibri"/>
              <a:cs typeface="Calibri"/>
              <a:sym typeface="Calibri"/>
            </a:endParaRPr>
          </a:p>
        </p:txBody>
      </p:sp>
      <p:sp>
        <p:nvSpPr>
          <p:cNvPr id="170" name="Google Shape;170;p7"/>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75" name="Shape 175"/>
        <p:cNvGrpSpPr/>
        <p:nvPr/>
      </p:nvGrpSpPr>
      <p:grpSpPr>
        <a:xfrm>
          <a:off x="0" y="0"/>
          <a:ext cx="0" cy="0"/>
          <a:chOff x="0" y="0"/>
          <a:chExt cx="0" cy="0"/>
        </a:xfrm>
      </p:grpSpPr>
      <p:sp>
        <p:nvSpPr>
          <p:cNvPr id="176" name="Google Shape;176;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DATASET / INPUT</a:t>
            </a:r>
            <a:endParaRPr b="0" i="0" sz="1200" u="none" cap="none" strike="noStrike">
              <a:solidFill>
                <a:schemeClr val="dk1"/>
              </a:solidFill>
              <a:latin typeface="Calibri"/>
              <a:ea typeface="Calibri"/>
              <a:cs typeface="Calibri"/>
              <a:sym typeface="Calibri"/>
            </a:endParaRPr>
          </a:p>
        </p:txBody>
      </p:sp>
      <p:sp>
        <p:nvSpPr>
          <p:cNvPr id="177" name="Google Shape;177;p8"/>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A C-programming course and its exam answers</a:t>
            </a:r>
            <a:endParaRPr b="0" i="0" sz="3200" u="none" cap="none" strike="noStrike">
              <a:solidFill>
                <a:schemeClr val="dk1"/>
              </a:solidFill>
              <a:latin typeface="Calibri"/>
              <a:ea typeface="Calibri"/>
              <a:cs typeface="Calibri"/>
              <a:sym typeface="Calibri"/>
            </a:endParaRPr>
          </a:p>
        </p:txBody>
      </p:sp>
      <p:sp>
        <p:nvSpPr>
          <p:cNvPr id="178" name="Google Shape;178;p8"/>
          <p:cNvSpPr/>
          <p:nvPr/>
        </p:nvSpPr>
        <p:spPr>
          <a:xfrm>
            <a:off x="812800" y="1823641"/>
            <a:ext cx="5153914"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500"/>
              <a:buFont typeface="Nunito Sans"/>
              <a:buNone/>
            </a:pPr>
            <a:r>
              <a:rPr b="1" i="0" lang="en-US" sz="1500" u="none" cap="none" strike="noStrike">
                <a:solidFill>
                  <a:srgbClr val="16233A"/>
                </a:solidFill>
                <a:latin typeface="Nunito Sans"/>
                <a:ea typeface="Nunito Sans"/>
                <a:cs typeface="Nunito Sans"/>
                <a:sym typeface="Nunito Sans"/>
              </a:rPr>
              <a:t>One row per answer</a:t>
            </a:r>
            <a:endParaRPr b="0" i="0" sz="1500" u="none" cap="none" strike="noStrike">
              <a:solidFill>
                <a:schemeClr val="dk1"/>
              </a:solidFill>
              <a:latin typeface="Calibri"/>
              <a:ea typeface="Calibri"/>
              <a:cs typeface="Calibri"/>
              <a:sym typeface="Calibri"/>
            </a:endParaRPr>
          </a:p>
        </p:txBody>
      </p:sp>
      <p:sp>
        <p:nvSpPr>
          <p:cNvPr id="179" name="Google Shape;179;p8"/>
          <p:cNvSpPr/>
          <p:nvPr/>
        </p:nvSpPr>
        <p:spPr>
          <a:xfrm>
            <a:off x="812800" y="2141141"/>
            <a:ext cx="5003800" cy="1249627"/>
          </a:xfrm>
          <a:prstGeom prst="roundRect">
            <a:avLst>
              <a:gd fmla="val 6098" name="adj"/>
            </a:avLst>
          </a:prstGeom>
          <a:solidFill>
            <a:srgbClr val="16233A"/>
          </a:solidFill>
          <a:ln>
            <a:noFill/>
          </a:ln>
        </p:spPr>
        <p:txBody>
          <a:bodyPr anchorCtr="0" anchor="t" bIns="104675" lIns="155475" spcFirstLastPara="1" rIns="16025" wrap="square" tIns="130075">
            <a:normAutofit/>
          </a:bodyPr>
          <a:lstStyle/>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learner_id, question_id,</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question_text, concept,</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difficulty, bloom_level,</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max_marks, marks, order</a:t>
            </a:r>
            <a:endParaRPr b="0" i="0" sz="1200" u="none" cap="none" strike="noStrike">
              <a:solidFill>
                <a:schemeClr val="dk1"/>
              </a:solidFill>
              <a:latin typeface="Calibri"/>
              <a:ea typeface="Calibri"/>
              <a:cs typeface="Calibri"/>
              <a:sym typeface="Calibri"/>
            </a:endParaRPr>
          </a:p>
        </p:txBody>
      </p:sp>
      <p:sp>
        <p:nvSpPr>
          <p:cNvPr id="180" name="Google Shape;180;p8"/>
          <p:cNvSpPr/>
          <p:nvPr/>
        </p:nvSpPr>
        <p:spPr>
          <a:xfrm>
            <a:off x="812800" y="3479670"/>
            <a:ext cx="5153914" cy="504164"/>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65063"/>
              </a:buClr>
              <a:buSzPts val="1300"/>
              <a:buFont typeface="Nunito Sans"/>
              <a:buNone/>
            </a:pPr>
            <a:r>
              <a:rPr b="0" i="0" lang="en-US" sz="1300" u="none" cap="none" strike="noStrike">
                <a:solidFill>
                  <a:srgbClr val="465063"/>
                </a:solidFill>
                <a:latin typeface="Nunito Sans"/>
                <a:ea typeface="Nunito Sans"/>
                <a:cs typeface="Nunito Sans"/>
                <a:sym typeface="Nunito Sans"/>
              </a:rPr>
              <a:t>Course input: </a:t>
            </a:r>
            <a:r>
              <a:rPr b="1" i="0" lang="en-US" sz="1300" u="none" cap="none" strike="noStrike">
                <a:solidFill>
                  <a:srgbClr val="465063"/>
                </a:solidFill>
                <a:latin typeface="Nunito Sans"/>
                <a:ea typeface="Nunito Sans"/>
                <a:cs typeface="Nunito Sans"/>
                <a:sym typeface="Nunito Sans"/>
              </a:rPr>
              <a:t>Procedural Programming using C</a:t>
            </a:r>
            <a:r>
              <a:rPr b="0" i="0" lang="en-US" sz="1300" u="none" cap="none" strike="noStrike">
                <a:solidFill>
                  <a:srgbClr val="465063"/>
                </a:solidFill>
                <a:latin typeface="Nunito Sans"/>
                <a:ea typeface="Nunito Sans"/>
                <a:cs typeface="Nunito Sans"/>
                <a:sym typeface="Nunito Sans"/>
              </a:rPr>
              <a:t>, a curriculum with 5 units and course outcomes CO1–CO5.</a:t>
            </a:r>
            <a:endParaRPr b="0" i="0" sz="1300" u="none" cap="none" strike="noStrike">
              <a:solidFill>
                <a:schemeClr val="dk1"/>
              </a:solidFill>
              <a:latin typeface="Calibri"/>
              <a:ea typeface="Calibri"/>
              <a:cs typeface="Calibri"/>
              <a:sym typeface="Calibri"/>
            </a:endParaRPr>
          </a:p>
        </p:txBody>
      </p:sp>
      <p:sp>
        <p:nvSpPr>
          <p:cNvPr id="181" name="Google Shape;181;p8"/>
          <p:cNvSpPr/>
          <p:nvPr/>
        </p:nvSpPr>
        <p:spPr>
          <a:xfrm>
            <a:off x="6172200" y="1823641"/>
            <a:ext cx="2540000" cy="1280054"/>
          </a:xfrm>
          <a:prstGeom prst="roundRect">
            <a:avLst>
              <a:gd fmla="val 7937"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6337300" y="1988741"/>
            <a:ext cx="2276094"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24,000</a:t>
            </a:r>
            <a:endParaRPr b="0" i="0" sz="2800" u="none" cap="none" strike="noStrike">
              <a:solidFill>
                <a:schemeClr val="dk1"/>
              </a:solidFill>
              <a:latin typeface="Calibri"/>
              <a:ea typeface="Calibri"/>
              <a:cs typeface="Calibri"/>
              <a:sym typeface="Calibri"/>
            </a:endParaRPr>
          </a:p>
        </p:txBody>
      </p:sp>
      <p:sp>
        <p:nvSpPr>
          <p:cNvPr id="183" name="Google Shape;183;p8"/>
          <p:cNvSpPr/>
          <p:nvPr/>
        </p:nvSpPr>
        <p:spPr>
          <a:xfrm>
            <a:off x="6337300" y="2511955"/>
            <a:ext cx="2276094"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training answers from 600 students</a:t>
            </a:r>
            <a:endParaRPr b="0" i="0" sz="1200" u="none" cap="none" strike="noStrike">
              <a:solidFill>
                <a:schemeClr val="dk1"/>
              </a:solidFill>
              <a:latin typeface="Calibri"/>
              <a:ea typeface="Calibri"/>
              <a:cs typeface="Calibri"/>
              <a:sym typeface="Calibri"/>
            </a:endParaRPr>
          </a:p>
        </p:txBody>
      </p:sp>
      <p:sp>
        <p:nvSpPr>
          <p:cNvPr id="184" name="Google Shape;184;p8"/>
          <p:cNvSpPr/>
          <p:nvPr/>
        </p:nvSpPr>
        <p:spPr>
          <a:xfrm>
            <a:off x="8839200" y="1823641"/>
            <a:ext cx="2540000" cy="1280054"/>
          </a:xfrm>
          <a:prstGeom prst="roundRect">
            <a:avLst>
              <a:gd fmla="val 7937"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9004300" y="1988741"/>
            <a:ext cx="2276094"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262</a:t>
            </a:r>
            <a:endParaRPr b="0" i="0" sz="2800" u="none" cap="none" strike="noStrike">
              <a:solidFill>
                <a:schemeClr val="dk1"/>
              </a:solidFill>
              <a:latin typeface="Calibri"/>
              <a:ea typeface="Calibri"/>
              <a:cs typeface="Calibri"/>
              <a:sym typeface="Calibri"/>
            </a:endParaRPr>
          </a:p>
        </p:txBody>
      </p:sp>
      <p:sp>
        <p:nvSpPr>
          <p:cNvPr id="186" name="Google Shape;186;p8"/>
          <p:cNvSpPr/>
          <p:nvPr/>
        </p:nvSpPr>
        <p:spPr>
          <a:xfrm>
            <a:off x="9004300" y="2511955"/>
            <a:ext cx="227609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students in the evaluated batch</a:t>
            </a:r>
            <a:endParaRPr b="0" i="0" sz="1200" u="none" cap="none" strike="noStrike">
              <a:solidFill>
                <a:schemeClr val="dk1"/>
              </a:solidFill>
              <a:latin typeface="Calibri"/>
              <a:ea typeface="Calibri"/>
              <a:cs typeface="Calibri"/>
              <a:sym typeface="Calibri"/>
            </a:endParaRPr>
          </a:p>
        </p:txBody>
      </p:sp>
      <p:sp>
        <p:nvSpPr>
          <p:cNvPr id="187" name="Google Shape;187;p8"/>
          <p:cNvSpPr/>
          <p:nvPr/>
        </p:nvSpPr>
        <p:spPr>
          <a:xfrm>
            <a:off x="6172200" y="3230696"/>
            <a:ext cx="2540000" cy="1280054"/>
          </a:xfrm>
          <a:prstGeom prst="roundRect">
            <a:avLst>
              <a:gd fmla="val 7937"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6337300" y="3395796"/>
            <a:ext cx="2276094"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2,358</a:t>
            </a:r>
            <a:endParaRPr b="0" i="0" sz="2800" u="none" cap="none" strike="noStrike">
              <a:solidFill>
                <a:schemeClr val="dk1"/>
              </a:solidFill>
              <a:latin typeface="Calibri"/>
              <a:ea typeface="Calibri"/>
              <a:cs typeface="Calibri"/>
              <a:sym typeface="Calibri"/>
            </a:endParaRPr>
          </a:p>
        </p:txBody>
      </p:sp>
      <p:sp>
        <p:nvSpPr>
          <p:cNvPr id="189" name="Google Shape;189;p8"/>
          <p:cNvSpPr/>
          <p:nvPr/>
        </p:nvSpPr>
        <p:spPr>
          <a:xfrm>
            <a:off x="6337300" y="3919010"/>
            <a:ext cx="227609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answers, 9 per student</a:t>
            </a:r>
            <a:endParaRPr b="0" i="0" sz="1200" u="none" cap="none" strike="noStrike">
              <a:solidFill>
                <a:schemeClr val="dk1"/>
              </a:solidFill>
              <a:latin typeface="Calibri"/>
              <a:ea typeface="Calibri"/>
              <a:cs typeface="Calibri"/>
              <a:sym typeface="Calibri"/>
            </a:endParaRPr>
          </a:p>
        </p:txBody>
      </p:sp>
      <p:sp>
        <p:nvSpPr>
          <p:cNvPr id="190" name="Google Shape;190;p8"/>
          <p:cNvSpPr/>
          <p:nvPr/>
        </p:nvSpPr>
        <p:spPr>
          <a:xfrm>
            <a:off x="8839200" y="3230696"/>
            <a:ext cx="2540000" cy="1280054"/>
          </a:xfrm>
          <a:prstGeom prst="roundRect">
            <a:avLst>
              <a:gd fmla="val 7937"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9004300" y="3395796"/>
            <a:ext cx="2276094"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5 · 30</a:t>
            </a:r>
            <a:endParaRPr b="0" i="0" sz="2800" u="none" cap="none" strike="noStrike">
              <a:solidFill>
                <a:schemeClr val="dk1"/>
              </a:solidFill>
              <a:latin typeface="Calibri"/>
              <a:ea typeface="Calibri"/>
              <a:cs typeface="Calibri"/>
              <a:sym typeface="Calibri"/>
            </a:endParaRPr>
          </a:p>
        </p:txBody>
      </p:sp>
      <p:sp>
        <p:nvSpPr>
          <p:cNvPr id="192" name="Google Shape;192;p8"/>
          <p:cNvSpPr/>
          <p:nvPr/>
        </p:nvSpPr>
        <p:spPr>
          <a:xfrm>
            <a:off x="9004300" y="3919010"/>
            <a:ext cx="2276094"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concepts · questions (16 in the exam)</a:t>
            </a:r>
            <a:endParaRPr b="0" i="0" sz="1200" u="none" cap="none" strike="noStrike">
              <a:solidFill>
                <a:schemeClr val="dk1"/>
              </a:solidFill>
              <a:latin typeface="Calibri"/>
              <a:ea typeface="Calibri"/>
              <a:cs typeface="Calibri"/>
              <a:sym typeface="Calibri"/>
            </a:endParaRPr>
          </a:p>
        </p:txBody>
      </p:sp>
      <p:sp>
        <p:nvSpPr>
          <p:cNvPr id="193" name="Google Shape;193;p8"/>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7 · Student data is synthetic, from an IRT-based simulator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98" name="Shape 198"/>
        <p:cNvGrpSpPr/>
        <p:nvPr/>
      </p:nvGrpSpPr>
      <p:grpSpPr>
        <a:xfrm>
          <a:off x="0" y="0"/>
          <a:ext cx="0" cy="0"/>
          <a:chOff x="0" y="0"/>
          <a:chExt cx="0" cy="0"/>
        </a:xfrm>
      </p:grpSpPr>
      <p:sp>
        <p:nvSpPr>
          <p:cNvPr id="199" name="Google Shape;199;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1 · COURSE PROCESSING</a:t>
            </a:r>
            <a:endParaRPr b="0" i="0" sz="1200" u="none" cap="none" strike="noStrike">
              <a:solidFill>
                <a:schemeClr val="dk1"/>
              </a:solidFill>
              <a:latin typeface="Calibri"/>
              <a:ea typeface="Calibri"/>
              <a:cs typeface="Calibri"/>
              <a:sym typeface="Calibri"/>
            </a:endParaRPr>
          </a:p>
        </p:txBody>
      </p:sp>
      <p:sp>
        <p:nvSpPr>
          <p:cNvPr id="200" name="Google Shape;200;p9"/>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From a course PDF to five concepts</a:t>
            </a:r>
            <a:endParaRPr b="0" i="0" sz="3200" u="none" cap="none" strike="noStrike">
              <a:solidFill>
                <a:schemeClr val="dk1"/>
              </a:solidFill>
              <a:latin typeface="Calibri"/>
              <a:ea typeface="Calibri"/>
              <a:cs typeface="Calibri"/>
              <a:sym typeface="Calibri"/>
            </a:endParaRPr>
          </a:p>
        </p:txBody>
      </p:sp>
      <p:sp>
        <p:nvSpPr>
          <p:cNvPr id="201" name="Google Shape;201;p9"/>
          <p:cNvSpPr/>
          <p:nvPr/>
        </p:nvSpPr>
        <p:spPr>
          <a:xfrm>
            <a:off x="812800" y="1823641"/>
            <a:ext cx="405511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500"/>
              <a:buFont typeface="Nunito Sans"/>
              <a:buNone/>
            </a:pPr>
            <a:r>
              <a:rPr b="1" i="0" lang="en-US" sz="1500" u="none" cap="none" strike="noStrike">
                <a:solidFill>
                  <a:srgbClr val="16233A"/>
                </a:solidFill>
                <a:latin typeface="Nunito Sans"/>
                <a:ea typeface="Nunito Sans"/>
                <a:cs typeface="Nunito Sans"/>
                <a:sym typeface="Nunito Sans"/>
              </a:rPr>
              <a:t>What the code does</a:t>
            </a:r>
            <a:endParaRPr b="0" i="0" sz="1500" u="none" cap="none" strike="noStrike">
              <a:solidFill>
                <a:schemeClr val="dk1"/>
              </a:solidFill>
              <a:latin typeface="Calibri"/>
              <a:ea typeface="Calibri"/>
              <a:cs typeface="Calibri"/>
              <a:sym typeface="Calibri"/>
            </a:endParaRPr>
          </a:p>
        </p:txBody>
      </p:sp>
      <p:sp>
        <p:nvSpPr>
          <p:cNvPr id="202" name="Google Shape;202;p9"/>
          <p:cNvSpPr/>
          <p:nvPr/>
        </p:nvSpPr>
        <p:spPr>
          <a:xfrm>
            <a:off x="880666" y="2141141"/>
            <a:ext cx="3979624" cy="1619647"/>
          </a:xfrm>
          <a:prstGeom prst="rect">
            <a:avLst/>
          </a:prstGeom>
          <a:noFill/>
          <a:ln>
            <a:noFill/>
          </a:ln>
        </p:spPr>
        <p:txBody>
          <a:bodyPr anchorCtr="0" anchor="t" bIns="0" lIns="0" spcFirstLastPara="1" rIns="0" wrap="square" tIns="0">
            <a:normAutofit/>
          </a:bodyPr>
          <a:lstStyle/>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Reads the PDF or text with pypdf</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Splits it by unit ("Unit 1: …")</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Cuts each unit into ~1000-character chunks</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Embeds chunks and stores them in FAISS</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Asks the AI for one concept per unit</a:t>
            </a:r>
            <a:endParaRPr b="0" i="0" sz="1350" u="none" cap="none" strike="noStrike">
              <a:solidFill>
                <a:schemeClr val="dk1"/>
              </a:solidFill>
              <a:latin typeface="Calibri"/>
              <a:ea typeface="Calibri"/>
              <a:cs typeface="Calibri"/>
              <a:sym typeface="Calibri"/>
            </a:endParaRPr>
          </a:p>
          <a:p>
            <a:pPr indent="-186134" lvl="0" marL="186134" marR="0" rtl="0" algn="l">
              <a:lnSpc>
                <a:spcPct val="155037"/>
              </a:lnSpc>
              <a:spcBef>
                <a:spcPts val="0"/>
              </a:spcBef>
              <a:spcAft>
                <a:spcPts val="0"/>
              </a:spcAft>
              <a:buClr>
                <a:srgbClr val="34405A"/>
              </a:buClr>
              <a:buSzPts val="1350"/>
              <a:buFont typeface="Nunito Sans"/>
              <a:buAutoNum type="arabicPeriod"/>
            </a:pPr>
            <a:r>
              <a:rPr b="0" i="0" lang="en-US" sz="1350" u="none" cap="none" strike="noStrike">
                <a:solidFill>
                  <a:srgbClr val="34405A"/>
                </a:solidFill>
                <a:latin typeface="Nunito Sans"/>
                <a:ea typeface="Nunito Sans"/>
                <a:cs typeface="Nunito Sans"/>
                <a:sym typeface="Nunito Sans"/>
              </a:rPr>
              <a:t>Saves concepts.json for the teacher to check</a:t>
            </a:r>
            <a:endParaRPr b="0" i="0" sz="1350" u="none" cap="none" strike="noStrike">
              <a:solidFill>
                <a:schemeClr val="dk1"/>
              </a:solidFill>
              <a:latin typeface="Calibri"/>
              <a:ea typeface="Calibri"/>
              <a:cs typeface="Calibri"/>
              <a:sym typeface="Calibri"/>
            </a:endParaRPr>
          </a:p>
        </p:txBody>
      </p:sp>
      <p:sp>
        <p:nvSpPr>
          <p:cNvPr id="203" name="Google Shape;203;p9"/>
          <p:cNvSpPr/>
          <p:nvPr/>
        </p:nvSpPr>
        <p:spPr>
          <a:xfrm>
            <a:off x="5105400" y="1823641"/>
            <a:ext cx="6462014"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500"/>
              <a:buFont typeface="Nunito Sans"/>
              <a:buNone/>
            </a:pPr>
            <a:r>
              <a:rPr b="1" i="0" lang="en-US" sz="1500" u="none" cap="none" strike="noStrike">
                <a:solidFill>
                  <a:srgbClr val="16233A"/>
                </a:solidFill>
                <a:latin typeface="Nunito Sans"/>
                <a:ea typeface="Nunito Sans"/>
                <a:cs typeface="Nunito Sans"/>
                <a:sym typeface="Nunito Sans"/>
              </a:rPr>
              <a:t>Actual output</a:t>
            </a:r>
            <a:endParaRPr b="0" i="0" sz="1500" u="none" cap="none" strike="noStrike">
              <a:solidFill>
                <a:schemeClr val="dk1"/>
              </a:solidFill>
              <a:latin typeface="Calibri"/>
              <a:ea typeface="Calibri"/>
              <a:cs typeface="Calibri"/>
              <a:sym typeface="Calibri"/>
            </a:endParaRPr>
          </a:p>
        </p:txBody>
      </p:sp>
      <p:sp>
        <p:nvSpPr>
          <p:cNvPr id="204" name="Google Shape;204;p9"/>
          <p:cNvSpPr/>
          <p:nvPr/>
        </p:nvSpPr>
        <p:spPr>
          <a:xfrm>
            <a:off x="5105400" y="2141141"/>
            <a:ext cx="6273800" cy="2219854"/>
          </a:xfrm>
          <a:prstGeom prst="roundRect">
            <a:avLst>
              <a:gd fmla="val 3433" name="adj"/>
            </a:avLst>
          </a:prstGeom>
          <a:solidFill>
            <a:srgbClr val="16233A"/>
          </a:solidFill>
          <a:ln>
            <a:noFill/>
          </a:ln>
        </p:spPr>
        <p:txBody>
          <a:bodyPr anchorCtr="0" anchor="t" bIns="117375" lIns="168175" spcFirstLastPara="1" rIns="0" wrap="square" tIns="142775">
            <a:normAutofit/>
          </a:bodyPr>
          <a:lstStyle/>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python -m plrs ingest curriculum.txt</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Indexed 11 chunks into data/store</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Extracted 5 concepts -&gt; concepts.json</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C1 CO1 Fundamentals and System Architecture</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C2 CO2 Operators, Pointers and Control Structures</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C3 CO3 Algorithmic Problem Solving and Arrays</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C4 CO4 String Manipulation and Text Processing</a:t>
            </a:r>
            <a:endParaRPr b="0" i="0" sz="1200" u="none" cap="none" strike="noStrike">
              <a:solidFill>
                <a:schemeClr val="dk1"/>
              </a:solidFill>
              <a:latin typeface="Calibri"/>
              <a:ea typeface="Calibri"/>
              <a:cs typeface="Calibri"/>
              <a:sym typeface="Calibri"/>
            </a:endParaRPr>
          </a:p>
          <a:p>
            <a:pPr indent="0" lvl="0" marL="0" marR="0" rtl="0" algn="l">
              <a:lnSpc>
                <a:spcPct val="155000"/>
              </a:lnSpc>
              <a:spcBef>
                <a:spcPts val="0"/>
              </a:spcBef>
              <a:spcAft>
                <a:spcPts val="0"/>
              </a:spcAft>
              <a:buClr>
                <a:srgbClr val="E4E8F0"/>
              </a:buClr>
              <a:buSzPts val="1200"/>
              <a:buFont typeface="Courier New"/>
              <a:buNone/>
            </a:pPr>
            <a:r>
              <a:rPr b="0" i="0" lang="en-US" sz="1200" u="none" cap="none" strike="noStrike">
                <a:solidFill>
                  <a:srgbClr val="E4E8F0"/>
                </a:solidFill>
                <a:latin typeface="Courier New"/>
                <a:ea typeface="Courier New"/>
                <a:cs typeface="Courier New"/>
                <a:sym typeface="Courier New"/>
              </a:rPr>
              <a:t> C5 CO5 Data Structures, Memory, File Handling</a:t>
            </a:r>
            <a:endParaRPr b="0" i="0" sz="1200" u="none" cap="none" strike="noStrike">
              <a:solidFill>
                <a:schemeClr val="dk1"/>
              </a:solidFill>
              <a:latin typeface="Calibri"/>
              <a:ea typeface="Calibri"/>
              <a:cs typeface="Calibri"/>
              <a:sym typeface="Calibri"/>
            </a:endParaRPr>
          </a:p>
        </p:txBody>
      </p:sp>
      <p:sp>
        <p:nvSpPr>
          <p:cNvPr id="205" name="Google Shape;205;p9"/>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8 · Concept names shortened slightly to fit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10" name="Shape 210"/>
        <p:cNvGrpSpPr/>
        <p:nvPr/>
      </p:nvGrpSpPr>
      <p:grpSpPr>
        <a:xfrm>
          <a:off x="0" y="0"/>
          <a:ext cx="0" cy="0"/>
          <a:chOff x="0" y="0"/>
          <a:chExt cx="0" cy="0"/>
        </a:xfrm>
      </p:grpSpPr>
      <p:sp>
        <p:nvSpPr>
          <p:cNvPr id="211" name="Google Shape;211;p1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2 · RAG</a:t>
            </a:r>
            <a:endParaRPr b="0" i="0" sz="1200" u="none" cap="none" strike="noStrike">
              <a:solidFill>
                <a:schemeClr val="dk1"/>
              </a:solidFill>
              <a:latin typeface="Calibri"/>
              <a:ea typeface="Calibri"/>
              <a:cs typeface="Calibri"/>
              <a:sym typeface="Calibri"/>
            </a:endParaRPr>
          </a:p>
        </p:txBody>
      </p:sp>
      <p:sp>
        <p:nvSpPr>
          <p:cNvPr id="212" name="Google Shape;212;p10"/>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The AI writes only from the syllabus</a:t>
            </a:r>
            <a:endParaRPr b="0" i="0" sz="3200" u="none" cap="none" strike="noStrike">
              <a:solidFill>
                <a:schemeClr val="dk1"/>
              </a:solidFill>
              <a:latin typeface="Calibri"/>
              <a:ea typeface="Calibri"/>
              <a:cs typeface="Calibri"/>
              <a:sym typeface="Calibri"/>
            </a:endParaRPr>
          </a:p>
        </p:txBody>
      </p:sp>
      <p:sp>
        <p:nvSpPr>
          <p:cNvPr id="213" name="Google Shape;213;p10"/>
          <p:cNvSpPr/>
          <p:nvPr/>
        </p:nvSpPr>
        <p:spPr>
          <a:xfrm>
            <a:off x="8191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PDF</a:t>
            </a:r>
            <a:endParaRPr b="0" i="0" sz="1300" u="none" cap="none" strike="noStrike">
              <a:solidFill>
                <a:schemeClr val="dk1"/>
              </a:solidFill>
              <a:latin typeface="Calibri"/>
              <a:ea typeface="Calibri"/>
              <a:cs typeface="Calibri"/>
              <a:sym typeface="Calibri"/>
            </a:endParaRPr>
          </a:p>
        </p:txBody>
      </p:sp>
      <p:pic>
        <p:nvPicPr>
          <p:cNvPr descr="arrow-right" id="214" name="Google Shape;214;p10"/>
          <p:cNvPicPr preferRelativeResize="0"/>
          <p:nvPr/>
        </p:nvPicPr>
        <p:blipFill rotWithShape="1">
          <a:blip r:embed="rId3">
            <a:alphaModFix/>
          </a:blip>
          <a:srcRect b="0" l="0" r="0" t="0"/>
          <a:stretch/>
        </p:blipFill>
        <p:spPr>
          <a:xfrm>
            <a:off x="2324100" y="1977299"/>
            <a:ext cx="254000" cy="127000"/>
          </a:xfrm>
          <a:prstGeom prst="rect">
            <a:avLst/>
          </a:prstGeom>
          <a:noFill/>
          <a:ln>
            <a:noFill/>
          </a:ln>
        </p:spPr>
      </p:pic>
      <p:sp>
        <p:nvSpPr>
          <p:cNvPr id="215" name="Google Shape;215;p10"/>
          <p:cNvSpPr/>
          <p:nvPr/>
        </p:nvSpPr>
        <p:spPr>
          <a:xfrm>
            <a:off x="26479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Chunks</a:t>
            </a:r>
            <a:endParaRPr b="0" i="0" sz="1300" u="none" cap="none" strike="noStrike">
              <a:solidFill>
                <a:schemeClr val="dk1"/>
              </a:solidFill>
              <a:latin typeface="Calibri"/>
              <a:ea typeface="Calibri"/>
              <a:cs typeface="Calibri"/>
              <a:sym typeface="Calibri"/>
            </a:endParaRPr>
          </a:p>
        </p:txBody>
      </p:sp>
      <p:pic>
        <p:nvPicPr>
          <p:cNvPr descr="arrow-right" id="216" name="Google Shape;216;p10"/>
          <p:cNvPicPr preferRelativeResize="0"/>
          <p:nvPr/>
        </p:nvPicPr>
        <p:blipFill rotWithShape="1">
          <a:blip r:embed="rId3">
            <a:alphaModFix/>
          </a:blip>
          <a:srcRect b="0" l="0" r="0" t="0"/>
          <a:stretch/>
        </p:blipFill>
        <p:spPr>
          <a:xfrm>
            <a:off x="4152900" y="1977299"/>
            <a:ext cx="254000" cy="127000"/>
          </a:xfrm>
          <a:prstGeom prst="rect">
            <a:avLst/>
          </a:prstGeom>
          <a:noFill/>
          <a:ln>
            <a:noFill/>
          </a:ln>
        </p:spPr>
      </p:pic>
      <p:sp>
        <p:nvSpPr>
          <p:cNvPr id="217" name="Google Shape;217;p10"/>
          <p:cNvSpPr/>
          <p:nvPr/>
        </p:nvSpPr>
        <p:spPr>
          <a:xfrm>
            <a:off x="44767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Embeddings</a:t>
            </a:r>
            <a:endParaRPr b="0" i="0" sz="1300" u="none" cap="none" strike="noStrike">
              <a:solidFill>
                <a:schemeClr val="dk1"/>
              </a:solidFill>
              <a:latin typeface="Calibri"/>
              <a:ea typeface="Calibri"/>
              <a:cs typeface="Calibri"/>
              <a:sym typeface="Calibri"/>
            </a:endParaRPr>
          </a:p>
        </p:txBody>
      </p:sp>
      <p:pic>
        <p:nvPicPr>
          <p:cNvPr descr="arrow-right" id="218" name="Google Shape;218;p10"/>
          <p:cNvPicPr preferRelativeResize="0"/>
          <p:nvPr/>
        </p:nvPicPr>
        <p:blipFill rotWithShape="1">
          <a:blip r:embed="rId3">
            <a:alphaModFix/>
          </a:blip>
          <a:srcRect b="0" l="0" r="0" t="0"/>
          <a:stretch/>
        </p:blipFill>
        <p:spPr>
          <a:xfrm>
            <a:off x="5981700" y="1977299"/>
            <a:ext cx="254000" cy="127000"/>
          </a:xfrm>
          <a:prstGeom prst="rect">
            <a:avLst/>
          </a:prstGeom>
          <a:noFill/>
          <a:ln>
            <a:noFill/>
          </a:ln>
        </p:spPr>
      </p:pic>
      <p:sp>
        <p:nvSpPr>
          <p:cNvPr id="219" name="Google Shape;219;p10"/>
          <p:cNvSpPr/>
          <p:nvPr/>
        </p:nvSpPr>
        <p:spPr>
          <a:xfrm>
            <a:off x="63055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Vector DB</a:t>
            </a:r>
            <a:endParaRPr b="0" i="0" sz="1300" u="none" cap="none" strike="noStrike">
              <a:solidFill>
                <a:schemeClr val="dk1"/>
              </a:solidFill>
              <a:latin typeface="Calibri"/>
              <a:ea typeface="Calibri"/>
              <a:cs typeface="Calibri"/>
              <a:sym typeface="Calibri"/>
            </a:endParaRPr>
          </a:p>
        </p:txBody>
      </p:sp>
      <p:pic>
        <p:nvPicPr>
          <p:cNvPr descr="arrow-right" id="220" name="Google Shape;220;p10"/>
          <p:cNvPicPr preferRelativeResize="0"/>
          <p:nvPr/>
        </p:nvPicPr>
        <p:blipFill rotWithShape="1">
          <a:blip r:embed="rId3">
            <a:alphaModFix/>
          </a:blip>
          <a:srcRect b="0" l="0" r="0" t="0"/>
          <a:stretch/>
        </p:blipFill>
        <p:spPr>
          <a:xfrm>
            <a:off x="7810500" y="1977299"/>
            <a:ext cx="254000" cy="127000"/>
          </a:xfrm>
          <a:prstGeom prst="rect">
            <a:avLst/>
          </a:prstGeom>
          <a:noFill/>
          <a:ln>
            <a:noFill/>
          </a:ln>
        </p:spPr>
      </p:pic>
      <p:sp>
        <p:nvSpPr>
          <p:cNvPr id="221" name="Google Shape;221;p10"/>
          <p:cNvSpPr/>
          <p:nvPr/>
        </p:nvSpPr>
        <p:spPr>
          <a:xfrm>
            <a:off x="8134350" y="1804591"/>
            <a:ext cx="1435100" cy="472414"/>
          </a:xfrm>
          <a:custGeom>
            <a:rect b="b" l="l" r="r" t="t"/>
            <a:pathLst>
              <a:path extrusionOk="0" h="472414" w="1435100">
                <a:moveTo>
                  <a:pt x="69850" y="0"/>
                </a:moveTo>
                <a:lnTo>
                  <a:pt x="1365250" y="0"/>
                </a:lnTo>
                <a:cubicBezTo>
                  <a:pt x="1383775" y="0"/>
                  <a:pt x="1401542" y="7359"/>
                  <a:pt x="1414641" y="20459"/>
                </a:cubicBezTo>
                <a:cubicBezTo>
                  <a:pt x="1427741" y="33558"/>
                  <a:pt x="1435100" y="51325"/>
                  <a:pt x="1435100" y="69850"/>
                </a:cubicBezTo>
                <a:lnTo>
                  <a:pt x="1435100" y="402564"/>
                </a:lnTo>
                <a:cubicBezTo>
                  <a:pt x="1435100" y="441141"/>
                  <a:pt x="1403827" y="472414"/>
                  <a:pt x="1365250" y="472414"/>
                </a:cubicBezTo>
                <a:lnTo>
                  <a:pt x="69850" y="472414"/>
                </a:lnTo>
                <a:cubicBezTo>
                  <a:pt x="31273" y="472414"/>
                  <a:pt x="0" y="441141"/>
                  <a:pt x="0" y="402564"/>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t" bIns="95250" lIns="31750" spcFirstLastPara="1" rIns="31750"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Context</a:t>
            </a:r>
            <a:endParaRPr b="0" i="0" sz="1300" u="none" cap="none" strike="noStrike">
              <a:solidFill>
                <a:schemeClr val="dk1"/>
              </a:solidFill>
              <a:latin typeface="Calibri"/>
              <a:ea typeface="Calibri"/>
              <a:cs typeface="Calibri"/>
              <a:sym typeface="Calibri"/>
            </a:endParaRPr>
          </a:p>
        </p:txBody>
      </p:sp>
      <p:pic>
        <p:nvPicPr>
          <p:cNvPr descr="arrow-right" id="222" name="Google Shape;222;p10"/>
          <p:cNvPicPr preferRelativeResize="0"/>
          <p:nvPr/>
        </p:nvPicPr>
        <p:blipFill rotWithShape="1">
          <a:blip r:embed="rId3">
            <a:alphaModFix/>
          </a:blip>
          <a:srcRect b="0" l="0" r="0" t="0"/>
          <a:stretch/>
        </p:blipFill>
        <p:spPr>
          <a:xfrm>
            <a:off x="9639300" y="1977299"/>
            <a:ext cx="254000" cy="127000"/>
          </a:xfrm>
          <a:prstGeom prst="rect">
            <a:avLst/>
          </a:prstGeom>
          <a:noFill/>
          <a:ln>
            <a:noFill/>
          </a:ln>
        </p:spPr>
      </p:pic>
      <p:sp>
        <p:nvSpPr>
          <p:cNvPr id="223" name="Google Shape;223;p10"/>
          <p:cNvSpPr/>
          <p:nvPr/>
        </p:nvSpPr>
        <p:spPr>
          <a:xfrm>
            <a:off x="9956800" y="1810941"/>
            <a:ext cx="1422400" cy="459714"/>
          </a:xfrm>
          <a:custGeom>
            <a:rect b="b" l="l" r="r" t="t"/>
            <a:pathLst>
              <a:path extrusionOk="0" h="459714" w="1422400">
                <a:moveTo>
                  <a:pt x="76200" y="0"/>
                </a:moveTo>
                <a:lnTo>
                  <a:pt x="1346200" y="0"/>
                </a:lnTo>
                <a:cubicBezTo>
                  <a:pt x="1366409" y="0"/>
                  <a:pt x="1385791" y="8028"/>
                  <a:pt x="1400082" y="22318"/>
                </a:cubicBezTo>
                <a:cubicBezTo>
                  <a:pt x="1414372" y="36609"/>
                  <a:pt x="1422400" y="55991"/>
                  <a:pt x="1422400" y="76200"/>
                </a:cubicBezTo>
                <a:lnTo>
                  <a:pt x="1422400" y="383514"/>
                </a:lnTo>
                <a:cubicBezTo>
                  <a:pt x="1422400" y="425598"/>
                  <a:pt x="1388284" y="459714"/>
                  <a:pt x="1346200" y="459714"/>
                </a:cubicBezTo>
                <a:lnTo>
                  <a:pt x="76200" y="459714"/>
                </a:lnTo>
                <a:cubicBezTo>
                  <a:pt x="34116" y="459714"/>
                  <a:pt x="0" y="425598"/>
                  <a:pt x="0" y="383514"/>
                </a:cubicBezTo>
                <a:lnTo>
                  <a:pt x="0" y="76200"/>
                </a:lnTo>
                <a:cubicBezTo>
                  <a:pt x="0" y="34116"/>
                  <a:pt x="34116" y="0"/>
                  <a:pt x="76200" y="0"/>
                </a:cubicBezTo>
                <a:close/>
              </a:path>
            </a:pathLst>
          </a:custGeom>
          <a:solidFill>
            <a:srgbClr val="16233A"/>
          </a:solidFill>
          <a:ln>
            <a:noFill/>
          </a:ln>
        </p:spPr>
        <p:txBody>
          <a:bodyPr anchorCtr="0" anchor="t" bIns="88900" lIns="25400" spcFirstLastPara="1" rIns="25400" wrap="square" tIns="114300">
            <a:normAutofit/>
          </a:bodyPr>
          <a:lstStyle/>
          <a:p>
            <a:pPr indent="0" lvl="0" marL="0" marR="0" rtl="0" algn="ctr">
              <a:lnSpc>
                <a:spcPct val="140000"/>
              </a:lnSpc>
              <a:spcBef>
                <a:spcPts val="0"/>
              </a:spcBef>
              <a:spcAft>
                <a:spcPts val="0"/>
              </a:spcAft>
              <a:buClr>
                <a:srgbClr val="F3F1EA"/>
              </a:buClr>
              <a:buSzPts val="1300"/>
              <a:buFont typeface="Nunito Sans"/>
              <a:buNone/>
            </a:pPr>
            <a:r>
              <a:rPr b="1" i="0" lang="en-US" sz="1300" u="none" cap="none" strike="noStrike">
                <a:solidFill>
                  <a:srgbClr val="F3F1EA"/>
                </a:solidFill>
                <a:latin typeface="Nunito Sans"/>
                <a:ea typeface="Nunito Sans"/>
                <a:cs typeface="Nunito Sans"/>
                <a:sym typeface="Nunito Sans"/>
              </a:rPr>
              <a:t>LLM</a:t>
            </a:r>
            <a:endParaRPr b="0" i="0" sz="1300" u="none" cap="none" strike="noStrike">
              <a:solidFill>
                <a:schemeClr val="dk1"/>
              </a:solidFill>
              <a:latin typeface="Calibri"/>
              <a:ea typeface="Calibri"/>
              <a:cs typeface="Calibri"/>
              <a:sym typeface="Calibri"/>
            </a:endParaRPr>
          </a:p>
        </p:txBody>
      </p:sp>
      <p:sp>
        <p:nvSpPr>
          <p:cNvPr id="224" name="Google Shape;224;p10"/>
          <p:cNvSpPr/>
          <p:nvPr/>
        </p:nvSpPr>
        <p:spPr>
          <a:xfrm>
            <a:off x="812800" y="2511958"/>
            <a:ext cx="7168388"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Retrieved context for "Arrays" (real)</a:t>
            </a:r>
            <a:endParaRPr b="0" i="0" sz="1400" u="none" cap="none" strike="noStrike">
              <a:solidFill>
                <a:schemeClr val="dk1"/>
              </a:solidFill>
              <a:latin typeface="Calibri"/>
              <a:ea typeface="Calibri"/>
              <a:cs typeface="Calibri"/>
              <a:sym typeface="Calibri"/>
            </a:endParaRPr>
          </a:p>
        </p:txBody>
      </p:sp>
      <p:sp>
        <p:nvSpPr>
          <p:cNvPr id="225" name="Google Shape;225;p10"/>
          <p:cNvSpPr/>
          <p:nvPr/>
        </p:nvSpPr>
        <p:spPr>
          <a:xfrm>
            <a:off x="812800" y="2801479"/>
            <a:ext cx="6959600" cy="914400"/>
          </a:xfrm>
          <a:prstGeom prst="rect">
            <a:avLst/>
          </a:prstGeom>
          <a:solidFill>
            <a:srgbClr val="FDFDFB"/>
          </a:solidFill>
          <a:ln>
            <a:noFill/>
          </a:ln>
        </p:spPr>
        <p:txBody>
          <a:bodyPr anchorCtr="0" anchor="t" bIns="88900" lIns="190500" spcFirstLastPara="1" rIns="0" wrap="square" tIns="114300">
            <a:normAutofit/>
          </a:bodyPr>
          <a:lstStyle/>
          <a:p>
            <a:pPr indent="0" lvl="0" marL="0" marR="0" rtl="0" algn="l">
              <a:lnSpc>
                <a:spcPct val="150000"/>
              </a:lnSpc>
              <a:spcBef>
                <a:spcPts val="0"/>
              </a:spcBef>
              <a:spcAft>
                <a:spcPts val="0"/>
              </a:spcAft>
              <a:buClr>
                <a:srgbClr val="34405A"/>
              </a:buClr>
              <a:buSzPts val="1200"/>
              <a:buFont typeface="Nunito Sans"/>
              <a:buNone/>
            </a:pPr>
            <a:r>
              <a:rPr b="0" i="1" lang="en-US" sz="1200" u="none" cap="none" strike="noStrike">
                <a:solidFill>
                  <a:srgbClr val="34405A"/>
                </a:solidFill>
                <a:latin typeface="Nunito Sans"/>
                <a:ea typeface="Nunito Sans"/>
                <a:cs typeface="Nunito Sans"/>
                <a:sym typeface="Nunito Sans"/>
              </a:rPr>
              <a:t>"To find the largest element, assume the first element is the largest and compare it with every other element, updating the assumption when a bigger value is found. Linear search checks each element in turn…"</a:t>
            </a:r>
            <a:endParaRPr b="0" i="0" sz="1200" u="none" cap="none" strike="noStrike">
              <a:solidFill>
                <a:schemeClr val="dk1"/>
              </a:solidFill>
              <a:latin typeface="Calibri"/>
              <a:ea typeface="Calibri"/>
              <a:cs typeface="Calibri"/>
              <a:sym typeface="Calibri"/>
            </a:endParaRPr>
          </a:p>
        </p:txBody>
      </p:sp>
      <p:cxnSp>
        <p:nvCxnSpPr>
          <p:cNvPr id="226" name="Google Shape;226;p10"/>
          <p:cNvCxnSpPr/>
          <p:nvPr/>
        </p:nvCxnSpPr>
        <p:spPr>
          <a:xfrm>
            <a:off x="831850" y="2801479"/>
            <a:ext cx="0" cy="914400"/>
          </a:xfrm>
          <a:prstGeom prst="straightConnector1">
            <a:avLst/>
          </a:prstGeom>
          <a:noFill/>
          <a:ln cap="flat" cmpd="sng" w="38100">
            <a:solidFill>
              <a:srgbClr val="2A5FC0"/>
            </a:solidFill>
            <a:prstDash val="solid"/>
            <a:round/>
            <a:headEnd len="sm" w="sm" type="none"/>
            <a:tailEnd len="sm" w="sm" type="none"/>
          </a:ln>
        </p:spPr>
      </p:cxnSp>
      <p:sp>
        <p:nvSpPr>
          <p:cNvPr id="227" name="Google Shape;227;p10"/>
          <p:cNvSpPr/>
          <p:nvPr/>
        </p:nvSpPr>
        <p:spPr>
          <a:xfrm>
            <a:off x="8077200" y="2511958"/>
            <a:ext cx="3302000" cy="1407054"/>
          </a:xfrm>
          <a:prstGeom prst="roundRect">
            <a:avLst>
              <a:gd fmla="val 7221"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8267700" y="2702458"/>
            <a:ext cx="300863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Retrieved text on the right unit</a:t>
            </a:r>
            <a:endParaRPr b="0" i="0" sz="1200" u="none" cap="none" strike="noStrike">
              <a:solidFill>
                <a:schemeClr val="dk1"/>
              </a:solidFill>
              <a:latin typeface="Calibri"/>
              <a:ea typeface="Calibri"/>
              <a:cs typeface="Calibri"/>
              <a:sym typeface="Calibri"/>
            </a:endParaRPr>
          </a:p>
        </p:txBody>
      </p:sp>
      <p:sp>
        <p:nvSpPr>
          <p:cNvPr id="229" name="Google Shape;229;p10"/>
          <p:cNvSpPr/>
          <p:nvPr/>
        </p:nvSpPr>
        <p:spPr>
          <a:xfrm>
            <a:off x="8267700" y="2966579"/>
            <a:ext cx="3008630"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2800"/>
              <a:buFont typeface="Domine"/>
              <a:buNone/>
            </a:pPr>
            <a:r>
              <a:rPr b="1" i="0" lang="en-US" sz="2800" u="none" cap="none" strike="noStrike">
                <a:solidFill>
                  <a:srgbClr val="2A5FC0"/>
                </a:solidFill>
                <a:latin typeface="Domine"/>
                <a:ea typeface="Domine"/>
                <a:cs typeface="Domine"/>
                <a:sym typeface="Domine"/>
              </a:rPr>
              <a:t>38% → 100%</a:t>
            </a:r>
            <a:endParaRPr b="0" i="0" sz="2800" u="none" cap="none" strike="noStrike">
              <a:solidFill>
                <a:schemeClr val="dk1"/>
              </a:solidFill>
              <a:latin typeface="Calibri"/>
              <a:ea typeface="Calibri"/>
              <a:cs typeface="Calibri"/>
              <a:sym typeface="Calibri"/>
            </a:endParaRPr>
          </a:p>
        </p:txBody>
      </p:sp>
      <p:sp>
        <p:nvSpPr>
          <p:cNvPr id="230" name="Google Shape;230;p10"/>
          <p:cNvSpPr/>
          <p:nvPr/>
        </p:nvSpPr>
        <p:spPr>
          <a:xfrm>
            <a:off x="8267700" y="3515190"/>
            <a:ext cx="300863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0" i="0" lang="en-US" sz="1200" u="none" cap="none" strike="noStrike">
                <a:solidFill>
                  <a:srgbClr val="34405A"/>
                </a:solidFill>
                <a:latin typeface="Nunito Sans"/>
                <a:ea typeface="Nunito Sans"/>
                <a:cs typeface="Nunito Sans"/>
                <a:sym typeface="Nunito Sans"/>
              </a:rPr>
              <a:t>fixed chunks vs our unit-aware retrieval</a:t>
            </a:r>
            <a:endParaRPr b="0" i="0" sz="1200" u="none" cap="none" strike="noStrike">
              <a:solidFill>
                <a:schemeClr val="dk1"/>
              </a:solidFill>
              <a:latin typeface="Calibri"/>
              <a:ea typeface="Calibri"/>
              <a:cs typeface="Calibri"/>
              <a:sym typeface="Calibri"/>
            </a:endParaRPr>
          </a:p>
        </p:txBody>
      </p:sp>
      <p:sp>
        <p:nvSpPr>
          <p:cNvPr id="231" name="Google Shape;231;p10"/>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36" name="Shape 236"/>
        <p:cNvGrpSpPr/>
        <p:nvPr/>
      </p:nvGrpSpPr>
      <p:grpSpPr>
        <a:xfrm>
          <a:off x="0" y="0"/>
          <a:ext cx="0" cy="0"/>
          <a:chOff x="0" y="0"/>
          <a:chExt cx="0" cy="0"/>
        </a:xfrm>
      </p:grpSpPr>
      <p:sp>
        <p:nvSpPr>
          <p:cNvPr id="237" name="Google Shape;237;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3 · MCQ GENERATION</a:t>
            </a:r>
            <a:endParaRPr b="0" i="0" sz="1200" u="none" cap="none" strike="noStrike">
              <a:solidFill>
                <a:schemeClr val="dk1"/>
              </a:solidFill>
              <a:latin typeface="Calibri"/>
              <a:ea typeface="Calibri"/>
              <a:cs typeface="Calibri"/>
              <a:sym typeface="Calibri"/>
            </a:endParaRPr>
          </a:p>
        </p:txBody>
      </p:sp>
      <p:sp>
        <p:nvSpPr>
          <p:cNvPr id="238" name="Google Shape;238;p11"/>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A generated question, as the student sees it</a:t>
            </a:r>
            <a:endParaRPr b="0" i="0" sz="3200" u="none" cap="none" strike="noStrike">
              <a:solidFill>
                <a:schemeClr val="dk1"/>
              </a:solidFill>
              <a:latin typeface="Calibri"/>
              <a:ea typeface="Calibri"/>
              <a:cs typeface="Calibri"/>
              <a:sym typeface="Calibri"/>
            </a:endParaRPr>
          </a:p>
        </p:txBody>
      </p:sp>
      <p:sp>
        <p:nvSpPr>
          <p:cNvPr id="239" name="Google Shape;239;p11"/>
          <p:cNvSpPr/>
          <p:nvPr/>
        </p:nvSpPr>
        <p:spPr>
          <a:xfrm>
            <a:off x="812800" y="1772841"/>
            <a:ext cx="497078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Concept:</a:t>
            </a:r>
            <a:r>
              <a:rPr b="0" i="0" lang="en-US" sz="1200" u="none" cap="none" strike="noStrike">
                <a:solidFill>
                  <a:srgbClr val="34405A"/>
                </a:solidFill>
                <a:latin typeface="Nunito Sans"/>
                <a:ea typeface="Nunito Sans"/>
                <a:cs typeface="Nunito Sans"/>
                <a:sym typeface="Nunito Sans"/>
              </a:rPr>
              <a:t> Algorithmic Problem Solving and Arrays · </a:t>
            </a:r>
            <a:r>
              <a:rPr b="1" i="0" lang="en-US" sz="1200" u="none" cap="none" strike="noStrike">
                <a:solidFill>
                  <a:srgbClr val="34405A"/>
                </a:solidFill>
                <a:latin typeface="Nunito Sans"/>
                <a:ea typeface="Nunito Sans"/>
                <a:cs typeface="Nunito Sans"/>
                <a:sym typeface="Nunito Sans"/>
              </a:rPr>
              <a:t>Difficulty:</a:t>
            </a:r>
            <a:r>
              <a:rPr b="0" i="0" lang="en-US" sz="1200" u="none" cap="none" strike="noStrike">
                <a:solidFill>
                  <a:srgbClr val="34405A"/>
                </a:solidFill>
                <a:latin typeface="Nunito Sans"/>
                <a:ea typeface="Nunito Sans"/>
                <a:cs typeface="Nunito Sans"/>
                <a:sym typeface="Nunito Sans"/>
              </a:rPr>
              <a:t> Easy · </a:t>
            </a:r>
            <a:r>
              <a:rPr b="1" i="0" lang="en-US" sz="1200" u="none" cap="none" strike="noStrike">
                <a:solidFill>
                  <a:srgbClr val="34405A"/>
                </a:solidFill>
                <a:latin typeface="Nunito Sans"/>
                <a:ea typeface="Nunito Sans"/>
                <a:cs typeface="Nunito Sans"/>
                <a:sym typeface="Nunito Sans"/>
              </a:rPr>
              <a:t>Bloom:</a:t>
            </a:r>
            <a:r>
              <a:rPr b="0" i="0" lang="en-US" sz="1200" u="none" cap="none" strike="noStrike">
                <a:solidFill>
                  <a:srgbClr val="34405A"/>
                </a:solidFill>
                <a:latin typeface="Nunito Sans"/>
                <a:ea typeface="Nunito Sans"/>
                <a:cs typeface="Nunito Sans"/>
                <a:sym typeface="Nunito Sans"/>
              </a:rPr>
              <a:t> Remember / Understand</a:t>
            </a:r>
            <a:endParaRPr b="0" i="0" sz="1200" u="none" cap="none" strike="noStrike">
              <a:solidFill>
                <a:schemeClr val="dk1"/>
              </a:solidFill>
              <a:latin typeface="Calibri"/>
              <a:ea typeface="Calibri"/>
              <a:cs typeface="Calibri"/>
              <a:sym typeface="Calibri"/>
            </a:endParaRPr>
          </a:p>
        </p:txBody>
      </p:sp>
      <p:sp>
        <p:nvSpPr>
          <p:cNvPr id="240" name="Google Shape;240;p11"/>
          <p:cNvSpPr/>
          <p:nvPr/>
        </p:nvSpPr>
        <p:spPr>
          <a:xfrm>
            <a:off x="819150" y="2282031"/>
            <a:ext cx="4813300" cy="984845"/>
          </a:xfrm>
          <a:prstGeom prst="roundRect">
            <a:avLst>
              <a:gd fmla="val 7092" name="adj"/>
            </a:avLst>
          </a:prstGeom>
          <a:solidFill>
            <a:srgbClr val="FDFDFB"/>
          </a:solidFill>
          <a:ln cap="flat" cmpd="sng" w="12700">
            <a:solidFill>
              <a:srgbClr val="D5DAE3"/>
            </a:solidFill>
            <a:prstDash val="solid"/>
            <a:round/>
            <a:headEnd len="sm" w="sm" type="none"/>
            <a:tailEnd len="sm" w="sm" type="none"/>
          </a:ln>
        </p:spPr>
        <p:txBody>
          <a:bodyPr anchorCtr="0" anchor="t" bIns="87475" lIns="138275" spcFirstLastPara="1" rIns="3400" wrap="square" tIns="112875">
            <a:normAutofit/>
          </a:bodyPr>
          <a:lstStyle/>
          <a:p>
            <a:pPr indent="0" lvl="0" marL="0" marR="0" rtl="0" algn="l">
              <a:lnSpc>
                <a:spcPct val="145000"/>
              </a:lnSpc>
              <a:spcBef>
                <a:spcPts val="0"/>
              </a:spcBef>
              <a:spcAft>
                <a:spcPts val="0"/>
              </a:spcAft>
              <a:buClr>
                <a:srgbClr val="16233A"/>
              </a:buClr>
              <a:buSzPts val="1300"/>
              <a:buFont typeface="Nunito Sans"/>
              <a:buNone/>
            </a:pPr>
            <a:r>
              <a:rPr b="0" i="0" lang="en-US" sz="1300" u="none" cap="none" strike="noStrike">
                <a:solidFill>
                  <a:srgbClr val="16233A"/>
                </a:solidFill>
                <a:latin typeface="Nunito Sans"/>
                <a:ea typeface="Nunito Sans"/>
                <a:cs typeface="Nunito Sans"/>
                <a:sym typeface="Nunito Sans"/>
              </a:rPr>
              <a:t>Fill in the blank: "To find the largest element, assume the first element is the largest and compare it with every other element, updating the _____ when a bigger value is found."</a:t>
            </a:r>
            <a:endParaRPr b="0" i="0" sz="1300" u="none" cap="none" strike="noStrike">
              <a:solidFill>
                <a:schemeClr val="dk1"/>
              </a:solidFill>
              <a:latin typeface="Calibri"/>
              <a:ea typeface="Calibri"/>
              <a:cs typeface="Calibri"/>
              <a:sym typeface="Calibri"/>
            </a:endParaRPr>
          </a:p>
        </p:txBody>
      </p:sp>
      <p:sp>
        <p:nvSpPr>
          <p:cNvPr id="241" name="Google Shape;241;p11"/>
          <p:cNvSpPr/>
          <p:nvPr/>
        </p:nvSpPr>
        <p:spPr>
          <a:xfrm>
            <a:off x="812800" y="3349427"/>
            <a:ext cx="4970780" cy="2730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4405A"/>
              </a:buClr>
              <a:buSzPts val="1300"/>
              <a:buFont typeface="Nunito Sans"/>
              <a:buNone/>
            </a:pPr>
            <a:r>
              <a:rPr b="0" i="0" lang="en-US" sz="1300" u="none" cap="none" strike="noStrike">
                <a:solidFill>
                  <a:srgbClr val="34405A"/>
                </a:solidFill>
                <a:latin typeface="Nunito Sans"/>
                <a:ea typeface="Nunito Sans"/>
                <a:cs typeface="Nunito Sans"/>
                <a:sym typeface="Nunito Sans"/>
              </a:rPr>
              <a:t>A. order · B. largest · C. search · </a:t>
            </a:r>
            <a:r>
              <a:rPr b="1" i="0" lang="en-US" sz="1300" u="none" cap="none" strike="noStrike">
                <a:solidFill>
                  <a:srgbClr val="34405A"/>
                </a:solidFill>
                <a:latin typeface="Nunito Sans"/>
                <a:ea typeface="Nunito Sans"/>
                <a:cs typeface="Nunito Sans"/>
                <a:sym typeface="Nunito Sans"/>
              </a:rPr>
              <a:t>D. assumption (correct)</a:t>
            </a:r>
            <a:endParaRPr b="0" i="0" sz="1300" u="none" cap="none" strike="noStrike">
              <a:solidFill>
                <a:schemeClr val="dk1"/>
              </a:solidFill>
              <a:latin typeface="Calibri"/>
              <a:ea typeface="Calibri"/>
              <a:cs typeface="Calibri"/>
              <a:sym typeface="Calibri"/>
            </a:endParaRPr>
          </a:p>
        </p:txBody>
      </p:sp>
      <p:sp>
        <p:nvSpPr>
          <p:cNvPr id="242" name="Google Shape;242;p11"/>
          <p:cNvSpPr/>
          <p:nvPr/>
        </p:nvSpPr>
        <p:spPr>
          <a:xfrm>
            <a:off x="812800" y="3673277"/>
            <a:ext cx="4970780" cy="246327"/>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65063"/>
              </a:buClr>
              <a:buSzPts val="1200"/>
              <a:buFont typeface="Nunito Sans"/>
              <a:buNone/>
            </a:pPr>
            <a:r>
              <a:rPr b="1" i="0" lang="en-US" sz="1200" u="none" cap="none" strike="noStrike">
                <a:solidFill>
                  <a:srgbClr val="465063"/>
                </a:solidFill>
                <a:latin typeface="Nunito Sans"/>
                <a:ea typeface="Nunito Sans"/>
                <a:cs typeface="Nunito Sans"/>
                <a:sym typeface="Nunito Sans"/>
              </a:rPr>
              <a:t>Explanation:</a:t>
            </a:r>
            <a:r>
              <a:rPr b="0" i="0" lang="en-US" sz="1200" u="none" cap="none" strike="noStrike">
                <a:solidFill>
                  <a:srgbClr val="465063"/>
                </a:solidFill>
                <a:latin typeface="Nunito Sans"/>
                <a:ea typeface="Nunito Sans"/>
                <a:cs typeface="Nunito Sans"/>
                <a:sym typeface="Nunito Sans"/>
              </a:rPr>
              <a:t> taken from the course material, Unit 3.</a:t>
            </a:r>
            <a:endParaRPr b="0" i="0" sz="1200" u="none" cap="none" strike="noStrike">
              <a:solidFill>
                <a:schemeClr val="dk1"/>
              </a:solidFill>
              <a:latin typeface="Calibri"/>
              <a:ea typeface="Calibri"/>
              <a:cs typeface="Calibri"/>
              <a:sym typeface="Calibri"/>
            </a:endParaRPr>
          </a:p>
        </p:txBody>
      </p:sp>
      <p:sp>
        <p:nvSpPr>
          <p:cNvPr id="243" name="Google Shape;243;p11"/>
          <p:cNvSpPr/>
          <p:nvPr/>
        </p:nvSpPr>
        <p:spPr>
          <a:xfrm>
            <a:off x="812800" y="3970406"/>
            <a:ext cx="1540933" cy="604441"/>
          </a:xfrm>
          <a:prstGeom prst="roundRect">
            <a:avLst>
              <a:gd fmla="val 12607" name="adj"/>
            </a:avLst>
          </a:prstGeom>
          <a:solidFill>
            <a:srgbClr val="ECEEF3"/>
          </a:solidFill>
          <a:ln>
            <a:noFill/>
          </a:ln>
        </p:spPr>
        <p:txBody>
          <a:bodyPr anchorCtr="0" anchor="t" bIns="41175" lIns="41175" spcFirstLastPara="1" rIns="41175" wrap="square" tIns="66575">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90</a:t>
            </a:r>
            <a:r>
              <a:rPr b="0" i="0" lang="en-US" sz="1200" u="none" cap="none" strike="noStrike">
                <a:solidFill>
                  <a:srgbClr val="16233A"/>
                </a:solidFill>
                <a:latin typeface="Nunito Sans"/>
                <a:ea typeface="Nunito Sans"/>
                <a:cs typeface="Nunito Sans"/>
                <a:sym typeface="Nunito Sans"/>
              </a:rPr>
              <a:t> generated</a:t>
            </a:r>
            <a:endParaRPr b="0" i="0" sz="1200" u="none" cap="none" strike="noStrike">
              <a:solidFill>
                <a:schemeClr val="dk1"/>
              </a:solidFill>
              <a:latin typeface="Calibri"/>
              <a:ea typeface="Calibri"/>
              <a:cs typeface="Calibri"/>
              <a:sym typeface="Calibri"/>
            </a:endParaRPr>
          </a:p>
        </p:txBody>
      </p:sp>
      <p:sp>
        <p:nvSpPr>
          <p:cNvPr id="244" name="Google Shape;244;p11"/>
          <p:cNvSpPr/>
          <p:nvPr/>
        </p:nvSpPr>
        <p:spPr>
          <a:xfrm>
            <a:off x="2455333" y="3970406"/>
            <a:ext cx="1540933" cy="604441"/>
          </a:xfrm>
          <a:prstGeom prst="roundRect">
            <a:avLst>
              <a:gd fmla="val 12607" name="adj"/>
            </a:avLst>
          </a:prstGeom>
          <a:solidFill>
            <a:srgbClr val="ECEEF3"/>
          </a:solidFill>
          <a:ln>
            <a:noFill/>
          </a:ln>
        </p:spPr>
        <p:txBody>
          <a:bodyPr anchorCtr="0" anchor="t" bIns="41175" lIns="41175" spcFirstLastPara="1" rIns="41175" wrap="square" tIns="66575">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25</a:t>
            </a:r>
            <a:r>
              <a:rPr b="0" i="0" lang="en-US" sz="1200" u="none" cap="none" strike="noStrike">
                <a:solidFill>
                  <a:srgbClr val="16233A"/>
                </a:solidFill>
                <a:latin typeface="Nunito Sans"/>
                <a:ea typeface="Nunito Sans"/>
                <a:cs typeface="Nunito Sans"/>
                <a:sym typeface="Nunito Sans"/>
              </a:rPr>
              <a:t> duplicates removed</a:t>
            </a:r>
            <a:endParaRPr b="0" i="0" sz="1200" u="none" cap="none" strike="noStrike">
              <a:solidFill>
                <a:schemeClr val="dk1"/>
              </a:solidFill>
              <a:latin typeface="Calibri"/>
              <a:ea typeface="Calibri"/>
              <a:cs typeface="Calibri"/>
              <a:sym typeface="Calibri"/>
            </a:endParaRPr>
          </a:p>
        </p:txBody>
      </p:sp>
      <p:sp>
        <p:nvSpPr>
          <p:cNvPr id="245" name="Google Shape;245;p11"/>
          <p:cNvSpPr/>
          <p:nvPr/>
        </p:nvSpPr>
        <p:spPr>
          <a:xfrm>
            <a:off x="4097867" y="3970406"/>
            <a:ext cx="1540933" cy="604441"/>
          </a:xfrm>
          <a:prstGeom prst="roundRect">
            <a:avLst>
              <a:gd fmla="val 12607" name="adj"/>
            </a:avLst>
          </a:prstGeom>
          <a:solidFill>
            <a:srgbClr val="ECEEF3"/>
          </a:solidFill>
          <a:ln>
            <a:noFill/>
          </a:ln>
        </p:spPr>
        <p:txBody>
          <a:bodyPr anchorCtr="0" anchor="t" bIns="41175" lIns="41175" spcFirstLastPara="1" rIns="41175" wrap="square" tIns="66575">
            <a:normAutofit/>
          </a:bodyPr>
          <a:lstStyle/>
          <a:p>
            <a:pPr indent="0" lvl="0" marL="0" marR="0" rtl="0" algn="ctr">
              <a:lnSpc>
                <a:spcPct val="140000"/>
              </a:lnSpc>
              <a:spcBef>
                <a:spcPts val="0"/>
              </a:spcBef>
              <a:spcAft>
                <a:spcPts val="0"/>
              </a:spcAft>
              <a:buClr>
                <a:srgbClr val="16233A"/>
              </a:buClr>
              <a:buSzPts val="1200"/>
              <a:buFont typeface="Nunito Sans"/>
              <a:buNone/>
            </a:pPr>
            <a:r>
              <a:rPr b="1" i="0" lang="en-US" sz="1200" u="none" cap="none" strike="noStrike">
                <a:solidFill>
                  <a:srgbClr val="16233A"/>
                </a:solidFill>
                <a:latin typeface="Nunito Sans"/>
                <a:ea typeface="Nunito Sans"/>
                <a:cs typeface="Nunito Sans"/>
                <a:sym typeface="Nunito Sans"/>
              </a:rPr>
              <a:t>65</a:t>
            </a:r>
            <a:r>
              <a:rPr b="0" i="0" lang="en-US" sz="1200" u="none" cap="none" strike="noStrike">
                <a:solidFill>
                  <a:srgbClr val="16233A"/>
                </a:solidFill>
                <a:latin typeface="Nunito Sans"/>
                <a:ea typeface="Nunito Sans"/>
                <a:cs typeface="Nunito Sans"/>
                <a:sym typeface="Nunito Sans"/>
              </a:rPr>
              <a:t> accepted</a:t>
            </a:r>
            <a:endParaRPr b="0" i="0" sz="1200" u="none" cap="none" strike="noStrike">
              <a:solidFill>
                <a:schemeClr val="dk1"/>
              </a:solidFill>
              <a:latin typeface="Calibri"/>
              <a:ea typeface="Calibri"/>
              <a:cs typeface="Calibri"/>
              <a:sym typeface="Calibri"/>
            </a:endParaRPr>
          </a:p>
        </p:txBody>
      </p:sp>
      <p:sp>
        <p:nvSpPr>
          <p:cNvPr id="246" name="Google Shape;246;p11"/>
          <p:cNvSpPr/>
          <p:nvPr/>
        </p:nvSpPr>
        <p:spPr>
          <a:xfrm>
            <a:off x="5892800" y="1772841"/>
            <a:ext cx="5486400" cy="3429000"/>
          </a:xfrm>
          <a:prstGeom prst="roundRect">
            <a:avLst>
              <a:gd fmla="val 2222"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of the self-assessment showing three generated easy-level questions with four options each" id="247" name="Google Shape;247;p11"/>
          <p:cNvPicPr preferRelativeResize="0"/>
          <p:nvPr/>
        </p:nvPicPr>
        <p:blipFill rotWithShape="1">
          <a:blip r:embed="rId3">
            <a:alphaModFix/>
          </a:blip>
          <a:srcRect b="0" l="0" r="0" t="0"/>
          <a:stretch/>
        </p:blipFill>
        <p:spPr>
          <a:xfrm>
            <a:off x="6277791" y="1785541"/>
            <a:ext cx="4716417" cy="3403600"/>
          </a:xfrm>
          <a:prstGeom prst="rect">
            <a:avLst/>
          </a:prstGeom>
          <a:noFill/>
          <a:ln>
            <a:noFill/>
          </a:ln>
        </p:spPr>
      </p:pic>
      <p:sp>
        <p:nvSpPr>
          <p:cNvPr id="248" name="Google Shape;248;p11"/>
          <p:cNvSpPr/>
          <p:nvPr/>
        </p:nvSpPr>
        <p:spPr>
          <a:xfrm>
            <a:off x="5899150" y="1779191"/>
            <a:ext cx="5473700" cy="3416300"/>
          </a:xfrm>
          <a:prstGeom prst="roundRect">
            <a:avLst>
              <a:gd fmla="val 2045"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10 · Offline generator; counts from one run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54" name="Shape 254"/>
        <p:cNvGrpSpPr/>
        <p:nvPr/>
      </p:nvGrpSpPr>
      <p:grpSpPr>
        <a:xfrm>
          <a:off x="0" y="0"/>
          <a:ext cx="0" cy="0"/>
          <a:chOff x="0" y="0"/>
          <a:chExt cx="0" cy="0"/>
        </a:xfrm>
      </p:grpSpPr>
      <p:sp>
        <p:nvSpPr>
          <p:cNvPr id="255" name="Google Shape;255;p1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4 · KNOWLEDGE TRACING (EKT)</a:t>
            </a:r>
            <a:endParaRPr b="0" i="0" sz="1200" u="none" cap="none" strike="noStrike">
              <a:solidFill>
                <a:schemeClr val="dk1"/>
              </a:solidFill>
              <a:latin typeface="Calibri"/>
              <a:ea typeface="Calibri"/>
              <a:cs typeface="Calibri"/>
              <a:sym typeface="Calibri"/>
            </a:endParaRPr>
          </a:p>
        </p:txBody>
      </p:sp>
      <p:sp>
        <p:nvSpPr>
          <p:cNvPr id="256" name="Google Shape;256;p12"/>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Mastery of each concept for one student</a:t>
            </a:r>
            <a:endParaRPr b="0" i="0" sz="3200" u="none" cap="none" strike="noStrike">
              <a:solidFill>
                <a:schemeClr val="dk1"/>
              </a:solidFill>
              <a:latin typeface="Calibri"/>
              <a:ea typeface="Calibri"/>
              <a:cs typeface="Calibri"/>
              <a:sym typeface="Calibri"/>
            </a:endParaRPr>
          </a:p>
        </p:txBody>
      </p:sp>
      <p:sp>
        <p:nvSpPr>
          <p:cNvPr id="257" name="Google Shape;257;p12"/>
          <p:cNvSpPr/>
          <p:nvPr/>
        </p:nvSpPr>
        <p:spPr>
          <a:xfrm>
            <a:off x="812800" y="1798241"/>
            <a:ext cx="6985000" cy="3143250"/>
          </a:xfrm>
          <a:prstGeom prst="roundRect">
            <a:avLst>
              <a:gd fmla="val 2424"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of the knowledge-state panel for student CSE230001: five concepts with mastery bars, threshold 50% and target 70% marks, all flagged as gaps" id="258" name="Google Shape;258;p12"/>
          <p:cNvPicPr preferRelativeResize="0"/>
          <p:nvPr/>
        </p:nvPicPr>
        <p:blipFill rotWithShape="1">
          <a:blip r:embed="rId3">
            <a:alphaModFix/>
          </a:blip>
          <a:srcRect b="0" l="-195" r="-195" t="0"/>
          <a:stretch/>
        </p:blipFill>
        <p:spPr>
          <a:xfrm>
            <a:off x="825500" y="1810941"/>
            <a:ext cx="6959600" cy="3117850"/>
          </a:xfrm>
          <a:prstGeom prst="roundRect">
            <a:avLst>
              <a:gd fmla="val 2037" name="adj"/>
            </a:avLst>
          </a:prstGeom>
          <a:noFill/>
          <a:ln>
            <a:noFill/>
          </a:ln>
        </p:spPr>
      </p:pic>
      <p:sp>
        <p:nvSpPr>
          <p:cNvPr id="259" name="Google Shape;259;p12"/>
          <p:cNvSpPr/>
          <p:nvPr/>
        </p:nvSpPr>
        <p:spPr>
          <a:xfrm>
            <a:off x="819150" y="1804591"/>
            <a:ext cx="6972300" cy="3130550"/>
          </a:xfrm>
          <a:prstGeom prst="roundRect">
            <a:avLst>
              <a:gd fmla="val 2231"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
          <p:cNvSpPr/>
          <p:nvPr/>
        </p:nvSpPr>
        <p:spPr>
          <a:xfrm>
            <a:off x="8102600" y="1798241"/>
            <a:ext cx="3374898" cy="743545"/>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34405A"/>
              </a:buClr>
              <a:buSzPts val="1300"/>
              <a:buFont typeface="Nunito Sans"/>
              <a:buNone/>
            </a:pPr>
            <a:r>
              <a:rPr b="1" i="0" lang="en-US" sz="1300" u="none" cap="none" strike="noStrike">
                <a:solidFill>
                  <a:srgbClr val="34405A"/>
                </a:solidFill>
                <a:latin typeface="Nunito Sans"/>
                <a:ea typeface="Nunito Sans"/>
                <a:cs typeface="Nunito Sans"/>
                <a:sym typeface="Nunito Sans"/>
              </a:rPr>
              <a:t>EKT</a:t>
            </a:r>
            <a:r>
              <a:rPr b="0" i="0" lang="en-US" sz="1300" u="none" cap="none" strike="noStrike">
                <a:solidFill>
                  <a:srgbClr val="34405A"/>
                </a:solidFill>
                <a:latin typeface="Nunito Sans"/>
                <a:ea typeface="Nunito Sans"/>
                <a:cs typeface="Nunito Sans"/>
                <a:sym typeface="Nunito Sans"/>
              </a:rPr>
              <a:t> reads each question's text and whether the answer was right, through an LSTM, and outputs mastery per concept.</a:t>
            </a:r>
            <a:endParaRPr b="0" i="0" sz="1300" u="none" cap="none" strike="noStrike">
              <a:solidFill>
                <a:schemeClr val="dk1"/>
              </a:solidFill>
              <a:latin typeface="Calibri"/>
              <a:ea typeface="Calibri"/>
              <a:cs typeface="Calibri"/>
              <a:sym typeface="Calibri"/>
            </a:endParaRPr>
          </a:p>
        </p:txBody>
      </p:sp>
      <p:sp>
        <p:nvSpPr>
          <p:cNvPr id="261" name="Google Shape;261;p12"/>
          <p:cNvSpPr/>
          <p:nvPr/>
        </p:nvSpPr>
        <p:spPr>
          <a:xfrm>
            <a:off x="8102600" y="2630686"/>
            <a:ext cx="3374898" cy="264782"/>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34405A"/>
              </a:buClr>
              <a:buSzPts val="1300"/>
              <a:buFont typeface="Nunito Sans"/>
              <a:buNone/>
            </a:pPr>
            <a:r>
              <a:rPr b="1" i="0" lang="en-US" sz="1300" u="none" cap="none" strike="noStrike">
                <a:solidFill>
                  <a:srgbClr val="34405A"/>
                </a:solidFill>
                <a:latin typeface="Nunito Sans"/>
                <a:ea typeface="Nunito Sans"/>
                <a:cs typeface="Nunito Sans"/>
                <a:sym typeface="Nunito Sans"/>
              </a:rPr>
              <a:t>Target 70%:</a:t>
            </a:r>
            <a:r>
              <a:rPr b="0" i="0" lang="en-US" sz="1300" u="none" cap="none" strike="noStrike">
                <a:solidFill>
                  <a:srgbClr val="34405A"/>
                </a:solidFill>
                <a:latin typeface="Nunito Sans"/>
                <a:ea typeface="Nunito Sans"/>
                <a:cs typeface="Nunito Sans"/>
                <a:sym typeface="Nunito Sans"/>
              </a:rPr>
              <a:t> below it is a weak concept.</a:t>
            </a:r>
            <a:endParaRPr b="0" i="0" sz="1300" u="none" cap="none" strike="noStrike">
              <a:solidFill>
                <a:schemeClr val="dk1"/>
              </a:solidFill>
              <a:latin typeface="Calibri"/>
              <a:ea typeface="Calibri"/>
              <a:cs typeface="Calibri"/>
              <a:sym typeface="Calibri"/>
            </a:endParaRPr>
          </a:p>
        </p:txBody>
      </p:sp>
      <p:sp>
        <p:nvSpPr>
          <p:cNvPr id="262" name="Google Shape;262;p12"/>
          <p:cNvSpPr/>
          <p:nvPr/>
        </p:nvSpPr>
        <p:spPr>
          <a:xfrm>
            <a:off x="8102600" y="2984370"/>
            <a:ext cx="3374898" cy="504164"/>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34405A"/>
              </a:buClr>
              <a:buSzPts val="1300"/>
              <a:buFont typeface="Nunito Sans"/>
              <a:buNone/>
            </a:pPr>
            <a:r>
              <a:rPr b="1" i="0" lang="en-US" sz="1300" u="none" cap="none" strike="noStrike">
                <a:solidFill>
                  <a:srgbClr val="34405A"/>
                </a:solidFill>
                <a:latin typeface="Nunito Sans"/>
                <a:ea typeface="Nunito Sans"/>
                <a:cs typeface="Nunito Sans"/>
                <a:sym typeface="Nunito Sans"/>
              </a:rPr>
              <a:t>Student CSE230001:</a:t>
            </a:r>
            <a:r>
              <a:rPr b="0" i="0" lang="en-US" sz="1300" u="none" cap="none" strike="noStrike">
                <a:solidFill>
                  <a:srgbClr val="34405A"/>
                </a:solidFill>
                <a:latin typeface="Nunito Sans"/>
                <a:ea typeface="Nunito Sans"/>
                <a:cs typeface="Nunito Sans"/>
                <a:sym typeface="Nunito Sans"/>
              </a:rPr>
              <a:t> 55, 43, 31, 43 and 35%, so all five concepts are weak.</a:t>
            </a:r>
            <a:endParaRPr b="0" i="0" sz="1300" u="none" cap="none" strike="noStrike">
              <a:solidFill>
                <a:schemeClr val="dk1"/>
              </a:solidFill>
              <a:latin typeface="Calibri"/>
              <a:ea typeface="Calibri"/>
              <a:cs typeface="Calibri"/>
              <a:sym typeface="Calibri"/>
            </a:endParaRPr>
          </a:p>
        </p:txBody>
      </p:sp>
      <p:sp>
        <p:nvSpPr>
          <p:cNvPr id="263" name="Google Shape;263;p12"/>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11 · Real screenshot of the web application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68" name="Shape 268"/>
        <p:cNvGrpSpPr/>
        <p:nvPr/>
      </p:nvGrpSpPr>
      <p:grpSpPr>
        <a:xfrm>
          <a:off x="0" y="0"/>
          <a:ext cx="0" cy="0"/>
          <a:chOff x="0" y="0"/>
          <a:chExt cx="0" cy="0"/>
        </a:xfrm>
      </p:grpSpPr>
      <p:sp>
        <p:nvSpPr>
          <p:cNvPr id="269" name="Google Shape;269;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5 · REMEDIAL RECOMMENDATION</a:t>
            </a:r>
            <a:endParaRPr b="0" i="0" sz="1200" u="none" cap="none" strike="noStrike">
              <a:solidFill>
                <a:schemeClr val="dk1"/>
              </a:solidFill>
              <a:latin typeface="Calibri"/>
              <a:ea typeface="Calibri"/>
              <a:cs typeface="Calibri"/>
              <a:sym typeface="Calibri"/>
            </a:endParaRPr>
          </a:p>
        </p:txBody>
      </p:sp>
      <p:sp>
        <p:nvSpPr>
          <p:cNvPr id="270" name="Google Shape;270;p13"/>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A five-part plan for the weak concept</a:t>
            </a:r>
            <a:endParaRPr b="0" i="0" sz="3200" u="none" cap="none" strike="noStrike">
              <a:solidFill>
                <a:schemeClr val="dk1"/>
              </a:solidFill>
              <a:latin typeface="Calibri"/>
              <a:ea typeface="Calibri"/>
              <a:cs typeface="Calibri"/>
              <a:sym typeface="Calibri"/>
            </a:endParaRPr>
          </a:p>
        </p:txBody>
      </p:sp>
      <p:sp>
        <p:nvSpPr>
          <p:cNvPr id="271" name="Google Shape;271;p13"/>
          <p:cNvSpPr/>
          <p:nvPr/>
        </p:nvSpPr>
        <p:spPr>
          <a:xfrm>
            <a:off x="812800" y="1772841"/>
            <a:ext cx="66451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WEAK CONCEPT: ARRAYS · MASTERY 55%</a:t>
            </a:r>
            <a:endParaRPr b="0" i="0" sz="1200" u="none" cap="none" strike="noStrike">
              <a:solidFill>
                <a:schemeClr val="dk1"/>
              </a:solidFill>
              <a:latin typeface="Calibri"/>
              <a:ea typeface="Calibri"/>
              <a:cs typeface="Calibri"/>
              <a:sym typeface="Calibri"/>
            </a:endParaRPr>
          </a:p>
        </p:txBody>
      </p:sp>
      <p:sp>
        <p:nvSpPr>
          <p:cNvPr id="272" name="Google Shape;272;p13"/>
          <p:cNvSpPr/>
          <p:nvPr/>
        </p:nvSpPr>
        <p:spPr>
          <a:xfrm>
            <a:off x="812800" y="207506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1 Learning objectives:</a:t>
            </a:r>
            <a:r>
              <a:rPr b="0" i="0" lang="en-US" sz="1250" u="none" cap="none" strike="noStrike">
                <a:solidFill>
                  <a:srgbClr val="16233A"/>
                </a:solidFill>
                <a:latin typeface="Nunito Sans"/>
                <a:ea typeface="Nunito Sans"/>
                <a:cs typeface="Nunito Sans"/>
                <a:sym typeface="Nunito Sans"/>
              </a:rPr>
              <a:t> explain the key ideas of array problem solving</a:t>
            </a:r>
            <a:endParaRPr b="0" i="0" sz="1250" u="none" cap="none" strike="noStrike">
              <a:solidFill>
                <a:schemeClr val="dk1"/>
              </a:solidFill>
              <a:latin typeface="Calibri"/>
              <a:ea typeface="Calibri"/>
              <a:cs typeface="Calibri"/>
              <a:sym typeface="Calibri"/>
            </a:endParaRPr>
          </a:p>
        </p:txBody>
      </p:sp>
      <p:sp>
        <p:nvSpPr>
          <p:cNvPr id="273" name="Google Shape;273;p13"/>
          <p:cNvSpPr/>
          <p:nvPr/>
        </p:nvSpPr>
        <p:spPr>
          <a:xfrm>
            <a:off x="812800" y="236081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2 Topics to revise:</a:t>
            </a:r>
            <a:r>
              <a:rPr b="0" i="0" lang="en-US" sz="1250" u="none" cap="none" strike="noStrike">
                <a:solidFill>
                  <a:srgbClr val="16233A"/>
                </a:solidFill>
                <a:latin typeface="Nunito Sans"/>
                <a:ea typeface="Nunito Sans"/>
                <a:cs typeface="Nunito Sans"/>
                <a:sym typeface="Nunito Sans"/>
              </a:rPr>
              <a:t> elements, indexing, array traversal, finding the largest</a:t>
            </a:r>
            <a:endParaRPr b="0" i="0" sz="1250" u="none" cap="none" strike="noStrike">
              <a:solidFill>
                <a:schemeClr val="dk1"/>
              </a:solidFill>
              <a:latin typeface="Calibri"/>
              <a:ea typeface="Calibri"/>
              <a:cs typeface="Calibri"/>
              <a:sym typeface="Calibri"/>
            </a:endParaRPr>
          </a:p>
        </p:txBody>
      </p:sp>
      <p:sp>
        <p:nvSpPr>
          <p:cNvPr id="274" name="Google Shape;274;p13"/>
          <p:cNvSpPr/>
          <p:nvPr/>
        </p:nvSpPr>
        <p:spPr>
          <a:xfrm>
            <a:off x="812800" y="264656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3 Explanation:</a:t>
            </a:r>
            <a:r>
              <a:rPr b="0" i="0" lang="en-US" sz="1250" u="none" cap="none" strike="noStrike">
                <a:solidFill>
                  <a:srgbClr val="16233A"/>
                </a:solidFill>
                <a:latin typeface="Nunito Sans"/>
                <a:ea typeface="Nunito Sans"/>
                <a:cs typeface="Nunito Sans"/>
                <a:sym typeface="Nunito Sans"/>
              </a:rPr>
              <a:t> rebuilt from the Unit 3 text</a:t>
            </a:r>
            <a:endParaRPr b="0" i="0" sz="1250" u="none" cap="none" strike="noStrike">
              <a:solidFill>
                <a:schemeClr val="dk1"/>
              </a:solidFill>
              <a:latin typeface="Calibri"/>
              <a:ea typeface="Calibri"/>
              <a:cs typeface="Calibri"/>
              <a:sym typeface="Calibri"/>
            </a:endParaRPr>
          </a:p>
        </p:txBody>
      </p:sp>
      <p:sp>
        <p:nvSpPr>
          <p:cNvPr id="275" name="Google Shape;275;p13"/>
          <p:cNvSpPr/>
          <p:nvPr/>
        </p:nvSpPr>
        <p:spPr>
          <a:xfrm>
            <a:off x="812800" y="293231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4 Practice:</a:t>
            </a:r>
            <a:r>
              <a:rPr b="0" i="0" lang="en-US" sz="1250" u="none" cap="none" strike="noStrike">
                <a:solidFill>
                  <a:srgbClr val="16233A"/>
                </a:solidFill>
                <a:latin typeface="Nunito Sans"/>
                <a:ea typeface="Nunito Sans"/>
                <a:cs typeface="Nunito Sans"/>
                <a:sym typeface="Nunito Sans"/>
              </a:rPr>
              <a:t> write and test a program for each rule</a:t>
            </a:r>
            <a:endParaRPr b="0" i="0" sz="1250" u="none" cap="none" strike="noStrike">
              <a:solidFill>
                <a:schemeClr val="dk1"/>
              </a:solidFill>
              <a:latin typeface="Calibri"/>
              <a:ea typeface="Calibri"/>
              <a:cs typeface="Calibri"/>
              <a:sym typeface="Calibri"/>
            </a:endParaRPr>
          </a:p>
        </p:txBody>
      </p:sp>
      <p:sp>
        <p:nvSpPr>
          <p:cNvPr id="276" name="Google Shape;276;p13"/>
          <p:cNvSpPr/>
          <p:nvPr/>
        </p:nvSpPr>
        <p:spPr>
          <a:xfrm>
            <a:off x="812800" y="3218061"/>
            <a:ext cx="6645148" cy="469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5 Why this plan:</a:t>
            </a:r>
            <a:r>
              <a:rPr b="0" i="0" lang="en-US" sz="1250" u="none" cap="none" strike="noStrike">
                <a:solidFill>
                  <a:srgbClr val="16233A"/>
                </a:solidFill>
                <a:latin typeface="Nunito Sans"/>
                <a:ea typeface="Nunito Sans"/>
                <a:cs typeface="Nunito Sans"/>
                <a:sym typeface="Nunito Sans"/>
              </a:rPr>
              <a:t> "you answered 2 of 3 correctly; you missed </a:t>
            </a:r>
            <a:r>
              <a:rPr b="0" i="1" lang="en-US" sz="1250" u="none" cap="none" strike="noStrike">
                <a:solidFill>
                  <a:srgbClr val="16233A"/>
                </a:solidFill>
                <a:latin typeface="Nunito Sans"/>
                <a:ea typeface="Nunito Sans"/>
                <a:cs typeface="Nunito Sans"/>
                <a:sym typeface="Nunito Sans"/>
              </a:rPr>
              <a:t>Write a program to find the largest number in an array</a:t>
            </a:r>
            <a:r>
              <a:rPr b="0" i="0" lang="en-US" sz="1250" u="none" cap="none" strike="noStrike">
                <a:solidFill>
                  <a:srgbClr val="16233A"/>
                </a:solidFill>
                <a:latin typeface="Nunito Sans"/>
                <a:ea typeface="Nunito Sans"/>
                <a:cs typeface="Nunito Sans"/>
                <a:sym typeface="Nunito Sans"/>
              </a:rPr>
              <a:t>"</a:t>
            </a:r>
            <a:endParaRPr b="0" i="0" sz="1250" u="none" cap="none" strike="noStrike">
              <a:solidFill>
                <a:schemeClr val="dk1"/>
              </a:solidFill>
              <a:latin typeface="Calibri"/>
              <a:ea typeface="Calibri"/>
              <a:cs typeface="Calibri"/>
              <a:sym typeface="Calibri"/>
            </a:endParaRPr>
          </a:p>
        </p:txBody>
      </p:sp>
      <p:sp>
        <p:nvSpPr>
          <p:cNvPr id="277" name="Google Shape;277;p13"/>
          <p:cNvSpPr/>
          <p:nvPr/>
        </p:nvSpPr>
        <p:spPr>
          <a:xfrm>
            <a:off x="812800" y="3751461"/>
            <a:ext cx="66451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Cross-checked by two other AI models before it is shown.</a:t>
            </a:r>
            <a:endParaRPr b="0" i="0" sz="1200" u="none" cap="none" strike="noStrike">
              <a:solidFill>
                <a:schemeClr val="dk1"/>
              </a:solidFill>
              <a:latin typeface="Calibri"/>
              <a:ea typeface="Calibri"/>
              <a:cs typeface="Calibri"/>
              <a:sym typeface="Calibri"/>
            </a:endParaRPr>
          </a:p>
        </p:txBody>
      </p:sp>
      <p:sp>
        <p:nvSpPr>
          <p:cNvPr id="278" name="Google Shape;278;p13"/>
          <p:cNvSpPr/>
          <p:nvPr/>
        </p:nvSpPr>
        <p:spPr>
          <a:xfrm>
            <a:off x="7569200" y="1772841"/>
            <a:ext cx="3810000" cy="3810000"/>
          </a:xfrm>
          <a:prstGeom prst="roundRect">
            <a:avLst>
              <a:gd fmla="val 2000"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of a generated remedial recommendation with learning objectives, topics to revise, explanation, practice activities and rationale" id="279" name="Google Shape;279;p13"/>
          <p:cNvPicPr preferRelativeResize="0"/>
          <p:nvPr/>
        </p:nvPicPr>
        <p:blipFill rotWithShape="1">
          <a:blip r:embed="rId3">
            <a:alphaModFix/>
          </a:blip>
          <a:srcRect b="0" l="-206" r="-206" t="0"/>
          <a:stretch/>
        </p:blipFill>
        <p:spPr>
          <a:xfrm>
            <a:off x="7581900" y="1785541"/>
            <a:ext cx="3784600" cy="3784600"/>
          </a:xfrm>
          <a:prstGeom prst="roundRect">
            <a:avLst>
              <a:gd fmla="val 1678" name="adj"/>
            </a:avLst>
          </a:prstGeom>
          <a:noFill/>
          <a:ln>
            <a:noFill/>
          </a:ln>
        </p:spPr>
      </p:pic>
      <p:sp>
        <p:nvSpPr>
          <p:cNvPr id="280" name="Google Shape;280;p13"/>
          <p:cNvSpPr/>
          <p:nvPr/>
        </p:nvSpPr>
        <p:spPr>
          <a:xfrm>
            <a:off x="7575550" y="1779191"/>
            <a:ext cx="3797300" cy="3797300"/>
          </a:xfrm>
          <a:prstGeom prst="roundRect">
            <a:avLst>
              <a:gd fmla="val 1839"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12 · Plan text from the real demo run, shortened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86" name="Shape 286"/>
        <p:cNvGrpSpPr/>
        <p:nvPr/>
      </p:nvGrpSpPr>
      <p:grpSpPr>
        <a:xfrm>
          <a:off x="0" y="0"/>
          <a:ext cx="0" cy="0"/>
          <a:chOff x="0" y="0"/>
          <a:chExt cx="0" cy="0"/>
        </a:xfrm>
      </p:grpSpPr>
      <p:sp>
        <p:nvSpPr>
          <p:cNvPr id="287" name="Google Shape;287;p1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6 · RE-TESTING</a:t>
            </a:r>
            <a:endParaRPr b="0" i="0" sz="1200" u="none" cap="none" strike="noStrike">
              <a:solidFill>
                <a:schemeClr val="dk1"/>
              </a:solidFill>
              <a:latin typeface="Calibri"/>
              <a:ea typeface="Calibri"/>
              <a:cs typeface="Calibri"/>
              <a:sym typeface="Calibri"/>
            </a:endParaRPr>
          </a:p>
        </p:txBody>
      </p:sp>
      <p:sp>
        <p:nvSpPr>
          <p:cNvPr id="288" name="Google Shape;288;p14"/>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All five concepts reached the target in one round</a:t>
            </a:r>
            <a:endParaRPr b="0" i="0" sz="3200" u="none" cap="none" strike="noStrike">
              <a:solidFill>
                <a:schemeClr val="dk1"/>
              </a:solidFill>
              <a:latin typeface="Calibri"/>
              <a:ea typeface="Calibri"/>
              <a:cs typeface="Calibri"/>
              <a:sym typeface="Calibri"/>
            </a:endParaRPr>
          </a:p>
        </p:txBody>
      </p:sp>
      <p:sp>
        <p:nvSpPr>
          <p:cNvPr id="289" name="Google Shape;289;p14"/>
          <p:cNvSpPr/>
          <p:nvPr/>
        </p:nvSpPr>
        <p:spPr>
          <a:xfrm>
            <a:off x="819150" y="1804591"/>
            <a:ext cx="2305050" cy="472414"/>
          </a:xfrm>
          <a:custGeom>
            <a:rect b="b" l="l" r="r" t="t"/>
            <a:pathLst>
              <a:path extrusionOk="0" h="472414" w="2305050">
                <a:moveTo>
                  <a:pt x="69850" y="0"/>
                </a:moveTo>
                <a:lnTo>
                  <a:pt x="2235200" y="0"/>
                </a:lnTo>
                <a:cubicBezTo>
                  <a:pt x="2253725" y="0"/>
                  <a:pt x="2271492" y="7359"/>
                  <a:pt x="2284591" y="20459"/>
                </a:cubicBezTo>
                <a:cubicBezTo>
                  <a:pt x="2297691" y="33558"/>
                  <a:pt x="2305050" y="51325"/>
                  <a:pt x="2305050" y="69850"/>
                </a:cubicBezTo>
                <a:lnTo>
                  <a:pt x="2305050" y="402564"/>
                </a:lnTo>
                <a:cubicBezTo>
                  <a:pt x="2305050" y="441141"/>
                  <a:pt x="2273777" y="472414"/>
                  <a:pt x="223520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24275" spcFirstLastPara="1" rIns="24275"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Before</a:t>
            </a:r>
            <a:endParaRPr b="0" i="0" sz="1300" u="none" cap="none" strike="noStrike">
              <a:solidFill>
                <a:schemeClr val="dk1"/>
              </a:solidFill>
              <a:latin typeface="Calibri"/>
              <a:ea typeface="Calibri"/>
              <a:cs typeface="Calibri"/>
              <a:sym typeface="Calibri"/>
            </a:endParaRPr>
          </a:p>
        </p:txBody>
      </p:sp>
      <p:pic>
        <p:nvPicPr>
          <p:cNvPr descr="arrow-right" id="290" name="Google Shape;290;p14"/>
          <p:cNvPicPr preferRelativeResize="0"/>
          <p:nvPr/>
        </p:nvPicPr>
        <p:blipFill rotWithShape="1">
          <a:blip r:embed="rId3">
            <a:alphaModFix/>
          </a:blip>
          <a:srcRect b="0" l="0" r="0" t="0"/>
          <a:stretch/>
        </p:blipFill>
        <p:spPr>
          <a:xfrm>
            <a:off x="3206750" y="1970949"/>
            <a:ext cx="279400" cy="139700"/>
          </a:xfrm>
          <a:prstGeom prst="rect">
            <a:avLst/>
          </a:prstGeom>
          <a:noFill/>
          <a:ln>
            <a:noFill/>
          </a:ln>
        </p:spPr>
      </p:pic>
      <p:sp>
        <p:nvSpPr>
          <p:cNvPr id="291" name="Google Shape;291;p14"/>
          <p:cNvSpPr/>
          <p:nvPr/>
        </p:nvSpPr>
        <p:spPr>
          <a:xfrm>
            <a:off x="3568700" y="1804591"/>
            <a:ext cx="2305050" cy="472414"/>
          </a:xfrm>
          <a:custGeom>
            <a:rect b="b" l="l" r="r" t="t"/>
            <a:pathLst>
              <a:path extrusionOk="0" h="472414" w="2305050">
                <a:moveTo>
                  <a:pt x="69850" y="0"/>
                </a:moveTo>
                <a:lnTo>
                  <a:pt x="2235200" y="0"/>
                </a:lnTo>
                <a:cubicBezTo>
                  <a:pt x="2253725" y="0"/>
                  <a:pt x="2271492" y="7359"/>
                  <a:pt x="2284591" y="20459"/>
                </a:cubicBezTo>
                <a:cubicBezTo>
                  <a:pt x="2297691" y="33558"/>
                  <a:pt x="2305050" y="51325"/>
                  <a:pt x="2305050" y="69850"/>
                </a:cubicBezTo>
                <a:lnTo>
                  <a:pt x="2305050" y="402564"/>
                </a:lnTo>
                <a:cubicBezTo>
                  <a:pt x="2305050" y="441141"/>
                  <a:pt x="2273777" y="472414"/>
                  <a:pt x="223520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24275" spcFirstLastPara="1" rIns="24275"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Remedial learning</a:t>
            </a:r>
            <a:endParaRPr b="0" i="0" sz="1300" u="none" cap="none" strike="noStrike">
              <a:solidFill>
                <a:schemeClr val="dk1"/>
              </a:solidFill>
              <a:latin typeface="Calibri"/>
              <a:ea typeface="Calibri"/>
              <a:cs typeface="Calibri"/>
              <a:sym typeface="Calibri"/>
            </a:endParaRPr>
          </a:p>
        </p:txBody>
      </p:sp>
      <p:pic>
        <p:nvPicPr>
          <p:cNvPr descr="arrow-right" id="292" name="Google Shape;292;p14"/>
          <p:cNvPicPr preferRelativeResize="0"/>
          <p:nvPr/>
        </p:nvPicPr>
        <p:blipFill rotWithShape="1">
          <a:blip r:embed="rId3">
            <a:alphaModFix/>
          </a:blip>
          <a:srcRect b="0" l="0" r="0" t="0"/>
          <a:stretch/>
        </p:blipFill>
        <p:spPr>
          <a:xfrm>
            <a:off x="5956300" y="1970949"/>
            <a:ext cx="279400" cy="139700"/>
          </a:xfrm>
          <a:prstGeom prst="rect">
            <a:avLst/>
          </a:prstGeom>
          <a:noFill/>
          <a:ln>
            <a:noFill/>
          </a:ln>
        </p:spPr>
      </p:pic>
      <p:sp>
        <p:nvSpPr>
          <p:cNvPr id="293" name="Google Shape;293;p14"/>
          <p:cNvSpPr/>
          <p:nvPr/>
        </p:nvSpPr>
        <p:spPr>
          <a:xfrm>
            <a:off x="6318250" y="1804591"/>
            <a:ext cx="2305050" cy="472414"/>
          </a:xfrm>
          <a:custGeom>
            <a:rect b="b" l="l" r="r" t="t"/>
            <a:pathLst>
              <a:path extrusionOk="0" h="472414" w="2305050">
                <a:moveTo>
                  <a:pt x="69850" y="0"/>
                </a:moveTo>
                <a:lnTo>
                  <a:pt x="2235200" y="0"/>
                </a:lnTo>
                <a:cubicBezTo>
                  <a:pt x="2253725" y="0"/>
                  <a:pt x="2271492" y="7359"/>
                  <a:pt x="2284591" y="20459"/>
                </a:cubicBezTo>
                <a:cubicBezTo>
                  <a:pt x="2297691" y="33558"/>
                  <a:pt x="2305050" y="51325"/>
                  <a:pt x="2305050" y="69850"/>
                </a:cubicBezTo>
                <a:lnTo>
                  <a:pt x="2305050" y="402564"/>
                </a:lnTo>
                <a:cubicBezTo>
                  <a:pt x="2305050" y="441141"/>
                  <a:pt x="2273777" y="472414"/>
                  <a:pt x="2235200" y="472414"/>
                </a:cubicBezTo>
                <a:lnTo>
                  <a:pt x="69850" y="472414"/>
                </a:lnTo>
                <a:cubicBezTo>
                  <a:pt x="31273" y="472414"/>
                  <a:pt x="0" y="441141"/>
                  <a:pt x="0" y="402564"/>
                </a:cubicBezTo>
                <a:lnTo>
                  <a:pt x="0" y="69850"/>
                </a:lnTo>
                <a:cubicBezTo>
                  <a:pt x="0" y="31273"/>
                  <a:pt x="31273" y="0"/>
                  <a:pt x="69850" y="0"/>
                </a:cubicBezTo>
                <a:close/>
              </a:path>
            </a:pathLst>
          </a:custGeom>
          <a:solidFill>
            <a:srgbClr val="FDFDFB"/>
          </a:solidFill>
          <a:ln cap="flat" cmpd="sng" w="12700">
            <a:solidFill>
              <a:srgbClr val="D5DAE3"/>
            </a:solidFill>
            <a:prstDash val="solid"/>
            <a:round/>
            <a:headEnd len="sm" w="sm" type="none"/>
            <a:tailEnd len="sm" w="sm" type="none"/>
          </a:ln>
        </p:spPr>
        <p:txBody>
          <a:bodyPr anchorCtr="0" anchor="t" bIns="95250" lIns="24275" spcFirstLastPara="1" rIns="24275"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New questions</a:t>
            </a:r>
            <a:endParaRPr b="0" i="0" sz="1300" u="none" cap="none" strike="noStrike">
              <a:solidFill>
                <a:schemeClr val="dk1"/>
              </a:solidFill>
              <a:latin typeface="Calibri"/>
              <a:ea typeface="Calibri"/>
              <a:cs typeface="Calibri"/>
              <a:sym typeface="Calibri"/>
            </a:endParaRPr>
          </a:p>
        </p:txBody>
      </p:sp>
      <p:pic>
        <p:nvPicPr>
          <p:cNvPr descr="arrow-right" id="294" name="Google Shape;294;p14"/>
          <p:cNvPicPr preferRelativeResize="0"/>
          <p:nvPr/>
        </p:nvPicPr>
        <p:blipFill rotWithShape="1">
          <a:blip r:embed="rId3">
            <a:alphaModFix/>
          </a:blip>
          <a:srcRect b="0" l="0" r="0" t="0"/>
          <a:stretch/>
        </p:blipFill>
        <p:spPr>
          <a:xfrm>
            <a:off x="8705850" y="1970949"/>
            <a:ext cx="279400" cy="139700"/>
          </a:xfrm>
          <a:prstGeom prst="rect">
            <a:avLst/>
          </a:prstGeom>
          <a:noFill/>
          <a:ln>
            <a:noFill/>
          </a:ln>
        </p:spPr>
      </p:pic>
      <p:sp>
        <p:nvSpPr>
          <p:cNvPr id="295" name="Google Shape;295;p14"/>
          <p:cNvSpPr/>
          <p:nvPr/>
        </p:nvSpPr>
        <p:spPr>
          <a:xfrm>
            <a:off x="9067800" y="1804591"/>
            <a:ext cx="2305050" cy="472414"/>
          </a:xfrm>
          <a:custGeom>
            <a:rect b="b" l="l" r="r" t="t"/>
            <a:pathLst>
              <a:path extrusionOk="0" h="472414" w="2305050">
                <a:moveTo>
                  <a:pt x="69850" y="0"/>
                </a:moveTo>
                <a:lnTo>
                  <a:pt x="2235200" y="0"/>
                </a:lnTo>
                <a:cubicBezTo>
                  <a:pt x="2253725" y="0"/>
                  <a:pt x="2271492" y="7359"/>
                  <a:pt x="2284591" y="20459"/>
                </a:cubicBezTo>
                <a:cubicBezTo>
                  <a:pt x="2297691" y="33558"/>
                  <a:pt x="2305050" y="51325"/>
                  <a:pt x="2305050" y="69850"/>
                </a:cubicBezTo>
                <a:lnTo>
                  <a:pt x="2305050" y="402564"/>
                </a:lnTo>
                <a:cubicBezTo>
                  <a:pt x="2305050" y="441141"/>
                  <a:pt x="2273777" y="472414"/>
                  <a:pt x="2235200" y="472414"/>
                </a:cubicBezTo>
                <a:lnTo>
                  <a:pt x="69850" y="472414"/>
                </a:lnTo>
                <a:cubicBezTo>
                  <a:pt x="31273" y="472414"/>
                  <a:pt x="0" y="441141"/>
                  <a:pt x="0" y="402564"/>
                </a:cubicBezTo>
                <a:lnTo>
                  <a:pt x="0" y="69850"/>
                </a:lnTo>
                <a:cubicBezTo>
                  <a:pt x="0" y="31273"/>
                  <a:pt x="31273" y="0"/>
                  <a:pt x="69850" y="0"/>
                </a:cubicBezTo>
                <a:close/>
              </a:path>
            </a:pathLst>
          </a:custGeom>
          <a:solidFill>
            <a:srgbClr val="E6EEFC"/>
          </a:solidFill>
          <a:ln cap="flat" cmpd="sng" w="12700">
            <a:solidFill>
              <a:srgbClr val="2A5FC0"/>
            </a:solidFill>
            <a:prstDash val="solid"/>
            <a:round/>
            <a:headEnd len="sm" w="sm" type="none"/>
            <a:tailEnd len="sm" w="sm" type="none"/>
          </a:ln>
        </p:spPr>
        <p:txBody>
          <a:bodyPr anchorCtr="0" anchor="t" bIns="95250" lIns="24275" spcFirstLastPara="1" rIns="24275" wrap="square" tIns="120650">
            <a:normAutofit/>
          </a:bodyPr>
          <a:lstStyle/>
          <a:p>
            <a:pPr indent="0" lvl="0" marL="0" marR="0" rtl="0" algn="ctr">
              <a:lnSpc>
                <a:spcPct val="140000"/>
              </a:lnSpc>
              <a:spcBef>
                <a:spcPts val="0"/>
              </a:spcBef>
              <a:spcAft>
                <a:spcPts val="0"/>
              </a:spcAft>
              <a:buClr>
                <a:srgbClr val="16233A"/>
              </a:buClr>
              <a:buSzPts val="1300"/>
              <a:buFont typeface="Nunito Sans"/>
              <a:buNone/>
            </a:pPr>
            <a:r>
              <a:rPr b="1" i="0" lang="en-US" sz="1300" u="none" cap="none" strike="noStrike">
                <a:solidFill>
                  <a:srgbClr val="16233A"/>
                </a:solidFill>
                <a:latin typeface="Nunito Sans"/>
                <a:ea typeface="Nunito Sans"/>
                <a:cs typeface="Nunito Sans"/>
                <a:sym typeface="Nunito Sans"/>
              </a:rPr>
              <a:t>After</a:t>
            </a:r>
            <a:endParaRPr b="0" i="0" sz="1300" u="none" cap="none" strike="noStrike">
              <a:solidFill>
                <a:schemeClr val="dk1"/>
              </a:solidFill>
              <a:latin typeface="Calibri"/>
              <a:ea typeface="Calibri"/>
              <a:cs typeface="Calibri"/>
              <a:sym typeface="Calibri"/>
            </a:endParaRPr>
          </a:p>
        </p:txBody>
      </p:sp>
      <p:graphicFrame>
        <p:nvGraphicFramePr>
          <p:cNvPr id="296" name="Google Shape;296;p14"/>
          <p:cNvGraphicFramePr/>
          <p:nvPr/>
        </p:nvGraphicFramePr>
        <p:xfrm>
          <a:off x="825500" y="2524658"/>
          <a:ext cx="3000000" cy="3000000"/>
        </p:xfrm>
        <a:graphic>
          <a:graphicData uri="http://schemas.openxmlformats.org/drawingml/2006/table">
            <a:tbl>
              <a:tblPr>
                <a:noFill/>
                <a:tableStyleId>{07622916-A73C-4988-B90C-C9FCDE98B4EF}</a:tableStyleId>
              </a:tblPr>
              <a:tblGrid>
                <a:gridCol w="5487925"/>
                <a:gridCol w="1688600"/>
                <a:gridCol w="1688600"/>
                <a:gridCol w="1688600"/>
              </a:tblGrid>
              <a:tr h="359300">
                <a:tc>
                  <a:txBody>
                    <a:bodyPr/>
                    <a:lstStyle/>
                    <a:p>
                      <a:pPr indent="0" lvl="0" marL="0" marR="0" rtl="0" algn="l">
                        <a:lnSpc>
                          <a:spcPct val="140000"/>
                        </a:lnSpc>
                        <a:spcBef>
                          <a:spcPts val="0"/>
                        </a:spcBef>
                        <a:spcAft>
                          <a:spcPts val="0"/>
                        </a:spcAft>
                        <a:buClr>
                          <a:srgbClr val="16233A"/>
                        </a:buClr>
                        <a:buSzPts val="1300"/>
                        <a:buFont typeface="Nunito Sans"/>
                        <a:buNone/>
                      </a:pPr>
                      <a:r>
                        <a:rPr b="1" lang="en-US" sz="1300" u="none" cap="none" strike="noStrike">
                          <a:solidFill>
                            <a:srgbClr val="16233A"/>
                          </a:solidFill>
                          <a:latin typeface="Nunito Sans"/>
                          <a:ea typeface="Nunito Sans"/>
                          <a:cs typeface="Nunito Sans"/>
                          <a:sym typeface="Nunito Sans"/>
                        </a:rPr>
                        <a:t>Concept (student CSE230001)</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300"/>
                        <a:buFont typeface="Nunito Sans"/>
                        <a:buNone/>
                      </a:pPr>
                      <a:r>
                        <a:rPr b="1" lang="en-US" sz="1300" u="none" cap="none" strike="noStrike">
                          <a:solidFill>
                            <a:srgbClr val="16233A"/>
                          </a:solidFill>
                          <a:latin typeface="Nunito Sans"/>
                          <a:ea typeface="Nunito Sans"/>
                          <a:cs typeface="Nunito Sans"/>
                          <a:sym typeface="Nunito Sans"/>
                        </a:rPr>
                        <a:t>Before</a:t>
                      </a:r>
                      <a:endParaRPr sz="1300" u="none" cap="none" strike="noStrike">
                        <a:latin typeface="Nunito Sans"/>
                        <a:ea typeface="Nunito Sans"/>
                        <a:cs typeface="Nunito Sans"/>
                        <a:sym typeface="Nunito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300"/>
                        <a:buFont typeface="Nunito Sans"/>
                        <a:buNone/>
                      </a:pPr>
                      <a:r>
                        <a:rPr b="1" lang="en-US" sz="1300" u="none" cap="none" strike="noStrike">
                          <a:solidFill>
                            <a:srgbClr val="16233A"/>
                          </a:solidFill>
                          <a:latin typeface="Nunito Sans"/>
                          <a:ea typeface="Nunito Sans"/>
                          <a:cs typeface="Nunito Sans"/>
                          <a:sym typeface="Nunito Sans"/>
                        </a:rPr>
                        <a:t>After</a:t>
                      </a:r>
                      <a:endParaRPr sz="1300" u="none" cap="none" strike="noStrike">
                        <a:latin typeface="Nunito Sans"/>
                        <a:ea typeface="Nunito Sans"/>
                        <a:cs typeface="Nunito Sans"/>
                        <a:sym typeface="Nunito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300"/>
                        <a:buFont typeface="Nunito Sans"/>
                        <a:buNone/>
                      </a:pPr>
                      <a:r>
                        <a:rPr b="1" lang="en-US" sz="1300" u="none" cap="none" strike="noStrike">
                          <a:solidFill>
                            <a:srgbClr val="16233A"/>
                          </a:solidFill>
                          <a:latin typeface="Nunito Sans"/>
                          <a:ea typeface="Nunito Sans"/>
                          <a:cs typeface="Nunito Sans"/>
                          <a:sym typeface="Nunito Sans"/>
                        </a:rPr>
                        <a:t>Change</a:t>
                      </a:r>
                      <a:endParaRPr sz="1300" u="none" cap="none" strike="noStrike">
                        <a:latin typeface="Nunito Sans"/>
                        <a:ea typeface="Nunito Sans"/>
                        <a:cs typeface="Nunito Sans"/>
                        <a:sym typeface="Nunito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Algorithmic problem solving and arrays</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55%</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85%</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+30</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Data structures, memory and files</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43%</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90%</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+47</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Fundamentals and system architecture</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31%</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79%</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+48</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Operators, pointers and control</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43%</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75%</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+32</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Strings and text processing</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35%</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74%</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300"/>
                        <a:buFont typeface="Nunito Sans"/>
                        <a:buNone/>
                      </a:pPr>
                      <a:r>
                        <a:rPr lang="en-US" sz="1300" u="none" cap="none" strike="noStrike">
                          <a:solidFill>
                            <a:srgbClr val="16233A"/>
                          </a:solidFill>
                          <a:latin typeface="Nunito Sans"/>
                          <a:ea typeface="Nunito Sans"/>
                          <a:cs typeface="Nunito Sans"/>
                          <a:sym typeface="Nunito Sans"/>
                        </a:rPr>
                        <a:t>+39</a:t>
                      </a:r>
                      <a:endParaRPr sz="1300" u="none" cap="none" strike="noStrike">
                        <a:latin typeface="Nunito Sans"/>
                        <a:ea typeface="Nunito Sans"/>
                        <a:cs typeface="Nunito Sans"/>
                        <a:sym typeface="Nunito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297" name="Google Shape;297;p14"/>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14 · Real demo run; test answers and study effect simulated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EF3"/>
        </a:solidFill>
      </p:bgPr>
    </p:bg>
    <p:spTree>
      <p:nvGrpSpPr>
        <p:cNvPr id="302" name="Shape 302"/>
        <p:cNvGrpSpPr/>
        <p:nvPr/>
      </p:nvGrpSpPr>
      <p:grpSpPr>
        <a:xfrm>
          <a:off x="0" y="0"/>
          <a:ext cx="0" cy="0"/>
          <a:chOff x="0" y="0"/>
          <a:chExt cx="0" cy="0"/>
        </a:xfrm>
      </p:grpSpPr>
      <p:sp>
        <p:nvSpPr>
          <p:cNvPr id="303" name="Google Shape;303;p1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USER INTERFACE</a:t>
            </a:r>
            <a:endParaRPr b="0" i="0" sz="1200" u="none" cap="none" strike="noStrike">
              <a:solidFill>
                <a:schemeClr val="dk1"/>
              </a:solidFill>
              <a:latin typeface="Calibri"/>
              <a:ea typeface="Calibri"/>
              <a:cs typeface="Calibri"/>
              <a:sym typeface="Calibri"/>
            </a:endParaRPr>
          </a:p>
        </p:txBody>
      </p:sp>
      <p:sp>
        <p:nvSpPr>
          <p:cNvPr id="304" name="Google Shape;304;p15"/>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The web application</a:t>
            </a:r>
            <a:endParaRPr b="0" i="0" sz="3200" u="none" cap="none" strike="noStrike">
              <a:solidFill>
                <a:schemeClr val="dk1"/>
              </a:solidFill>
              <a:latin typeface="Calibri"/>
              <a:ea typeface="Calibri"/>
              <a:cs typeface="Calibri"/>
              <a:sym typeface="Calibri"/>
            </a:endParaRPr>
          </a:p>
        </p:txBody>
      </p:sp>
      <p:sp>
        <p:nvSpPr>
          <p:cNvPr id="305" name="Google Shape;305;p15"/>
          <p:cNvSpPr/>
          <p:nvPr/>
        </p:nvSpPr>
        <p:spPr>
          <a:xfrm>
            <a:off x="812800" y="1772841"/>
            <a:ext cx="5130800" cy="3302000"/>
          </a:xfrm>
          <a:prstGeom prst="roundRect">
            <a:avLst>
              <a:gd fmla="val 2308" name="adj"/>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 page of the web application with sample learner, CSV upload and manual entry tabs" id="306" name="Google Shape;306;p15"/>
          <p:cNvPicPr preferRelativeResize="0"/>
          <p:nvPr/>
        </p:nvPicPr>
        <p:blipFill rotWithShape="1">
          <a:blip r:embed="rId3">
            <a:alphaModFix/>
          </a:blip>
          <a:srcRect b="0" l="0" r="0" t="0"/>
          <a:stretch/>
        </p:blipFill>
        <p:spPr>
          <a:xfrm>
            <a:off x="1048173" y="1785541"/>
            <a:ext cx="4660053" cy="3276600"/>
          </a:xfrm>
          <a:prstGeom prst="rect">
            <a:avLst/>
          </a:prstGeom>
          <a:noFill/>
          <a:ln>
            <a:noFill/>
          </a:ln>
        </p:spPr>
      </p:pic>
      <p:sp>
        <p:nvSpPr>
          <p:cNvPr id="307" name="Google Shape;307;p15"/>
          <p:cNvSpPr/>
          <p:nvPr/>
        </p:nvSpPr>
        <p:spPr>
          <a:xfrm>
            <a:off x="819150" y="1779191"/>
            <a:ext cx="5118100" cy="3289300"/>
          </a:xfrm>
          <a:prstGeom prst="roundRect">
            <a:avLst>
              <a:gd fmla="val 2124"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812800" y="5151041"/>
            <a:ext cx="52847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Start:</a:t>
            </a:r>
            <a:r>
              <a:rPr b="0" i="0" lang="en-US" sz="1200" u="none" cap="none" strike="noStrike">
                <a:solidFill>
                  <a:srgbClr val="34405A"/>
                </a:solidFill>
                <a:latin typeface="Nunito Sans"/>
                <a:ea typeface="Nunito Sans"/>
                <a:cs typeface="Nunito Sans"/>
                <a:sym typeface="Nunito Sans"/>
              </a:rPr>
              <a:t> pick a sample student, upload a CSV or type marks</a:t>
            </a:r>
            <a:endParaRPr b="0" i="0" sz="1200" u="none" cap="none" strike="noStrike">
              <a:solidFill>
                <a:schemeClr val="dk1"/>
              </a:solidFill>
              <a:latin typeface="Calibri"/>
              <a:ea typeface="Calibri"/>
              <a:cs typeface="Calibri"/>
              <a:sym typeface="Calibri"/>
            </a:endParaRPr>
          </a:p>
        </p:txBody>
      </p:sp>
      <p:sp>
        <p:nvSpPr>
          <p:cNvPr id="309" name="Google Shape;309;p15"/>
          <p:cNvSpPr/>
          <p:nvPr/>
        </p:nvSpPr>
        <p:spPr>
          <a:xfrm>
            <a:off x="6248400" y="1772841"/>
            <a:ext cx="5130800" cy="3302000"/>
          </a:xfrm>
          <a:prstGeom prst="roundRect">
            <a:avLst>
              <a:gd fmla="val 2308" name="adj"/>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ound 2 knowledge state with a table of mastery across rounds" id="310" name="Google Shape;310;p15"/>
          <p:cNvPicPr preferRelativeResize="0"/>
          <p:nvPr/>
        </p:nvPicPr>
        <p:blipFill rotWithShape="1">
          <a:blip r:embed="rId4">
            <a:alphaModFix/>
          </a:blip>
          <a:srcRect b="0" l="0" r="0" t="0"/>
          <a:stretch/>
        </p:blipFill>
        <p:spPr>
          <a:xfrm>
            <a:off x="6452399" y="1785541"/>
            <a:ext cx="4722802" cy="3276600"/>
          </a:xfrm>
          <a:prstGeom prst="rect">
            <a:avLst/>
          </a:prstGeom>
          <a:noFill/>
          <a:ln>
            <a:noFill/>
          </a:ln>
        </p:spPr>
      </p:pic>
      <p:sp>
        <p:nvSpPr>
          <p:cNvPr id="311" name="Google Shape;311;p15"/>
          <p:cNvSpPr/>
          <p:nvPr/>
        </p:nvSpPr>
        <p:spPr>
          <a:xfrm>
            <a:off x="6254750" y="1779191"/>
            <a:ext cx="5118100" cy="3289300"/>
          </a:xfrm>
          <a:prstGeom prst="roundRect">
            <a:avLst>
              <a:gd fmla="val 2124"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6248400" y="5151041"/>
            <a:ext cx="52847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4405A"/>
              </a:buClr>
              <a:buSzPts val="1200"/>
              <a:buFont typeface="Nunito Sans"/>
              <a:buNone/>
            </a:pPr>
            <a:r>
              <a:rPr b="1" i="0" lang="en-US" sz="1200" u="none" cap="none" strike="noStrike">
                <a:solidFill>
                  <a:srgbClr val="34405A"/>
                </a:solidFill>
                <a:latin typeface="Nunito Sans"/>
                <a:ea typeface="Nunito Sans"/>
                <a:cs typeface="Nunito Sans"/>
                <a:sym typeface="Nunito Sans"/>
              </a:rPr>
              <a:t>Round 2:</a:t>
            </a:r>
            <a:r>
              <a:rPr b="0" i="0" lang="en-US" sz="1200" u="none" cap="none" strike="noStrike">
                <a:solidFill>
                  <a:srgbClr val="34405A"/>
                </a:solidFill>
                <a:latin typeface="Nunito Sans"/>
                <a:ea typeface="Nunito Sans"/>
                <a:cs typeface="Nunito Sans"/>
                <a:sym typeface="Nunito Sans"/>
              </a:rPr>
              <a:t> updated mastery and progress across rounds</a:t>
            </a:r>
            <a:endParaRPr b="0" i="0" sz="1200" u="none" cap="none" strike="noStrike">
              <a:solidFill>
                <a:schemeClr val="dk1"/>
              </a:solidFill>
              <a:latin typeface="Calibri"/>
              <a:ea typeface="Calibri"/>
              <a:cs typeface="Calibri"/>
              <a:sym typeface="Calibri"/>
            </a:endParaRPr>
          </a:p>
        </p:txBody>
      </p:sp>
      <p:sp>
        <p:nvSpPr>
          <p:cNvPr id="313" name="Google Shape;313;p15"/>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15 · Run with python -m plrs serve, then open http://127.0.0.1:8000/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18" name="Shape 318"/>
        <p:cNvGrpSpPr/>
        <p:nvPr/>
      </p:nvGrpSpPr>
      <p:grpSpPr>
        <a:xfrm>
          <a:off x="0" y="0"/>
          <a:ext cx="0" cy="0"/>
          <a:chOff x="0" y="0"/>
          <a:chExt cx="0" cy="0"/>
        </a:xfrm>
      </p:grpSpPr>
      <p:sp>
        <p:nvSpPr>
          <p:cNvPr id="319" name="Google Shape;319;p1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RESULTS · 30 SIMULATED STUDENTS</a:t>
            </a:r>
            <a:endParaRPr b="0" i="0" sz="1200" u="none" cap="none" strike="noStrike">
              <a:solidFill>
                <a:schemeClr val="dk1"/>
              </a:solidFill>
              <a:latin typeface="Calibri"/>
              <a:ea typeface="Calibri"/>
              <a:cs typeface="Calibri"/>
              <a:sym typeface="Calibri"/>
            </a:endParaRPr>
          </a:p>
        </p:txBody>
      </p:sp>
      <p:sp>
        <p:nvSpPr>
          <p:cNvPr id="320" name="Google Shape;320;p16"/>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Scores rose on all five concepts</a:t>
            </a:r>
            <a:endParaRPr b="0" i="0" sz="3200" u="none" cap="none" strike="noStrike">
              <a:solidFill>
                <a:schemeClr val="dk1"/>
              </a:solidFill>
              <a:latin typeface="Calibri"/>
              <a:ea typeface="Calibri"/>
              <a:cs typeface="Calibri"/>
              <a:sym typeface="Calibri"/>
            </a:endParaRPr>
          </a:p>
        </p:txBody>
      </p:sp>
      <p:graphicFrame>
        <p:nvGraphicFramePr>
          <p:cNvPr id="321" name="Google Shape;321;p16"/>
          <p:cNvGraphicFramePr/>
          <p:nvPr/>
        </p:nvGraphicFramePr>
        <p:xfrm>
          <a:off x="825500" y="1785541"/>
          <a:ext cx="3000000" cy="3000000"/>
        </p:xfrm>
        <a:graphic>
          <a:graphicData uri="http://schemas.openxmlformats.org/drawingml/2006/table">
            <a:tbl>
              <a:tblPr>
                <a:noFill/>
                <a:tableStyleId>{07622916-A73C-4988-B90C-C9FCDE98B4EF}</a:tableStyleId>
              </a:tblPr>
              <a:tblGrid>
                <a:gridCol w="1925325"/>
                <a:gridCol w="722000"/>
                <a:gridCol w="722000"/>
                <a:gridCol w="1444000"/>
              </a:tblGrid>
              <a:tr h="332650">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Concept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Pre</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Post</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Improvement</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Fundamentals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71.1</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86.2</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+21.2%</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Operators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72.8</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78.6</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+8.0%</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Arrays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79.4</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87.5</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+10.2%</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Strings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66.7</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92.5</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+38.7%</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Data structures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67.8</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88.1</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+29.9%</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322" name="Google Shape;322;p16"/>
          <p:cNvSpPr/>
          <p:nvPr/>
        </p:nvSpPr>
        <p:spPr>
          <a:xfrm>
            <a:off x="812800" y="3883025"/>
            <a:ext cx="4970780" cy="467254"/>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Improvement = (post − pre) ÷ pre × 100. Paired t-test: significant (p &lt; 0.05) for Fundamentals, Strings and Data structures.</a:t>
            </a:r>
            <a:endParaRPr b="0" i="0" sz="1200" u="none" cap="none" strike="noStrike">
              <a:solidFill>
                <a:schemeClr val="dk1"/>
              </a:solidFill>
              <a:latin typeface="Calibri"/>
              <a:ea typeface="Calibri"/>
              <a:cs typeface="Calibri"/>
              <a:sym typeface="Calibri"/>
            </a:endParaRPr>
          </a:p>
        </p:txBody>
      </p:sp>
      <p:sp>
        <p:nvSpPr>
          <p:cNvPr id="323" name="Google Shape;323;p16"/>
          <p:cNvSpPr/>
          <p:nvPr/>
        </p:nvSpPr>
        <p:spPr>
          <a:xfrm>
            <a:off x="5943600" y="1772841"/>
            <a:ext cx="5435600" cy="2717800"/>
          </a:xfrm>
          <a:prstGeom prst="roundRect">
            <a:avLst>
              <a:gd fmla="val 2804" name="adj"/>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ar chart of mean score before and after remediation for the five concepts" id="324" name="Google Shape;324;p16"/>
          <p:cNvPicPr preferRelativeResize="0"/>
          <p:nvPr/>
        </p:nvPicPr>
        <p:blipFill rotWithShape="1">
          <a:blip r:embed="rId3">
            <a:alphaModFix/>
          </a:blip>
          <a:srcRect b="0" l="-236" r="-236" t="0"/>
          <a:stretch/>
        </p:blipFill>
        <p:spPr>
          <a:xfrm>
            <a:off x="5956300" y="1785541"/>
            <a:ext cx="5410200" cy="2692400"/>
          </a:xfrm>
          <a:prstGeom prst="roundRect">
            <a:avLst>
              <a:gd fmla="val 2358" name="adj"/>
            </a:avLst>
          </a:prstGeom>
          <a:noFill/>
          <a:ln>
            <a:noFill/>
          </a:ln>
        </p:spPr>
      </p:pic>
      <p:sp>
        <p:nvSpPr>
          <p:cNvPr id="325" name="Google Shape;325;p16"/>
          <p:cNvSpPr/>
          <p:nvPr/>
        </p:nvSpPr>
        <p:spPr>
          <a:xfrm>
            <a:off x="5949950" y="1779191"/>
            <a:ext cx="5422900" cy="2705100"/>
          </a:xfrm>
          <a:prstGeom prst="roundRect">
            <a:avLst>
              <a:gd fmla="val 2582"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Simulated students and learning gain</a:t>
            </a:r>
            <a:r>
              <a:rPr b="0" i="0" lang="en-US" sz="1200" u="none" cap="none" strike="noStrike">
                <a:solidFill>
                  <a:srgbClr val="A9540F"/>
                </a:solidFill>
                <a:latin typeface="Nunito Sans"/>
                <a:ea typeface="Nunito Sans"/>
                <a:cs typeface="Nunito Sans"/>
                <a:sym typeface="Nunito Sans"/>
              </a:rPr>
              <a:t> · Final Review · AI-Driven Personalized Learning · 16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31" name="Shape 331"/>
        <p:cNvGrpSpPr/>
        <p:nvPr/>
      </p:nvGrpSpPr>
      <p:grpSpPr>
        <a:xfrm>
          <a:off x="0" y="0"/>
          <a:ext cx="0" cy="0"/>
          <a:chOff x="0" y="0"/>
          <a:chExt cx="0" cy="0"/>
        </a:xfrm>
      </p:grpSpPr>
      <p:sp>
        <p:nvSpPr>
          <p:cNvPr id="332" name="Google Shape;332;p1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EVALUATION METRICS</a:t>
            </a:r>
            <a:endParaRPr b="0" i="0" sz="1200" u="none" cap="none" strike="noStrike">
              <a:solidFill>
                <a:schemeClr val="dk1"/>
              </a:solidFill>
              <a:latin typeface="Calibri"/>
              <a:ea typeface="Calibri"/>
              <a:cs typeface="Calibri"/>
              <a:sym typeface="Calibri"/>
            </a:endParaRPr>
          </a:p>
        </p:txBody>
      </p:sp>
      <p:sp>
        <p:nvSpPr>
          <p:cNvPr id="333" name="Google Shape;333;p17"/>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What we measured</a:t>
            </a:r>
            <a:endParaRPr b="0" i="0" sz="3200" u="none" cap="none" strike="noStrike">
              <a:solidFill>
                <a:schemeClr val="dk1"/>
              </a:solidFill>
              <a:latin typeface="Calibri"/>
              <a:ea typeface="Calibri"/>
              <a:cs typeface="Calibri"/>
              <a:sym typeface="Calibri"/>
            </a:endParaRPr>
          </a:p>
        </p:txBody>
      </p:sp>
      <p:sp>
        <p:nvSpPr>
          <p:cNvPr id="334" name="Google Shape;334;p17"/>
          <p:cNvSpPr/>
          <p:nvPr/>
        </p:nvSpPr>
        <p:spPr>
          <a:xfrm>
            <a:off x="812800" y="1772841"/>
            <a:ext cx="536321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500"/>
              <a:buFont typeface="Nunito Sans"/>
              <a:buNone/>
            </a:pPr>
            <a:r>
              <a:rPr b="1" i="0" lang="en-US" sz="1500" u="none" cap="none" strike="noStrike">
                <a:solidFill>
                  <a:srgbClr val="16233A"/>
                </a:solidFill>
                <a:latin typeface="Nunito Sans"/>
                <a:ea typeface="Nunito Sans"/>
                <a:cs typeface="Nunito Sans"/>
                <a:sym typeface="Nunito Sans"/>
              </a:rPr>
              <a:t>Knowledge tracing (test set)</a:t>
            </a:r>
            <a:endParaRPr b="0" i="0" sz="1500" u="none" cap="none" strike="noStrike">
              <a:solidFill>
                <a:schemeClr val="dk1"/>
              </a:solidFill>
              <a:latin typeface="Calibri"/>
              <a:ea typeface="Calibri"/>
              <a:cs typeface="Calibri"/>
              <a:sym typeface="Calibri"/>
            </a:endParaRPr>
          </a:p>
        </p:txBody>
      </p:sp>
      <p:graphicFrame>
        <p:nvGraphicFramePr>
          <p:cNvPr id="335" name="Google Shape;335;p17"/>
          <p:cNvGraphicFramePr/>
          <p:nvPr/>
        </p:nvGraphicFramePr>
        <p:xfrm>
          <a:off x="825500" y="2090341"/>
          <a:ext cx="3000000" cy="3000000"/>
        </p:xfrm>
        <a:graphic>
          <a:graphicData uri="http://schemas.openxmlformats.org/drawingml/2006/table">
            <a:tbl>
              <a:tblPr>
                <a:noFill/>
                <a:tableStyleId>{07622916-A73C-4988-B90C-C9FCDE98B4EF}</a:tableStyleId>
              </a:tblPr>
              <a:tblGrid>
                <a:gridCol w="1766050"/>
                <a:gridCol w="1714125"/>
                <a:gridCol w="1714125"/>
              </a:tblGrid>
              <a:tr h="346075">
                <a:tc>
                  <a:txBody>
                    <a:bodyPr/>
                    <a:lstStyle/>
                    <a:p>
                      <a:pPr indent="0" lvl="0" marL="0" marR="0" rtl="0" algn="l">
                        <a:lnSpc>
                          <a:spcPct val="140000"/>
                        </a:lnSpc>
                        <a:spcBef>
                          <a:spcPts val="0"/>
                        </a:spcBef>
                        <a:spcAft>
                          <a:spcPts val="0"/>
                        </a:spcAft>
                        <a:buClr>
                          <a:srgbClr val="16233A"/>
                        </a:buClr>
                        <a:buSzPts val="1250"/>
                        <a:buFont typeface="Nunito Sans"/>
                        <a:buNone/>
                      </a:pPr>
                      <a:r>
                        <a:rPr b="1" lang="en-US" sz="1250" u="none" cap="none" strike="noStrike">
                          <a:solidFill>
                            <a:srgbClr val="16233A"/>
                          </a:solidFill>
                          <a:latin typeface="Nunito Sans"/>
                          <a:ea typeface="Nunito Sans"/>
                          <a:cs typeface="Nunito Sans"/>
                          <a:sym typeface="Nunito Sans"/>
                        </a:rPr>
                        <a:t>Metric</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50"/>
                        <a:buFont typeface="Nunito Sans"/>
                        <a:buNone/>
                      </a:pPr>
                      <a:r>
                        <a:rPr b="1" lang="en-US" sz="1250" u="none" cap="none" strike="noStrike">
                          <a:solidFill>
                            <a:srgbClr val="16233A"/>
                          </a:solidFill>
                          <a:latin typeface="Nunito Sans"/>
                          <a:ea typeface="Nunito Sans"/>
                          <a:cs typeface="Nunito Sans"/>
                          <a:sym typeface="Nunito Sans"/>
                        </a:rPr>
                        <a:t>EKT (ours)</a:t>
                      </a:r>
                      <a:endParaRPr sz="1250" u="none" cap="none" strike="noStrike">
                        <a:latin typeface="Nunito Sans"/>
                        <a:ea typeface="Nunito Sans"/>
                        <a:cs typeface="Nunito Sans"/>
                        <a:sym typeface="Nunito Sans"/>
                      </a:endParaRPr>
                    </a:p>
                  </a:txBody>
                  <a:tcPr marT="55575" marB="55575" marR="55575" marL="555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6233A"/>
                        </a:buClr>
                        <a:buSzPts val="1250"/>
                        <a:buFont typeface="Nunito Sans"/>
                        <a:buNone/>
                      </a:pPr>
                      <a:r>
                        <a:rPr b="1" lang="en-US" sz="1250" u="none" cap="none" strike="noStrike">
                          <a:solidFill>
                            <a:srgbClr val="16233A"/>
                          </a:solidFill>
                          <a:latin typeface="Nunito Sans"/>
                          <a:ea typeface="Nunito Sans"/>
                          <a:cs typeface="Nunito Sans"/>
                          <a:sym typeface="Nunito Sans"/>
                        </a:rPr>
                        <a:t>DKT baseline</a:t>
                      </a:r>
                      <a:endParaRPr sz="1250" u="none" cap="none" strike="noStrike">
                        <a:latin typeface="Nunito Sans"/>
                        <a:ea typeface="Nunito Sans"/>
                        <a:cs typeface="Nunito Sans"/>
                        <a:sym typeface="Nunito Sans"/>
                      </a:endParaRPr>
                    </a:p>
                  </a:txBody>
                  <a:tcPr marT="55575" marB="55575" marR="55575" marL="555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Accuracy</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0.748</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0.630</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Precision</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0.787</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0.654</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Recall</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0.779</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0.778</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F1</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0.783</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0.710</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46075">
                <a:tc>
                  <a:txBody>
                    <a:bodyPr/>
                    <a:lstStyle/>
                    <a:p>
                      <a:pPr indent="0" lvl="0" marL="0" marR="0" rtl="0" algn="l">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AUC</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0.827</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33A"/>
                        </a:buClr>
                        <a:buSzPts val="1250"/>
                        <a:buFont typeface="Nunito Sans"/>
                        <a:buNone/>
                      </a:pPr>
                      <a:r>
                        <a:rPr lang="en-US" sz="1250" u="none" cap="none" strike="noStrike">
                          <a:solidFill>
                            <a:srgbClr val="16233A"/>
                          </a:solidFill>
                          <a:latin typeface="Nunito Sans"/>
                          <a:ea typeface="Nunito Sans"/>
                          <a:cs typeface="Nunito Sans"/>
                          <a:sym typeface="Nunito Sans"/>
                        </a:rPr>
                        <a:t>0.665</a:t>
                      </a:r>
                      <a:endParaRPr sz="1250" u="none" cap="none" strike="noStrike">
                        <a:latin typeface="Nunito Sans"/>
                        <a:ea typeface="Nunito Sans"/>
                        <a:cs typeface="Nunito Sans"/>
                        <a:sym typeface="Nunito Sans"/>
                      </a:endParaRPr>
                    </a:p>
                  </a:txBody>
                  <a:tcPr marT="55575" marB="55575" marR="55575" marL="555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336" name="Google Shape;336;p17"/>
          <p:cNvSpPr/>
          <p:nvPr/>
        </p:nvSpPr>
        <p:spPr>
          <a:xfrm>
            <a:off x="6280150" y="1779191"/>
            <a:ext cx="5092700" cy="970161"/>
          </a:xfrm>
          <a:prstGeom prst="roundRect">
            <a:avLst>
              <a:gd fmla="val 8509"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7"/>
          <p:cNvSpPr/>
          <p:nvPr/>
        </p:nvSpPr>
        <p:spPr>
          <a:xfrm>
            <a:off x="6451600" y="1925241"/>
            <a:ext cx="489229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MCQ generation</a:t>
            </a:r>
            <a:endParaRPr b="0" i="0" sz="1400" u="none" cap="none" strike="noStrike">
              <a:solidFill>
                <a:schemeClr val="dk1"/>
              </a:solidFill>
              <a:latin typeface="Calibri"/>
              <a:ea typeface="Calibri"/>
              <a:cs typeface="Calibri"/>
              <a:sym typeface="Calibri"/>
            </a:endParaRPr>
          </a:p>
        </p:txBody>
      </p:sp>
      <p:sp>
        <p:nvSpPr>
          <p:cNvPr id="338" name="Google Shape;338;p17"/>
          <p:cNvSpPr/>
          <p:nvPr/>
        </p:nvSpPr>
        <p:spPr>
          <a:xfrm>
            <a:off x="6451600" y="2176661"/>
            <a:ext cx="4892294"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Duplicate rate 27.8% (25 of 90) · every stored question has 4 options and a valid key</a:t>
            </a:r>
            <a:endParaRPr b="0" i="0" sz="1200" u="none" cap="none" strike="noStrike">
              <a:solidFill>
                <a:schemeClr val="dk1"/>
              </a:solidFill>
              <a:latin typeface="Calibri"/>
              <a:ea typeface="Calibri"/>
              <a:cs typeface="Calibri"/>
              <a:sym typeface="Calibri"/>
            </a:endParaRPr>
          </a:p>
        </p:txBody>
      </p:sp>
      <p:sp>
        <p:nvSpPr>
          <p:cNvPr id="339" name="Google Shape;339;p17"/>
          <p:cNvSpPr/>
          <p:nvPr/>
        </p:nvSpPr>
        <p:spPr>
          <a:xfrm>
            <a:off x="6280150" y="2863652"/>
            <a:ext cx="5092700" cy="970161"/>
          </a:xfrm>
          <a:prstGeom prst="roundRect">
            <a:avLst>
              <a:gd fmla="val 8509"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6451600" y="3009702"/>
            <a:ext cx="489229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Recommendation loop</a:t>
            </a:r>
            <a:endParaRPr b="0" i="0" sz="1400" u="none" cap="none" strike="noStrike">
              <a:solidFill>
                <a:schemeClr val="dk1"/>
              </a:solidFill>
              <a:latin typeface="Calibri"/>
              <a:ea typeface="Calibri"/>
              <a:cs typeface="Calibri"/>
              <a:sym typeface="Calibri"/>
            </a:endParaRPr>
          </a:p>
        </p:txBody>
      </p:sp>
      <p:sp>
        <p:nvSpPr>
          <p:cNvPr id="341" name="Google Shape;341;p17"/>
          <p:cNvSpPr/>
          <p:nvPr/>
        </p:nvSpPr>
        <p:spPr>
          <a:xfrm>
            <a:off x="6451600" y="3261122"/>
            <a:ext cx="4892294"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38 of 40 simulated students had no gaps after one round, against 27 of 40 without remediation</a:t>
            </a:r>
            <a:endParaRPr b="0" i="0" sz="1200" u="none" cap="none" strike="noStrike">
              <a:solidFill>
                <a:schemeClr val="dk1"/>
              </a:solidFill>
              <a:latin typeface="Calibri"/>
              <a:ea typeface="Calibri"/>
              <a:cs typeface="Calibri"/>
              <a:sym typeface="Calibri"/>
            </a:endParaRPr>
          </a:p>
        </p:txBody>
      </p:sp>
      <p:sp>
        <p:nvSpPr>
          <p:cNvPr id="342" name="Google Shape;342;p17"/>
          <p:cNvSpPr/>
          <p:nvPr/>
        </p:nvSpPr>
        <p:spPr>
          <a:xfrm>
            <a:off x="6280150" y="3948112"/>
            <a:ext cx="5092700" cy="756841"/>
          </a:xfrm>
          <a:prstGeom prst="roundRect">
            <a:avLst>
              <a:gd fmla="val 10907"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7"/>
          <p:cNvSpPr/>
          <p:nvPr/>
        </p:nvSpPr>
        <p:spPr>
          <a:xfrm>
            <a:off x="6451600" y="4094163"/>
            <a:ext cx="4892294" cy="238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400"/>
              <a:buFont typeface="Nunito Sans"/>
              <a:buNone/>
            </a:pPr>
            <a:r>
              <a:rPr b="1" i="0" lang="en-US" sz="1400" u="none" cap="none" strike="noStrike">
                <a:solidFill>
                  <a:srgbClr val="16233A"/>
                </a:solidFill>
                <a:latin typeface="Nunito Sans"/>
                <a:ea typeface="Nunito Sans"/>
                <a:cs typeface="Nunito Sans"/>
                <a:sym typeface="Nunito Sans"/>
              </a:rPr>
              <a:t>User satisfaction</a:t>
            </a:r>
            <a:endParaRPr b="0" i="0" sz="1400" u="none" cap="none" strike="noStrike">
              <a:solidFill>
                <a:schemeClr val="dk1"/>
              </a:solidFill>
              <a:latin typeface="Calibri"/>
              <a:ea typeface="Calibri"/>
              <a:cs typeface="Calibri"/>
              <a:sym typeface="Calibri"/>
            </a:endParaRPr>
          </a:p>
        </p:txBody>
      </p:sp>
      <p:sp>
        <p:nvSpPr>
          <p:cNvPr id="344" name="Google Shape;344;p17"/>
          <p:cNvSpPr/>
          <p:nvPr/>
        </p:nvSpPr>
        <p:spPr>
          <a:xfrm>
            <a:off x="6451600" y="4345583"/>
            <a:ext cx="489229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Not measured yet; survey questionnaire prepared</a:t>
            </a:r>
            <a:endParaRPr b="0" i="0" sz="1200" u="none" cap="none" strike="noStrike">
              <a:solidFill>
                <a:schemeClr val="dk1"/>
              </a:solidFill>
              <a:latin typeface="Calibri"/>
              <a:ea typeface="Calibri"/>
              <a:cs typeface="Calibri"/>
              <a:sym typeface="Calibri"/>
            </a:endParaRPr>
          </a:p>
        </p:txBody>
      </p:sp>
      <p:sp>
        <p:nvSpPr>
          <p:cNvPr id="345" name="Google Shape;345;p17"/>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17 · KT: 12 epochs, 600 simulated students, 75/25 split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50" name="Shape 350"/>
        <p:cNvGrpSpPr/>
        <p:nvPr/>
      </p:nvGrpSpPr>
      <p:grpSpPr>
        <a:xfrm>
          <a:off x="0" y="0"/>
          <a:ext cx="0" cy="0"/>
          <a:chOff x="0" y="0"/>
          <a:chExt cx="0" cy="0"/>
        </a:xfrm>
      </p:grpSpPr>
      <p:sp>
        <p:nvSpPr>
          <p:cNvPr id="351" name="Google Shape;351;p1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COMPARISON</a:t>
            </a:r>
            <a:endParaRPr b="0" i="0" sz="1200" u="none" cap="none" strike="noStrike">
              <a:solidFill>
                <a:schemeClr val="dk1"/>
              </a:solidFill>
              <a:latin typeface="Calibri"/>
              <a:ea typeface="Calibri"/>
              <a:cs typeface="Calibri"/>
              <a:sym typeface="Calibri"/>
            </a:endParaRPr>
          </a:p>
        </p:txBody>
      </p:sp>
      <p:sp>
        <p:nvSpPr>
          <p:cNvPr id="352" name="Google Shape;352;p18"/>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Traditional, base paper and our system</a:t>
            </a:r>
            <a:endParaRPr b="0" i="0" sz="3200" u="none" cap="none" strike="noStrike">
              <a:solidFill>
                <a:schemeClr val="dk1"/>
              </a:solidFill>
              <a:latin typeface="Calibri"/>
              <a:ea typeface="Calibri"/>
              <a:cs typeface="Calibri"/>
              <a:sym typeface="Calibri"/>
            </a:endParaRPr>
          </a:p>
        </p:txBody>
      </p:sp>
      <p:graphicFrame>
        <p:nvGraphicFramePr>
          <p:cNvPr id="353" name="Google Shape;353;p18"/>
          <p:cNvGraphicFramePr/>
          <p:nvPr/>
        </p:nvGraphicFramePr>
        <p:xfrm>
          <a:off x="825500" y="1760141"/>
          <a:ext cx="3000000" cy="3000000"/>
        </p:xfrm>
        <a:graphic>
          <a:graphicData uri="http://schemas.openxmlformats.org/drawingml/2006/table">
            <a:tbl>
              <a:tblPr>
                <a:noFill/>
                <a:tableStyleId>{07622916-A73C-4988-B90C-C9FCDE98B4EF}</a:tableStyleId>
              </a:tblPr>
              <a:tblGrid>
                <a:gridCol w="3271650"/>
                <a:gridCol w="2005200"/>
                <a:gridCol w="2321825"/>
                <a:gridCol w="2955025"/>
              </a:tblGrid>
              <a:tr h="332650">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Feature</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Traditional</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Base paper</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6233A"/>
                        </a:buClr>
                        <a:buSzPts val="1200"/>
                        <a:buFont typeface="Nunito Sans"/>
                        <a:buNone/>
                      </a:pPr>
                      <a:r>
                        <a:rPr b="1" lang="en-US" sz="1200" u="none" cap="none" strike="noStrike">
                          <a:solidFill>
                            <a:srgbClr val="16233A"/>
                          </a:solidFill>
                          <a:latin typeface="Nunito Sans"/>
                          <a:ea typeface="Nunito Sans"/>
                          <a:cs typeface="Nunito Sans"/>
                          <a:sym typeface="Nunito Sans"/>
                        </a:rPr>
                        <a:t>Our system</a:t>
                      </a:r>
                      <a:endParaRPr sz="1200" u="none" cap="none" strike="noStrike">
                        <a:latin typeface="Nunito Sans"/>
                        <a:ea typeface="Nunito Sans"/>
                        <a:cs typeface="Nunito Sans"/>
                        <a:sym typeface="Nunito Sans"/>
                      </a:endParaRPr>
                    </a:p>
                  </a:txBody>
                  <a:tcPr marT="53350" marB="53350" marR="53350" marL="53350">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Concept-level analysis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Limited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Personalized recommendation</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Generic</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 five parts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 five parts, cross-checked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AI question generation</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No</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 de-duplicated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Knowledge tracking</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Limited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EKT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EKT with calibrated mastery</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Re-testing</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Limited</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Adaptive, fresh questions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Study material for students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Same notes for all</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On-screen plan only</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Personal PDF of own gaps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Retrieval stays on topic</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Fixed chunks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Unit-aware, 100% on-topic</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Runs without paid AI</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Commercial APIs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Free tiers or offline</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r h="332650">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Web app, API and tests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In-house LMS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33A"/>
                        </a:buClr>
                        <a:buSzPts val="1200"/>
                        <a:buFont typeface="Nunito Sans"/>
                        <a:buNone/>
                      </a:pPr>
                      <a:r>
                        <a:rPr lang="en-US" sz="1200" u="none" cap="none" strike="noStrike">
                          <a:solidFill>
                            <a:srgbClr val="16233A"/>
                          </a:solidFill>
                          <a:latin typeface="Nunito Sans"/>
                          <a:ea typeface="Nunito Sans"/>
                          <a:cs typeface="Nunito Sans"/>
                          <a:sym typeface="Nunito Sans"/>
                        </a:rPr>
                        <a:t>Yes, 36 tests</a:t>
                      </a:r>
                      <a:endParaRPr sz="1200" u="none" cap="none" strike="noStrike">
                        <a:latin typeface="Nunito Sans"/>
                        <a:ea typeface="Nunito Sans"/>
                        <a:cs typeface="Nunito Sans"/>
                        <a:sym typeface="Nunito Sans"/>
                      </a:endParaRPr>
                    </a:p>
                  </a:txBody>
                  <a:tcPr marT="53350" marB="53350" marR="53350" marL="53350">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354" name="Google Shape;354;p18"/>
          <p:cNvSpPr/>
          <p:nvPr/>
        </p:nvSpPr>
        <p:spPr>
          <a:xfrm>
            <a:off x="812800" y="4931767"/>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t/>
            </a:r>
            <a:endParaRPr b="0" i="0" sz="1200" u="none" cap="none" strike="noStrike">
              <a:solidFill>
                <a:schemeClr val="dk1"/>
              </a:solidFill>
              <a:latin typeface="Calibri"/>
              <a:ea typeface="Calibri"/>
              <a:cs typeface="Calibri"/>
              <a:sym typeface="Calibri"/>
            </a:endParaRPr>
          </a:p>
        </p:txBody>
      </p:sp>
      <p:sp>
        <p:nvSpPr>
          <p:cNvPr id="355" name="Google Shape;355;p18"/>
          <p:cNvSpPr/>
          <p:nvPr/>
        </p:nvSpPr>
        <p:spPr>
          <a:xfrm>
            <a:off x="834298" y="6238280"/>
            <a:ext cx="10883400" cy="23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60" name="Shape 360"/>
        <p:cNvGrpSpPr/>
        <p:nvPr/>
      </p:nvGrpSpPr>
      <p:grpSpPr>
        <a:xfrm>
          <a:off x="0" y="0"/>
          <a:ext cx="0" cy="0"/>
          <a:chOff x="0" y="0"/>
          <a:chExt cx="0" cy="0"/>
        </a:xfrm>
      </p:grpSpPr>
      <p:sp>
        <p:nvSpPr>
          <p:cNvPr id="361" name="Google Shape;361;p1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LIMITATIONS AND FUTURE SCOPE</a:t>
            </a:r>
            <a:endParaRPr b="0" i="0" sz="1200" u="none" cap="none" strike="noStrike">
              <a:solidFill>
                <a:schemeClr val="dk1"/>
              </a:solidFill>
              <a:latin typeface="Calibri"/>
              <a:ea typeface="Calibri"/>
              <a:cs typeface="Calibri"/>
              <a:sym typeface="Calibri"/>
            </a:endParaRPr>
          </a:p>
        </p:txBody>
      </p:sp>
      <p:sp>
        <p:nvSpPr>
          <p:cNvPr id="362" name="Google Shape;362;p19"/>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What remains to be done</a:t>
            </a:r>
            <a:endParaRPr b="0" i="0" sz="3200" u="none" cap="none" strike="noStrike">
              <a:solidFill>
                <a:schemeClr val="dk1"/>
              </a:solidFill>
              <a:latin typeface="Calibri"/>
              <a:ea typeface="Calibri"/>
              <a:cs typeface="Calibri"/>
              <a:sym typeface="Calibri"/>
            </a:endParaRPr>
          </a:p>
        </p:txBody>
      </p:sp>
      <p:sp>
        <p:nvSpPr>
          <p:cNvPr id="363" name="Google Shape;363;p19"/>
          <p:cNvSpPr/>
          <p:nvPr/>
        </p:nvSpPr>
        <p:spPr>
          <a:xfrm>
            <a:off x="819150" y="1829991"/>
            <a:ext cx="5143500" cy="2081874"/>
          </a:xfrm>
          <a:prstGeom prst="roundRect">
            <a:avLst>
              <a:gd fmla="val 4575" name="adj"/>
            </a:avLst>
          </a:prstGeom>
          <a:solidFill>
            <a:srgbClr val="FDFDFB"/>
          </a:solid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9"/>
          <p:cNvSpPr/>
          <p:nvPr/>
        </p:nvSpPr>
        <p:spPr>
          <a:xfrm>
            <a:off x="1054100" y="2064941"/>
            <a:ext cx="4813808"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600"/>
              <a:buFont typeface="Nunito Sans"/>
              <a:buNone/>
            </a:pPr>
            <a:r>
              <a:rPr b="1" i="0" lang="en-US" sz="1600" u="none" cap="none" strike="noStrike">
                <a:solidFill>
                  <a:srgbClr val="16233A"/>
                </a:solidFill>
                <a:latin typeface="Nunito Sans"/>
                <a:ea typeface="Nunito Sans"/>
                <a:cs typeface="Nunito Sans"/>
                <a:sym typeface="Nunito Sans"/>
              </a:rPr>
              <a:t>Limitations</a:t>
            </a:r>
            <a:endParaRPr b="0" i="0" sz="1600" u="none" cap="none" strike="noStrike">
              <a:solidFill>
                <a:schemeClr val="dk1"/>
              </a:solidFill>
              <a:latin typeface="Calibri"/>
              <a:ea typeface="Calibri"/>
              <a:cs typeface="Calibri"/>
              <a:sym typeface="Calibri"/>
            </a:endParaRPr>
          </a:p>
        </p:txBody>
      </p:sp>
      <p:sp>
        <p:nvSpPr>
          <p:cNvPr id="365" name="Google Shape;365;p19"/>
          <p:cNvSpPr/>
          <p:nvPr/>
        </p:nvSpPr>
        <p:spPr>
          <a:xfrm>
            <a:off x="1145794" y="2397658"/>
            <a:ext cx="4714494" cy="1304660"/>
          </a:xfrm>
          <a:prstGeom prst="rect">
            <a:avLst/>
          </a:prstGeom>
          <a:noFill/>
          <a:ln>
            <a:noFill/>
          </a:ln>
        </p:spPr>
        <p:txBody>
          <a:bodyPr anchorCtr="0" anchor="t" bIns="0" lIns="0" spcFirstLastPara="1" rIns="0" wrap="square" tIns="0">
            <a:normAutofit/>
          </a:bodyPr>
          <a:lstStyle/>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Synthetic students, not a real class</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Real AI output quality not yet measured (free-tier limits)</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Generated content needs teacher checking</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EKT needs enough answers per concept</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34405A"/>
              </a:buClr>
              <a:buSzPts val="1300"/>
              <a:buFont typeface="Nunito Sans"/>
              <a:buChar char="•"/>
            </a:pPr>
            <a:r>
              <a:rPr b="0" i="0" lang="en-US" sz="1300" u="none" cap="none" strike="noStrike">
                <a:solidFill>
                  <a:srgbClr val="34405A"/>
                </a:solidFill>
                <a:latin typeface="Nunito Sans"/>
                <a:ea typeface="Nunito Sans"/>
                <a:cs typeface="Nunito Sans"/>
                <a:sym typeface="Nunito Sans"/>
              </a:rPr>
              <a:t>Course PDF quality affects results</a:t>
            </a:r>
            <a:endParaRPr b="0" i="0" sz="1300" u="none" cap="none" strike="noStrike">
              <a:solidFill>
                <a:schemeClr val="dk1"/>
              </a:solidFill>
              <a:latin typeface="Calibri"/>
              <a:ea typeface="Calibri"/>
              <a:cs typeface="Calibri"/>
              <a:sym typeface="Calibri"/>
            </a:endParaRPr>
          </a:p>
        </p:txBody>
      </p:sp>
      <p:sp>
        <p:nvSpPr>
          <p:cNvPr id="366" name="Google Shape;366;p19"/>
          <p:cNvSpPr/>
          <p:nvPr/>
        </p:nvSpPr>
        <p:spPr>
          <a:xfrm>
            <a:off x="6229350" y="1829991"/>
            <a:ext cx="5143500" cy="2081874"/>
          </a:xfrm>
          <a:prstGeom prst="roundRect">
            <a:avLst>
              <a:gd fmla="val 4575" name="adj"/>
            </a:avLst>
          </a:prstGeom>
          <a:solidFill>
            <a:srgbClr val="E6EEFC"/>
          </a:solidFill>
          <a:ln cap="flat" cmpd="sng" w="12700">
            <a:solidFill>
              <a:srgbClr val="2A5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9"/>
          <p:cNvSpPr/>
          <p:nvPr/>
        </p:nvSpPr>
        <p:spPr>
          <a:xfrm>
            <a:off x="6464300" y="2064941"/>
            <a:ext cx="4813808"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6233A"/>
              </a:buClr>
              <a:buSzPts val="1600"/>
              <a:buFont typeface="Nunito Sans"/>
              <a:buNone/>
            </a:pPr>
            <a:r>
              <a:rPr b="1" i="0" lang="en-US" sz="1600" u="none" cap="none" strike="noStrike">
                <a:solidFill>
                  <a:srgbClr val="16233A"/>
                </a:solidFill>
                <a:latin typeface="Nunito Sans"/>
                <a:ea typeface="Nunito Sans"/>
                <a:cs typeface="Nunito Sans"/>
                <a:sym typeface="Nunito Sans"/>
              </a:rPr>
              <a:t>Future scope</a:t>
            </a:r>
            <a:endParaRPr b="0" i="0" sz="1600" u="none" cap="none" strike="noStrike">
              <a:solidFill>
                <a:schemeClr val="dk1"/>
              </a:solidFill>
              <a:latin typeface="Calibri"/>
              <a:ea typeface="Calibri"/>
              <a:cs typeface="Calibri"/>
              <a:sym typeface="Calibri"/>
            </a:endParaRPr>
          </a:p>
        </p:txBody>
      </p:sp>
      <p:sp>
        <p:nvSpPr>
          <p:cNvPr id="368" name="Google Shape;368;p19"/>
          <p:cNvSpPr/>
          <p:nvPr/>
        </p:nvSpPr>
        <p:spPr>
          <a:xfrm>
            <a:off x="6555994" y="2397658"/>
            <a:ext cx="4714494" cy="1304660"/>
          </a:xfrm>
          <a:prstGeom prst="rect">
            <a:avLst/>
          </a:prstGeom>
          <a:noFill/>
          <a:ln>
            <a:noFill/>
          </a:ln>
        </p:spPr>
        <p:txBody>
          <a:bodyPr anchorCtr="0" anchor="t" bIns="0" lIns="0" spcFirstLastPara="1" rIns="0" wrap="square" tIns="0">
            <a:normAutofit/>
          </a:bodyPr>
          <a:lstStyle/>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Pilot with a real class and real pre/post tests</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Teacher analytics dashboard</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Feedback on each wrong answer the student chose</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Integration with an LMS such as Moodle</a:t>
            </a:r>
            <a:endParaRPr b="0" i="0" sz="1300" u="none" cap="none" strike="noStrike">
              <a:solidFill>
                <a:schemeClr val="dk1"/>
              </a:solidFill>
              <a:latin typeface="Calibri"/>
              <a:ea typeface="Calibri"/>
              <a:cs typeface="Calibri"/>
              <a:sym typeface="Calibri"/>
            </a:endParaRPr>
          </a:p>
          <a:p>
            <a:pPr indent="-162306" lvl="0" marL="162306" marR="0" rtl="0" algn="l">
              <a:lnSpc>
                <a:spcPct val="155000"/>
              </a:lnSpc>
              <a:spcBef>
                <a:spcPts val="0"/>
              </a:spcBef>
              <a:spcAft>
                <a:spcPts val="0"/>
              </a:spcAft>
              <a:buClr>
                <a:srgbClr val="1F2B40"/>
              </a:buClr>
              <a:buSzPts val="1300"/>
              <a:buFont typeface="Nunito Sans"/>
              <a:buChar char="•"/>
            </a:pPr>
            <a:r>
              <a:rPr b="0" i="0" lang="en-US" sz="1300" u="none" cap="none" strike="noStrike">
                <a:solidFill>
                  <a:srgbClr val="1F2B40"/>
                </a:solidFill>
                <a:latin typeface="Nunito Sans"/>
                <a:ea typeface="Nunito Sans"/>
                <a:cs typeface="Nunito Sans"/>
                <a:sym typeface="Nunito Sans"/>
              </a:rPr>
              <a:t>Multilingual support and a mobile app</a:t>
            </a:r>
            <a:endParaRPr b="0" i="0" sz="1300" u="none" cap="none" strike="noStrike">
              <a:solidFill>
                <a:schemeClr val="dk1"/>
              </a:solidFill>
              <a:latin typeface="Calibri"/>
              <a:ea typeface="Calibri"/>
              <a:cs typeface="Calibri"/>
              <a:sym typeface="Calibri"/>
            </a:endParaRPr>
          </a:p>
        </p:txBody>
      </p:sp>
      <p:sp>
        <p:nvSpPr>
          <p:cNvPr id="369" name="Google Shape;369;p19"/>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A"/>
        </a:solidFill>
      </p:bgPr>
    </p:bg>
    <p:spTree>
      <p:nvGrpSpPr>
        <p:cNvPr id="374" name="Shape 374"/>
        <p:cNvGrpSpPr/>
        <p:nvPr/>
      </p:nvGrpSpPr>
      <p:grpSpPr>
        <a:xfrm>
          <a:off x="0" y="0"/>
          <a:ext cx="0" cy="0"/>
          <a:chOff x="0" y="0"/>
          <a:chExt cx="0" cy="0"/>
        </a:xfrm>
      </p:grpSpPr>
      <p:sp>
        <p:nvSpPr>
          <p:cNvPr id="375" name="Google Shape;375;p2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1200"/>
              <a:buFont typeface="Nunito Sans"/>
              <a:buNone/>
            </a:pPr>
            <a:r>
              <a:rPr b="1" i="0" lang="en-US" sz="1200" u="none" cap="none" strike="noStrike">
                <a:solidFill>
                  <a:srgbClr val="8FB4F5"/>
                </a:solidFill>
                <a:latin typeface="Nunito Sans"/>
                <a:ea typeface="Nunito Sans"/>
                <a:cs typeface="Nunito Sans"/>
                <a:sym typeface="Nunito Sans"/>
              </a:rPr>
              <a:t>CONCLUSION</a:t>
            </a:r>
            <a:endParaRPr b="0" i="0" sz="1200" u="none" cap="none" strike="noStrike">
              <a:solidFill>
                <a:schemeClr val="dk1"/>
              </a:solidFill>
              <a:latin typeface="Calibri"/>
              <a:ea typeface="Calibri"/>
              <a:cs typeface="Calibri"/>
              <a:sym typeface="Calibri"/>
            </a:endParaRPr>
          </a:p>
        </p:txBody>
      </p:sp>
      <p:sp>
        <p:nvSpPr>
          <p:cNvPr id="376" name="Google Shape;376;p20"/>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3F1EA"/>
              </a:buClr>
              <a:buSzPts val="3200"/>
              <a:buFont typeface="Domine"/>
              <a:buNone/>
            </a:pPr>
            <a:r>
              <a:rPr b="1" i="0" lang="en-US" sz="3200" u="none" cap="none" strike="noStrike">
                <a:solidFill>
                  <a:srgbClr val="F3F1EA"/>
                </a:solidFill>
                <a:latin typeface="Domine"/>
                <a:ea typeface="Domine"/>
                <a:cs typeface="Domine"/>
                <a:sym typeface="Domine"/>
              </a:rPr>
              <a:t>From marks to mastery, automatically</a:t>
            </a:r>
            <a:endParaRPr b="0" i="0" sz="3200" u="none" cap="none" strike="noStrike">
              <a:solidFill>
                <a:schemeClr val="dk1"/>
              </a:solidFill>
              <a:latin typeface="Calibri"/>
              <a:ea typeface="Calibri"/>
              <a:cs typeface="Calibri"/>
              <a:sym typeface="Calibri"/>
            </a:endParaRPr>
          </a:p>
        </p:txBody>
      </p:sp>
      <p:sp>
        <p:nvSpPr>
          <p:cNvPr id="377" name="Google Shape;377;p20"/>
          <p:cNvSpPr/>
          <p:nvPr/>
        </p:nvSpPr>
        <p:spPr>
          <a:xfrm>
            <a:off x="812800" y="1874441"/>
            <a:ext cx="10203180" cy="9969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8DEE9"/>
              </a:buClr>
              <a:buSzPts val="1700"/>
              <a:buFont typeface="Nunito Sans"/>
              <a:buNone/>
            </a:pPr>
            <a:r>
              <a:rPr b="0" i="0" lang="en-US" sz="1700" u="none" cap="none" strike="noStrike">
                <a:solidFill>
                  <a:srgbClr val="D8DEE9"/>
                </a:solidFill>
                <a:latin typeface="Nunito Sans"/>
                <a:ea typeface="Nunito Sans"/>
                <a:cs typeface="Nunito Sans"/>
                <a:sym typeface="Nunito Sans"/>
              </a:rPr>
              <a:t>Our system finds each student's weak concepts, generates targeted remedial plans and new questions from the syllabus, and re-tests the student in a continuous loop. Every student can keep a personal study PDF of their gaps. It works with free or offline AI models and outperforms the DKT baseline in knowledge tracing.</a:t>
            </a:r>
            <a:endParaRPr b="0" i="0" sz="1700" u="none" cap="none" strike="noStrike">
              <a:solidFill>
                <a:schemeClr val="dk1"/>
              </a:solidFill>
              <a:latin typeface="Calibri"/>
              <a:ea typeface="Calibri"/>
              <a:cs typeface="Calibri"/>
              <a:sym typeface="Calibri"/>
            </a:endParaRPr>
          </a:p>
        </p:txBody>
      </p:sp>
      <p:sp>
        <p:nvSpPr>
          <p:cNvPr id="378" name="Google Shape;378;p20"/>
          <p:cNvSpPr/>
          <p:nvPr/>
        </p:nvSpPr>
        <p:spPr>
          <a:xfrm>
            <a:off x="812800" y="3150791"/>
            <a:ext cx="10883392"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4F5"/>
              </a:buClr>
              <a:buSzPts val="2800"/>
              <a:buFont typeface="Domine"/>
              <a:buNone/>
            </a:pPr>
            <a:r>
              <a:rPr b="1" i="0" lang="en-US" sz="2800" u="none" cap="none" strike="noStrike">
                <a:solidFill>
                  <a:srgbClr val="8FB4F5"/>
                </a:solidFill>
                <a:latin typeface="Domine"/>
                <a:ea typeface="Domine"/>
                <a:cs typeface="Domine"/>
                <a:sym typeface="Domine"/>
              </a:rPr>
              <a:t>Thank you · Questions?</a:t>
            </a:r>
            <a:endParaRPr b="0" i="0" sz="2800" u="none" cap="none" strike="noStrike">
              <a:solidFill>
                <a:schemeClr val="dk1"/>
              </a:solidFill>
              <a:latin typeface="Calibri"/>
              <a:ea typeface="Calibri"/>
              <a:cs typeface="Calibri"/>
              <a:sym typeface="Calibri"/>
            </a:endParaRPr>
          </a:p>
        </p:txBody>
      </p:sp>
      <p:sp>
        <p:nvSpPr>
          <p:cNvPr id="379" name="Google Shape;379;p20"/>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9CC"/>
              </a:buClr>
              <a:buSzPts val="1200"/>
              <a:buFont typeface="Nunito Sans"/>
              <a:buNone/>
            </a:pPr>
            <a:r>
              <a:rPr b="0" i="0" lang="en-US" sz="1200" u="none" cap="none" strike="noStrike">
                <a:solidFill>
                  <a:srgbClr val="AEB9CC"/>
                </a:solidFill>
                <a:latin typeface="Nunito Sans"/>
                <a:ea typeface="Nunito Sans"/>
                <a:cs typeface="Nunito Sans"/>
                <a:sym typeface="Nunito Sans"/>
              </a:rPr>
              <a:t>Final Review · AI-Driven Personalized Learning · 20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268" name="Shape 268"/>
        <p:cNvGrpSpPr/>
        <p:nvPr/>
      </p:nvGrpSpPr>
      <p:grpSpPr>
        <a:xfrm>
          <a:off x="0" y="0"/>
          <a:ext cx="0" cy="0"/>
          <a:chOff x="0" y="0"/>
          <a:chExt cx="0" cy="0"/>
        </a:xfrm>
      </p:grpSpPr>
      <p:sp>
        <p:nvSpPr>
          <p:cNvPr id="269" name="Google Shape;269;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5FC0"/>
              </a:buClr>
              <a:buSzPts val="1200"/>
              <a:buFont typeface="Nunito Sans"/>
              <a:buNone/>
            </a:pPr>
            <a:r>
              <a:rPr b="1" i="0" lang="en-US" sz="1200" u="none" cap="none" strike="noStrike">
                <a:solidFill>
                  <a:srgbClr val="2A5FC0"/>
                </a:solidFill>
                <a:latin typeface="Nunito Sans"/>
                <a:ea typeface="Nunito Sans"/>
                <a:cs typeface="Nunito Sans"/>
                <a:sym typeface="Nunito Sans"/>
              </a:rPr>
              <a:t>MODULE 5 · STUDY MATERIAL (NEW)</a:t>
            </a:r>
            <a:endParaRPr b="0" i="0" sz="1200" u="none" cap="none" strike="noStrike">
              <a:solidFill>
                <a:schemeClr val="dk1"/>
              </a:solidFill>
              <a:latin typeface="Calibri"/>
              <a:ea typeface="Calibri"/>
              <a:cs typeface="Calibri"/>
              <a:sym typeface="Calibri"/>
            </a:endParaRPr>
          </a:p>
        </p:txBody>
      </p:sp>
      <p:sp>
        <p:nvSpPr>
          <p:cNvPr id="270" name="Google Shape;270;p13"/>
          <p:cNvSpPr/>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233A"/>
              </a:buClr>
              <a:buSzPts val="3200"/>
              <a:buFont typeface="Domine"/>
              <a:buNone/>
            </a:pPr>
            <a:r>
              <a:rPr b="1" i="0" lang="en-US" sz="3200" u="none" cap="none" strike="noStrike">
                <a:solidFill>
                  <a:srgbClr val="16233A"/>
                </a:solidFill>
                <a:latin typeface="Domine"/>
                <a:ea typeface="Domine"/>
                <a:cs typeface="Domine"/>
                <a:sym typeface="Domine"/>
              </a:rPr>
              <a:t>Every student gets a personal study PDF</a:t>
            </a:r>
            <a:endParaRPr b="0" i="0" sz="3200" u="none" cap="none" strike="noStrike">
              <a:solidFill>
                <a:schemeClr val="dk1"/>
              </a:solidFill>
              <a:latin typeface="Calibri"/>
              <a:ea typeface="Calibri"/>
              <a:cs typeface="Calibri"/>
              <a:sym typeface="Calibri"/>
            </a:endParaRPr>
          </a:p>
        </p:txBody>
      </p:sp>
      <p:sp>
        <p:nvSpPr>
          <p:cNvPr id="271" name="Google Shape;271;p13"/>
          <p:cNvSpPr/>
          <p:nvPr/>
        </p:nvSpPr>
        <p:spPr>
          <a:xfrm>
            <a:off x="812800" y="1772841"/>
            <a:ext cx="66451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9540F"/>
              </a:buClr>
              <a:buSzPts val="1200"/>
              <a:buFont typeface="Nunito Sans"/>
              <a:buNone/>
            </a:pPr>
            <a:r>
              <a:rPr b="1" i="0" lang="en-US" sz="1200" u="none" cap="none" strike="noStrike">
                <a:solidFill>
                  <a:srgbClr val="A9540F"/>
                </a:solidFill>
                <a:latin typeface="Nunito Sans"/>
                <a:ea typeface="Nunito Sans"/>
                <a:cs typeface="Nunito Sans"/>
                <a:sym typeface="Nunito Sans"/>
              </a:rPr>
              <a:t>BUILT FROM THE PLAN · NO EXTRA AI CALLS</a:t>
            </a:r>
            <a:endParaRPr b="0" i="0" sz="1200" u="none" cap="none" strike="noStrike">
              <a:solidFill>
                <a:schemeClr val="dk1"/>
              </a:solidFill>
              <a:latin typeface="Calibri"/>
              <a:ea typeface="Calibri"/>
              <a:cs typeface="Calibri"/>
              <a:sym typeface="Calibri"/>
            </a:endParaRPr>
          </a:p>
        </p:txBody>
      </p:sp>
      <p:sp>
        <p:nvSpPr>
          <p:cNvPr id="272" name="Google Shape;272;p13"/>
          <p:cNvSpPr/>
          <p:nvPr/>
        </p:nvSpPr>
        <p:spPr>
          <a:xfrm>
            <a:off x="812800" y="207506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1 Knowledge state:</a:t>
            </a:r>
            <a:r>
              <a:rPr b="0" i="0" lang="en-US" sz="1250" u="none" cap="none" strike="noStrike">
                <a:solidFill>
                  <a:srgbClr val="16233A"/>
                </a:solidFill>
                <a:latin typeface="Nunito Sans"/>
                <a:ea typeface="Nunito Sans"/>
                <a:cs typeface="Nunito Sans"/>
                <a:sym typeface="Nunito Sans"/>
              </a:rPr>
              <a:t> every concept, its mastery and status</a:t>
            </a:r>
            <a:endParaRPr b="0" i="0" sz="1250" u="none" cap="none" strike="noStrike">
              <a:solidFill>
                <a:schemeClr val="dk1"/>
              </a:solidFill>
              <a:latin typeface="Calibri"/>
              <a:ea typeface="Calibri"/>
              <a:cs typeface="Calibri"/>
              <a:sym typeface="Calibri"/>
            </a:endParaRPr>
          </a:p>
        </p:txBody>
      </p:sp>
      <p:sp>
        <p:nvSpPr>
          <p:cNvPr id="273" name="Google Shape;273;p13"/>
          <p:cNvSpPr/>
          <p:nvPr/>
        </p:nvSpPr>
        <p:spPr>
          <a:xfrm>
            <a:off x="812800" y="236081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2 Missed questions:</a:t>
            </a:r>
            <a:r>
              <a:rPr b="0" i="0" lang="en-US" sz="1250" u="none" cap="none" strike="noStrike">
                <a:solidFill>
                  <a:srgbClr val="16233A"/>
                </a:solidFill>
                <a:latin typeface="Nunito Sans"/>
                <a:ea typeface="Nunito Sans"/>
                <a:cs typeface="Nunito Sans"/>
                <a:sym typeface="Nunito Sans"/>
              </a:rPr>
              <a:t> the ones this student got wrong</a:t>
            </a:r>
            <a:endParaRPr b="0" i="0" sz="1250" u="none" cap="none" strike="noStrike">
              <a:solidFill>
                <a:schemeClr val="dk1"/>
              </a:solidFill>
              <a:latin typeface="Calibri"/>
              <a:ea typeface="Calibri"/>
              <a:cs typeface="Calibri"/>
              <a:sym typeface="Calibri"/>
            </a:endParaRPr>
          </a:p>
        </p:txBody>
      </p:sp>
      <p:sp>
        <p:nvSpPr>
          <p:cNvPr id="274" name="Google Shape;274;p13"/>
          <p:cNvSpPr/>
          <p:nvPr/>
        </p:nvSpPr>
        <p:spPr>
          <a:xfrm>
            <a:off x="812800" y="264656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3 The plan:</a:t>
            </a:r>
            <a:r>
              <a:rPr b="0" i="0" lang="en-US" sz="1250" u="none" cap="none" strike="noStrike">
                <a:solidFill>
                  <a:srgbClr val="16233A"/>
                </a:solidFill>
                <a:latin typeface="Nunito Sans"/>
                <a:ea typeface="Nunito Sans"/>
                <a:cs typeface="Nunito Sans"/>
                <a:sym typeface="Nunito Sans"/>
              </a:rPr>
              <a:t> all five parts, weakest concept first</a:t>
            </a:r>
            <a:endParaRPr b="0" i="0" sz="1250" u="none" cap="none" strike="noStrike">
              <a:solidFill>
                <a:schemeClr val="dk1"/>
              </a:solidFill>
              <a:latin typeface="Calibri"/>
              <a:ea typeface="Calibri"/>
              <a:cs typeface="Calibri"/>
              <a:sym typeface="Calibri"/>
            </a:endParaRPr>
          </a:p>
        </p:txBody>
      </p:sp>
      <p:sp>
        <p:nvSpPr>
          <p:cNvPr id="275" name="Google Shape;275;p13"/>
          <p:cNvSpPr/>
          <p:nvPr/>
        </p:nvSpPr>
        <p:spPr>
          <a:xfrm>
            <a:off x="812800" y="2932311"/>
            <a:ext cx="6645148" cy="24765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4 Syllabus pages:</a:t>
            </a:r>
            <a:r>
              <a:rPr b="0" i="0" lang="en-US" sz="1250" u="none" cap="none" strike="noStrike">
                <a:solidFill>
                  <a:srgbClr val="16233A"/>
                </a:solidFill>
                <a:latin typeface="Nunito Sans"/>
                <a:ea typeface="Nunito Sans"/>
                <a:cs typeface="Nunito Sans"/>
                <a:sym typeface="Nunito Sans"/>
              </a:rPr>
              <a:t> the concept's own unit, retrieved by RAG</a:t>
            </a:r>
            <a:endParaRPr b="0" i="0" sz="1250" u="none" cap="none" strike="noStrike">
              <a:solidFill>
                <a:schemeClr val="dk1"/>
              </a:solidFill>
              <a:latin typeface="Calibri"/>
              <a:ea typeface="Calibri"/>
              <a:cs typeface="Calibri"/>
              <a:sym typeface="Calibri"/>
            </a:endParaRPr>
          </a:p>
        </p:txBody>
      </p:sp>
      <p:sp>
        <p:nvSpPr>
          <p:cNvPr id="276" name="Google Shape;276;p13"/>
          <p:cNvSpPr/>
          <p:nvPr/>
        </p:nvSpPr>
        <p:spPr>
          <a:xfrm>
            <a:off x="812800" y="3213100"/>
            <a:ext cx="6642100" cy="2413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6233A"/>
              </a:buClr>
              <a:buSzPts val="1250"/>
              <a:buFont typeface="Nunito Sans"/>
              <a:buNone/>
            </a:pPr>
            <a:r>
              <a:rPr b="1" i="0" lang="en-US" sz="1250" u="none" cap="none" strike="noStrike">
                <a:solidFill>
                  <a:srgbClr val="16233A"/>
                </a:solidFill>
                <a:latin typeface="Nunito Sans"/>
                <a:ea typeface="Nunito Sans"/>
                <a:cs typeface="Nunito Sans"/>
                <a:sym typeface="Nunito Sans"/>
              </a:rPr>
              <a:t>5 Self-check:</a:t>
            </a:r>
            <a:r>
              <a:rPr b="0" i="0" lang="en-US" sz="1250" u="none" cap="none" strike="noStrike">
                <a:solidFill>
                  <a:srgbClr val="16233A"/>
                </a:solidFill>
                <a:latin typeface="Nunito Sans"/>
                <a:ea typeface="Nunito Sans"/>
                <a:cs typeface="Nunito Sans"/>
                <a:sym typeface="Nunito Sans"/>
              </a:rPr>
              <a:t> tick boxes to finish before the re-test</a:t>
            </a:r>
            <a:endParaRPr b="0" i="0" sz="1250" u="none" cap="none" strike="noStrike">
              <a:solidFill>
                <a:schemeClr val="dk1"/>
              </a:solidFill>
              <a:latin typeface="Calibri"/>
              <a:ea typeface="Calibri"/>
              <a:cs typeface="Calibri"/>
              <a:sym typeface="Calibri"/>
            </a:endParaRPr>
          </a:p>
        </p:txBody>
      </p:sp>
      <p:sp>
        <p:nvSpPr>
          <p:cNvPr id="277" name="Google Shape;277;p13"/>
          <p:cNvSpPr/>
          <p:nvPr/>
        </p:nvSpPr>
        <p:spPr>
          <a:xfrm>
            <a:off x="812800" y="3556000"/>
            <a:ext cx="6642100" cy="2286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65063"/>
              </a:buClr>
              <a:buSzPts val="1200"/>
              <a:buFont typeface="Nunito Sans"/>
              <a:buNone/>
            </a:pPr>
            <a:r>
              <a:rPr b="0" i="0" lang="en-US" sz="1200" u="none" cap="none" strike="noStrike">
                <a:solidFill>
                  <a:srgbClr val="465063"/>
                </a:solidFill>
                <a:latin typeface="Nunito Sans"/>
                <a:ea typeface="Nunito Sans"/>
                <a:cs typeface="Nunito Sans"/>
                <a:sym typeface="Nunito Sans"/>
              </a:rPr>
              <a:t>View it inside the website or download it; each concept has its own PDF too.</a:t>
            </a:r>
            <a:endParaRPr b="0" i="0" sz="1200" u="none" cap="none" strike="noStrike">
              <a:solidFill>
                <a:schemeClr val="dk1"/>
              </a:solidFill>
              <a:latin typeface="Calibri"/>
              <a:ea typeface="Calibri"/>
              <a:cs typeface="Calibri"/>
              <a:sym typeface="Calibri"/>
            </a:endParaRPr>
          </a:p>
        </p:txBody>
      </p:sp>
      <p:sp>
        <p:nvSpPr>
          <p:cNvPr id="278" name="Google Shape;278;p13"/>
          <p:cNvSpPr/>
          <p:nvPr/>
        </p:nvSpPr>
        <p:spPr>
          <a:xfrm>
            <a:off x="7569200" y="1765300"/>
            <a:ext cx="3810000" cy="3177648"/>
          </a:xfrm>
          <a:prstGeom prst="roundRect">
            <a:avLst>
              <a:gd fmla="val 2000" name="adj"/>
            </a:avLst>
          </a:prstGeom>
          <a:solidFill>
            <a:srgbClr val="ECEE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rst page of the study-material section for String Manipulation: missed questions, objectives and topics to revise" id="279" name="Google Shape;279;p13"/>
          <p:cNvPicPr preferRelativeResize="0"/>
          <p:nvPr/>
        </p:nvPicPr>
        <p:blipFill rotWithShape="1">
          <a:blip r:embed="rId3">
            <a:alphaModFix/>
          </a:blip>
          <a:srcRect b="0" l="0" r="0" t="0"/>
          <a:stretch/>
        </p:blipFill>
        <p:spPr>
          <a:xfrm>
            <a:off x="7581900" y="1778000"/>
            <a:ext cx="3784600" cy="3152248"/>
          </a:xfrm>
          <a:prstGeom prst="roundRect">
            <a:avLst>
              <a:gd fmla="val 1678" name="adj"/>
            </a:avLst>
          </a:prstGeom>
          <a:noFill/>
          <a:ln>
            <a:noFill/>
          </a:ln>
        </p:spPr>
      </p:pic>
      <p:pic>
        <p:nvPicPr>
          <p:cNvPr descr="Web page: Study material box with View study material and Download PDF buttons" id="400" name="Study UI screenshot"/>
          <p:cNvPicPr preferRelativeResize="0"/>
          <p:nvPr/>
        </p:nvPicPr>
        <p:blipFill rotWithShape="1">
          <a:blip r:embed="rId4">
            <a:alphaModFix/>
          </a:blip>
          <a:srcRect b="0" l="0" r="0" t="0"/>
          <a:stretch/>
        </p:blipFill>
        <p:spPr>
          <a:xfrm>
            <a:off x="812800" y="3962400"/>
            <a:ext cx="6642100" cy="1339841"/>
          </a:xfrm>
          <a:prstGeom prst="rect">
            <a:avLst/>
          </a:prstGeom>
          <a:noFill/>
          <a:ln w="12700">
            <a:solidFill>
              <a:srgbClr val="D5DAE3"/>
            </a:solidFill>
          </a:ln>
        </p:spPr>
      </p:pic>
      <p:sp>
        <p:nvSpPr>
          <p:cNvPr id="280" name="Google Shape;280;p13"/>
          <p:cNvSpPr/>
          <p:nvPr/>
        </p:nvSpPr>
        <p:spPr>
          <a:xfrm>
            <a:off x="7575550" y="1771650"/>
            <a:ext cx="3797300" cy="3164948"/>
          </a:xfrm>
          <a:prstGeom prst="roundRect">
            <a:avLst>
              <a:gd fmla="val 1839" name="adj"/>
            </a:avLst>
          </a:prstGeom>
          <a:noFill/>
          <a:ln cap="flat" cmpd="sng" w="12700">
            <a:solidFill>
              <a:srgbClr val="D5DA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878"/>
              </a:buClr>
              <a:buSzPts val="1200"/>
              <a:buFont typeface="Nunito Sans"/>
              <a:buNone/>
            </a:pPr>
            <a:r>
              <a:rPr b="0" i="0" lang="en-US" sz="1200" u="none" cap="none" strike="noStrike">
                <a:solidFill>
                  <a:srgbClr val="5F6878"/>
                </a:solidFill>
                <a:latin typeface="Nunito Sans"/>
                <a:ea typeface="Nunito Sans"/>
                <a:cs typeface="Nunito Sans"/>
                <a:sym typeface="Nunito Sans"/>
              </a:rPr>
              <a:t>Final Review · AI-Driven Personalized Learning · 13 · Real PDF and screenshot from the application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2026-09-30T07:05:30Z</dcterms:created>
  <dc:creator>PptxGenJS</dc:creator>
</cp:coreProperties>
</file>