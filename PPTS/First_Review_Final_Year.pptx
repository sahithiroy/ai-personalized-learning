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475c6f2-0093-ae57-725e-4e0ec426eb9e}">
          <p14:sldIdLst>
            <p14:sldId id="256"/>
            <p14:sldId id="257"/>
          </p14:sldIdLst>
        </p14:section>
        <p14:section name="Background" id="{5d0e8f81-a9a5-e5d8-fd97-fe9d849711f7}">
          <p14:sldIdLst>
            <p14:sldId id="258"/>
            <p14:sldId id="259"/>
            <p14:sldId id="260"/>
            <p14:sldId id="261"/>
          </p14:sldIdLst>
        </p14:section>
        <p14:section name="Literature" id="{787516c4-423c-74e6-f223-21b581ce5bce}">
          <p14:sldIdLst>
            <p14:sldId id="262"/>
            <p14:sldId id="263"/>
          </p14:sldIdLst>
        </p14:section>
        <p14:section name="Proposed work" id="{9a357abf-c9d4-3013-d58c-febd7172b61d}">
          <p14:sldIdLst>
            <p14:sldId id="264"/>
            <p14:sldId id="265"/>
            <p14:sldId id="266"/>
            <p14:sldId id="267"/>
          </p14:sldIdLst>
        </p14:section>
        <p14:section name="Plan" id="{1bfc068c-a846-e3ed-794c-0a17cb7fa39d}">
          <p14:sldIdLst>
            <p14:sldId id="268"/>
            <p14:sldId id="269"/>
          </p14:sldIdLst>
        </p14:section>
        <p14:section name="Closing" id="{0960a99f-d006-8bbd-c1cb-89ef8b98368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guide. One line on the project: we find exactly which concepts each student is weak in, give them personal study material, and re-test them with fresh questions until they reach the course target. Replace the bracketed placeholders before the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parts. The orange card (7) is where we show what our project adds on top of the base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Personalized learning means each student studies what they personally need. In Outcome-Based Education each course outcome has a threshold (50%) and a target (70%). The example on the right: a student scoring 60% overall can have mastered arrays but know almost nothing about pointers. A single mark cannot show that; our system measures each concept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out the title and venue. Explain that the paper proposes the framework: six modules in one loop, tested on real data from an in-house LMS. They used paid models: OpenAI to generate, Gemini and DeepSeek to verify. Their EKT model reached an AUC of 0.9334. We implement the full framework ourselves and add the improvements shown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cards: the problem, its impact on students and teachers, and what is needed. The need is exactly what our system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boxes from left to right. Then the limitations: no concept-level view, no personal material, re-tests repeat questions, and nothing tracks progress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tracing went from BKT to DKT, DKVMN and EKT; EKT is the only one that reads the question text, which is why the base paper and we use it. RAG grounds generated text in a document. MCQGen shows LLMs can write personalized questions. The base paper puts these together; its gaps are paid APIs and no study material the student can keep.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research area on the left is usually studied on its own. The gap: one working, affordable system that links them, ties them to OBE targets, and gives the student something to study from. That is what we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objectives. 1 to 7 follow the base paper; 8 is our own: a personal study PDF and free AI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around the loop: marks come in; EKT estimates mastery per concept; concepts below 70% are gaps; the AI writes a plan and a study PDF; new questions are generated; the adaptive re-test produces new answers, which go back into EKT. The loop repeats until every concept reaches the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reach the system through a web page, a REST API or the command line. The pipeline runs the six modules in order. The foundation layer holds the AI providers, embeddings, data and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for the panel. The base paper is the starting point; these six things are ours. 1: free models instead of paid OpenAI and DeepSeek. 2: the system keeps working when free limits are hit. 3: questions always come from the right unit of the syllabus. 4: EKT mastery values are meaningful. 5: every student can keep a personal study PDF. 6: a full web app with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GPU and no paid service are needed. The AI keys are free tiers; without keys an offline mode still runs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where we are today: phases 1 and 2 are done for this first review. The second review comes after phase 4 and the final review after phase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Likely ones: why EKT and not DKT; why three AI models; what is new compared to the base paper (slide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7315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110642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5760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AI-Driven Personalized Learning  ·  First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642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3291840"/>
            <a:ext cx="94183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2"/>
                </a:solidFill>
              </a:rPr>
              <a:t>FIRST REVIEW  ·  FINAL-YEAR PROJECT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Personalized Learning and Remedial Recommendation Through Knowledge Concept-Centric Evaluation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Find each student's weak concepts, explain them, and re-test until the course outcome is reached</a:t>
            </a:r>
            <a:endParaRPr lang="en-US" sz="1800" dirty="0"/>
          </a:p>
        </p:txBody>
      </p:sp>
      <p:sp>
        <p:nvSpPr>
          <p:cNvPr id="5" name="Team and guide"/>
          <p:cNvSpPr txBox="1"/>
          <p:nvPr/>
        </p:nvSpPr>
        <p:spPr>
          <a:xfrm>
            <a:off x="548640" y="45720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Team: 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[Student Name 1] ([Roll No.])   |   [Student Name 2] ([Roll No.])   |   [Student Name 3] ([Roll No.])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Guide: 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[Guide Name], [Designation]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[Department of Computer Science and Engineering]  ·  [College Name]  ·  [2025–2026]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AGENDA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5" name="Agenda 1"/>
          <p:cNvSpPr/>
          <p:nvPr/>
        </p:nvSpPr>
        <p:spPr>
          <a:xfrm>
            <a:off x="548640" y="1600200"/>
            <a:ext cx="2567864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Number text 1"/>
          <p:cNvSpPr txBox="1"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Agenda item 1"/>
          <p:cNvSpPr txBox="1"/>
          <p:nvPr/>
        </p:nvSpPr>
        <p:spPr>
          <a:xfrm>
            <a:off x="822960" y="265176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Introduction</a:t>
            </a:r>
            <a:endParaRPr lang="en-US" sz="1700" dirty="0"/>
          </a:p>
        </p:txBody>
      </p:sp>
      <p:sp>
        <p:nvSpPr>
          <p:cNvPr id="9" name="Agenda 2"/>
          <p:cNvSpPr/>
          <p:nvPr/>
        </p:nvSpPr>
        <p:spPr>
          <a:xfrm>
            <a:off x="3390824" y="1600200"/>
            <a:ext cx="2567864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/>
          <p:nvPr/>
        </p:nvSpPr>
        <p:spPr>
          <a:xfrm>
            <a:off x="3665144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Number text 2"/>
          <p:cNvSpPr txBox="1"/>
          <p:nvPr/>
        </p:nvSpPr>
        <p:spPr>
          <a:xfrm>
            <a:off x="3665144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Agenda item 2"/>
          <p:cNvSpPr txBox="1"/>
          <p:nvPr/>
        </p:nvSpPr>
        <p:spPr>
          <a:xfrm>
            <a:off x="3665144" y="265176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Base paper</a:t>
            </a:r>
            <a:endParaRPr lang="en-US" sz="1700" dirty="0"/>
          </a:p>
        </p:txBody>
      </p:sp>
      <p:sp>
        <p:nvSpPr>
          <p:cNvPr id="13" name="Agenda 3"/>
          <p:cNvSpPr/>
          <p:nvPr/>
        </p:nvSpPr>
        <p:spPr>
          <a:xfrm>
            <a:off x="6233008" y="1600200"/>
            <a:ext cx="2567864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4" name="Number 3"/>
          <p:cNvSpPr/>
          <p:nvPr/>
        </p:nvSpPr>
        <p:spPr>
          <a:xfrm>
            <a:off x="6507328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umber text 3"/>
          <p:cNvSpPr txBox="1"/>
          <p:nvPr/>
        </p:nvSpPr>
        <p:spPr>
          <a:xfrm>
            <a:off x="6507328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Agenda item 3"/>
          <p:cNvSpPr txBox="1"/>
          <p:nvPr/>
        </p:nvSpPr>
        <p:spPr>
          <a:xfrm>
            <a:off x="6507328" y="265176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Problem statement</a:t>
            </a:r>
            <a:endParaRPr lang="en-US" sz="1700" dirty="0"/>
          </a:p>
        </p:txBody>
      </p:sp>
      <p:sp>
        <p:nvSpPr>
          <p:cNvPr id="17" name="Agenda 4"/>
          <p:cNvSpPr/>
          <p:nvPr/>
        </p:nvSpPr>
        <p:spPr>
          <a:xfrm>
            <a:off x="9075191" y="1600200"/>
            <a:ext cx="2567864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8" name="Number 4"/>
          <p:cNvSpPr/>
          <p:nvPr/>
        </p:nvSpPr>
        <p:spPr>
          <a:xfrm>
            <a:off x="9349511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Number text 4"/>
          <p:cNvSpPr txBox="1"/>
          <p:nvPr/>
        </p:nvSpPr>
        <p:spPr>
          <a:xfrm>
            <a:off x="9349511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Agenda item 4"/>
          <p:cNvSpPr txBox="1"/>
          <p:nvPr/>
        </p:nvSpPr>
        <p:spPr>
          <a:xfrm>
            <a:off x="9349511" y="265176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Existing system</a:t>
            </a:r>
            <a:endParaRPr lang="en-US" sz="1700" dirty="0"/>
          </a:p>
        </p:txBody>
      </p:sp>
      <p:sp>
        <p:nvSpPr>
          <p:cNvPr id="21" name="Agenda 5"/>
          <p:cNvSpPr/>
          <p:nvPr/>
        </p:nvSpPr>
        <p:spPr>
          <a:xfrm>
            <a:off x="548640" y="3886200"/>
            <a:ext cx="2567864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22" name="Number 5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Number text 5"/>
          <p:cNvSpPr txBox="1"/>
          <p:nvPr/>
        </p:nvSpPr>
        <p:spPr>
          <a:xfrm>
            <a:off x="82296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Agenda item 5"/>
          <p:cNvSpPr txBox="1"/>
          <p:nvPr/>
        </p:nvSpPr>
        <p:spPr>
          <a:xfrm>
            <a:off x="822960" y="493776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Literature survey &amp; gap</a:t>
            </a:r>
            <a:endParaRPr lang="en-US" sz="1700" dirty="0"/>
          </a:p>
        </p:txBody>
      </p:sp>
      <p:sp>
        <p:nvSpPr>
          <p:cNvPr id="25" name="Agenda 6"/>
          <p:cNvSpPr/>
          <p:nvPr/>
        </p:nvSpPr>
        <p:spPr>
          <a:xfrm>
            <a:off x="3390824" y="3886200"/>
            <a:ext cx="2567864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26" name="Number 6"/>
          <p:cNvSpPr/>
          <p:nvPr/>
        </p:nvSpPr>
        <p:spPr>
          <a:xfrm>
            <a:off x="3665144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Number text 6"/>
          <p:cNvSpPr txBox="1"/>
          <p:nvPr/>
        </p:nvSpPr>
        <p:spPr>
          <a:xfrm>
            <a:off x="3665144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8" name="Agenda item 6"/>
          <p:cNvSpPr txBox="1"/>
          <p:nvPr/>
        </p:nvSpPr>
        <p:spPr>
          <a:xfrm>
            <a:off x="3665144" y="493776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Objectives</a:t>
            </a:r>
            <a:endParaRPr lang="en-US" sz="1700" dirty="0"/>
          </a:p>
        </p:txBody>
      </p:sp>
      <p:sp>
        <p:nvSpPr>
          <p:cNvPr id="29" name="Agenda 7"/>
          <p:cNvSpPr/>
          <p:nvPr/>
        </p:nvSpPr>
        <p:spPr>
          <a:xfrm>
            <a:off x="6233008" y="3886200"/>
            <a:ext cx="2567864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0" name="Number 7"/>
          <p:cNvSpPr/>
          <p:nvPr/>
        </p:nvSpPr>
        <p:spPr>
          <a:xfrm>
            <a:off x="6507328" y="41605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1" name="Number text 7"/>
          <p:cNvSpPr txBox="1"/>
          <p:nvPr/>
        </p:nvSpPr>
        <p:spPr>
          <a:xfrm>
            <a:off x="6507328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32" name="Agenda item 7"/>
          <p:cNvSpPr txBox="1"/>
          <p:nvPr/>
        </p:nvSpPr>
        <p:spPr>
          <a:xfrm>
            <a:off x="6507328" y="493776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Proposed system &amp; our additions</a:t>
            </a:r>
            <a:endParaRPr lang="en-US" sz="1700" dirty="0"/>
          </a:p>
        </p:txBody>
      </p:sp>
      <p:sp>
        <p:nvSpPr>
          <p:cNvPr id="33" name="Agenda 8"/>
          <p:cNvSpPr/>
          <p:nvPr/>
        </p:nvSpPr>
        <p:spPr>
          <a:xfrm>
            <a:off x="9075191" y="3886200"/>
            <a:ext cx="2567864" cy="19659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34" name="Number 8"/>
          <p:cNvSpPr/>
          <p:nvPr/>
        </p:nvSpPr>
        <p:spPr>
          <a:xfrm>
            <a:off x="9349511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Number text 8"/>
          <p:cNvSpPr txBox="1"/>
          <p:nvPr/>
        </p:nvSpPr>
        <p:spPr>
          <a:xfrm>
            <a:off x="9349511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36" name="Agenda item 8"/>
          <p:cNvSpPr txBox="1"/>
          <p:nvPr/>
        </p:nvSpPr>
        <p:spPr>
          <a:xfrm>
            <a:off x="9349511" y="493776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Requirements &amp; plan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total mark hides what a student does not understand</a:t>
            </a:r>
            <a:endParaRPr lang="en-US" sz="3000" dirty="0"/>
          </a:p>
        </p:txBody>
      </p:sp>
      <p:sp>
        <p:nvSpPr>
          <p:cNvPr id="5" name="Personalized learning"/>
          <p:cNvSpPr txBox="1"/>
          <p:nvPr/>
        </p:nvSpPr>
        <p:spPr>
          <a:xfrm>
            <a:off x="548640" y="1600200"/>
            <a:ext cx="5577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Personalized learning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Adapts study material, practice and tests to what each student already knows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Outcome-Based Education (OBE): every course outcome has a threshold (50%) and a target (70%)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Our idea: measure every concept separately, then fix only the weak ones with AI-generated help</a:t>
            </a:r>
            <a:endParaRPr lang="en-US" sz="1800" dirty="0"/>
          </a:p>
        </p:txBody>
      </p:sp>
      <p:sp>
        <p:nvSpPr>
          <p:cNvPr id="6" name="Stat 50%"/>
          <p:cNvSpPr txBox="1"/>
          <p:nvPr/>
        </p:nvSpPr>
        <p:spPr>
          <a:xfrm>
            <a:off x="548640" y="4526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600" dirty="0"/>
          </a:p>
        </p:txBody>
      </p:sp>
      <p:sp>
        <p:nvSpPr>
          <p:cNvPr id="7" name="Stat label OBE threshold: below it, a concept is not attained"/>
          <p:cNvSpPr txBox="1"/>
          <p:nvPr/>
        </p:nvSpPr>
        <p:spPr>
          <a:xfrm>
            <a:off x="548640" y="5212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OBE threshold: below it, a concept is not attained</a:t>
            </a:r>
            <a:endParaRPr lang="en-US" sz="1300" dirty="0"/>
          </a:p>
        </p:txBody>
      </p:sp>
      <p:sp>
        <p:nvSpPr>
          <p:cNvPr id="8" name="Stat 70%"/>
          <p:cNvSpPr txBox="1"/>
          <p:nvPr/>
        </p:nvSpPr>
        <p:spPr>
          <a:xfrm>
            <a:off x="3291840" y="4526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600" dirty="0"/>
          </a:p>
        </p:txBody>
      </p:sp>
      <p:sp>
        <p:nvSpPr>
          <p:cNvPr id="9" name="Stat label OBE target: below it, a concept is a gap"/>
          <p:cNvSpPr txBox="1"/>
          <p:nvPr/>
        </p:nvSpPr>
        <p:spPr>
          <a:xfrm>
            <a:off x="3291840" y="5212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OBE target: below it, a concept is a gap</a:t>
            </a:r>
            <a:endParaRPr lang="en-US" sz="1300" dirty="0"/>
          </a:p>
        </p:txBody>
      </p:sp>
      <p:sp>
        <p:nvSpPr>
          <p:cNvPr id="10" name="Example panel"/>
          <p:cNvSpPr/>
          <p:nvPr/>
        </p:nvSpPr>
        <p:spPr>
          <a:xfrm>
            <a:off x="6583680" y="1600200"/>
            <a:ext cx="502920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Same student, total mark 60%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Arrays</a:t>
            </a:r>
            <a:endParaRPr lang="en-US" sz="1500" dirty="0"/>
          </a:p>
        </p:txBody>
      </p:sp>
      <p:sp>
        <p:nvSpPr>
          <p:cNvPr id="13" name="Arrays track"/>
          <p:cNvSpPr/>
          <p:nvPr/>
        </p:nvSpPr>
        <p:spPr>
          <a:xfrm>
            <a:off x="6858000" y="2880360"/>
            <a:ext cx="3840480" cy="29260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4" name="Arrays bar"/>
          <p:cNvSpPr/>
          <p:nvPr/>
        </p:nvSpPr>
        <p:spPr>
          <a:xfrm>
            <a:off x="6858000" y="2880360"/>
            <a:ext cx="3456432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789920" y="281635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90%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Strings</a:t>
            </a:r>
            <a:endParaRPr lang="en-US" sz="1500" dirty="0"/>
          </a:p>
        </p:txBody>
      </p:sp>
      <p:sp>
        <p:nvSpPr>
          <p:cNvPr id="17" name="Strings track"/>
          <p:cNvSpPr/>
          <p:nvPr/>
        </p:nvSpPr>
        <p:spPr>
          <a:xfrm>
            <a:off x="6858000" y="3931920"/>
            <a:ext cx="3840480" cy="29260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8" name="Strings bar"/>
          <p:cNvSpPr/>
          <p:nvPr/>
        </p:nvSpPr>
        <p:spPr>
          <a:xfrm>
            <a:off x="6858000" y="3931920"/>
            <a:ext cx="2304288" cy="2926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789920" y="386791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60%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Pointers</a:t>
            </a:r>
            <a:endParaRPr lang="en-US" sz="1500" dirty="0"/>
          </a:p>
        </p:txBody>
      </p:sp>
      <p:sp>
        <p:nvSpPr>
          <p:cNvPr id="21" name="Pointers track"/>
          <p:cNvSpPr/>
          <p:nvPr/>
        </p:nvSpPr>
        <p:spPr>
          <a:xfrm>
            <a:off x="6858000" y="4983480"/>
            <a:ext cx="3840480" cy="29260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2" name="Pointers bar"/>
          <p:cNvSpPr/>
          <p:nvPr/>
        </p:nvSpPr>
        <p:spPr>
          <a:xfrm>
            <a:off x="6858000" y="4983480"/>
            <a:ext cx="1152144" cy="2926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789920" y="491947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30%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0" y="5486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The weak concept (pointers) is invisible in the total mark.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BASE PAPER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project is built on an IEEE Access 2025 paper</a:t>
            </a:r>
            <a:endParaRPr lang="en-US" sz="3000" dirty="0"/>
          </a:p>
        </p:txBody>
      </p:sp>
      <p:sp>
        <p:nvSpPr>
          <p:cNvPr id="5" name="Citation card"/>
          <p:cNvSpPr/>
          <p:nvPr/>
        </p:nvSpPr>
        <p:spPr>
          <a:xfrm>
            <a:off x="548640" y="1600200"/>
            <a:ext cx="548640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“AI-Driven Personalized Learning and Remedial Recommendation Through Knowledge Concept-Centric Evaluation”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N. Pradeesh, M. G. Thushara, K. Arun Krishna, V. Pranav, S. Krishnamoorthy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IEEE Access, vol. 13, pp. 207817–207837, 2025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DOI: 10.1109/ACCESS.2025.3638427</a:t>
            </a:r>
            <a:endParaRPr lang="en-US" sz="1500" dirty="0"/>
          </a:p>
        </p:txBody>
      </p:sp>
      <p:sp>
        <p:nvSpPr>
          <p:cNvPr id="7" name="Stat 1,276"/>
          <p:cNvSpPr txBox="1"/>
          <p:nvPr/>
        </p:nvSpPr>
        <p:spPr>
          <a:xfrm>
            <a:off x="822960" y="4526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1,276</a:t>
            </a:r>
            <a:endParaRPr lang="en-US" sz="3600" dirty="0"/>
          </a:p>
        </p:txBody>
      </p:sp>
      <p:sp>
        <p:nvSpPr>
          <p:cNvPr id="8" name="Stat label learners (real LMS data)"/>
          <p:cNvSpPr txBox="1"/>
          <p:nvPr/>
        </p:nvSpPr>
        <p:spPr>
          <a:xfrm>
            <a:off x="822960" y="5212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learners (real LMS data)</a:t>
            </a:r>
            <a:endParaRPr lang="en-US" sz="1300" dirty="0"/>
          </a:p>
        </p:txBody>
      </p:sp>
      <p:sp>
        <p:nvSpPr>
          <p:cNvPr id="9" name="Stat 382"/>
          <p:cNvSpPr txBox="1"/>
          <p:nvPr/>
        </p:nvSpPr>
        <p:spPr>
          <a:xfrm>
            <a:off x="2560320" y="45262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382</a:t>
            </a:r>
            <a:endParaRPr lang="en-US" sz="3600" dirty="0"/>
          </a:p>
        </p:txBody>
      </p:sp>
      <p:sp>
        <p:nvSpPr>
          <p:cNvPr id="10" name="Stat label concepts"/>
          <p:cNvSpPr txBox="1"/>
          <p:nvPr/>
        </p:nvSpPr>
        <p:spPr>
          <a:xfrm>
            <a:off x="2560320" y="5212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concepts</a:t>
            </a:r>
            <a:endParaRPr lang="en-US" sz="1300" dirty="0"/>
          </a:p>
        </p:txBody>
      </p:sp>
      <p:sp>
        <p:nvSpPr>
          <p:cNvPr id="11" name="Stat 0.933"/>
          <p:cNvSpPr txBox="1"/>
          <p:nvPr/>
        </p:nvSpPr>
        <p:spPr>
          <a:xfrm>
            <a:off x="4206240" y="4526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0.933</a:t>
            </a:r>
            <a:endParaRPr lang="en-US" sz="3600" dirty="0"/>
          </a:p>
        </p:txBody>
      </p:sp>
      <p:sp>
        <p:nvSpPr>
          <p:cNvPr id="12" name="Stat label EKT AUC reported"/>
          <p:cNvSpPr txBox="1"/>
          <p:nvPr/>
        </p:nvSpPr>
        <p:spPr>
          <a:xfrm>
            <a:off x="4206240" y="5212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EKT AUC reported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the paper proposes</a:t>
            </a:r>
            <a:endParaRPr lang="en-US" sz="1800" dirty="0"/>
          </a:p>
        </p:txBody>
      </p:sp>
      <p:sp>
        <p:nvSpPr>
          <p:cNvPr id="14" name="Number 1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umber text 1"/>
          <p:cNvSpPr txBox="1"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205740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Curriculum RAG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syllabus → chunks → vector database</a:t>
            </a:r>
            <a:endParaRPr lang="en-US" sz="1500" dirty="0"/>
          </a:p>
        </p:txBody>
      </p:sp>
      <p:sp>
        <p:nvSpPr>
          <p:cNvPr id="17" name="Number 2"/>
          <p:cNvSpPr/>
          <p:nvPr/>
        </p:nvSpPr>
        <p:spPr>
          <a:xfrm>
            <a:off x="6400800" y="2743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Number text 2"/>
          <p:cNvSpPr txBox="1"/>
          <p:nvPr/>
        </p:nvSpPr>
        <p:spPr>
          <a:xfrm>
            <a:off x="64008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26974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Concept extraction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one concept per unit, mapped to a CO</a:t>
            </a:r>
            <a:endParaRPr lang="en-US" sz="1500" dirty="0"/>
          </a:p>
        </p:txBody>
      </p:sp>
      <p:sp>
        <p:nvSpPr>
          <p:cNvPr id="20" name="Number 3"/>
          <p:cNvSpPr/>
          <p:nvPr/>
        </p:nvSpPr>
        <p:spPr>
          <a:xfrm>
            <a:off x="6400800" y="3383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Number text 3"/>
          <p:cNvSpPr txBox="1"/>
          <p:nvPr/>
        </p:nvSpPr>
        <p:spPr>
          <a:xfrm>
            <a:off x="64008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995160" y="333756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Knowledge tracing (EKT)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mastery of every concept</a:t>
            </a:r>
            <a:endParaRPr lang="en-US" sz="1500" dirty="0"/>
          </a:p>
        </p:txBody>
      </p:sp>
      <p:sp>
        <p:nvSpPr>
          <p:cNvPr id="23" name="Number 4"/>
          <p:cNvSpPr/>
          <p:nvPr/>
        </p:nvSpPr>
        <p:spPr>
          <a:xfrm>
            <a:off x="6400800" y="4023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Number text 4"/>
          <p:cNvSpPr txBox="1"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995160" y="39776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Remedial recommendation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OpenAI writes; Gemini, DeepSeek verify</a:t>
            </a:r>
            <a:endParaRPr lang="en-US" sz="1500" dirty="0"/>
          </a:p>
        </p:txBody>
      </p:sp>
      <p:sp>
        <p:nvSpPr>
          <p:cNvPr id="26" name="Number 5"/>
          <p:cNvSpPr/>
          <p:nvPr/>
        </p:nvSpPr>
        <p:spPr>
          <a:xfrm>
            <a:off x="6400800" y="4663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Number text 5"/>
          <p:cNvSpPr txBox="1"/>
          <p:nvPr/>
        </p:nvSpPr>
        <p:spPr>
          <a:xfrm>
            <a:off x="640080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995160" y="46177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MCQ generation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3× generation, de-duplication at 0.85</a:t>
            </a:r>
            <a:endParaRPr lang="en-US" sz="1500" dirty="0"/>
          </a:p>
        </p:txBody>
      </p:sp>
      <p:sp>
        <p:nvSpPr>
          <p:cNvPr id="29" name="Number 6"/>
          <p:cNvSpPr/>
          <p:nvPr/>
        </p:nvSpPr>
        <p:spPr>
          <a:xfrm>
            <a:off x="6400800" y="5303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Number text 6"/>
          <p:cNvSpPr txBox="1"/>
          <p:nvPr/>
        </p:nvSpPr>
        <p:spPr>
          <a:xfrm>
            <a:off x="640080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995160" y="525780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Adaptive evaluation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Easy → Medium → Hard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Marks tell how much, not what was missed</a:t>
            </a:r>
            <a:endParaRPr lang="en-US" sz="3000" dirty="0"/>
          </a:p>
        </p:txBody>
      </p:sp>
      <p:sp>
        <p:nvSpPr>
          <p:cNvPr id="5" name="Problem"/>
          <p:cNvSpPr/>
          <p:nvPr/>
        </p:nvSpPr>
        <p:spPr>
          <a:xfrm>
            <a:off x="548640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Number text 1"/>
          <p:cNvSpPr txBox="1"/>
          <p:nvPr/>
        </p:nvSpPr>
        <p:spPr>
          <a:xfrm>
            <a:off x="82296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Problem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461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student gets the same material and the same test, and one total mark that does not show which concepts were missed.</a:t>
            </a:r>
            <a:endParaRPr lang="en-US" sz="1600" dirty="0"/>
          </a:p>
        </p:txBody>
      </p:sp>
      <p:sp>
        <p:nvSpPr>
          <p:cNvPr id="10" name="Impact"/>
          <p:cNvSpPr/>
          <p:nvPr/>
        </p:nvSpPr>
        <p:spPr>
          <a:xfrm>
            <a:off x="4297680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1" name="Number 2"/>
          <p:cNvSpPr/>
          <p:nvPr/>
        </p:nvSpPr>
        <p:spPr>
          <a:xfrm>
            <a:off x="4572000" y="19659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Number text 2"/>
          <p:cNvSpPr txBox="1"/>
          <p:nvPr/>
        </p:nvSpPr>
        <p:spPr>
          <a:xfrm>
            <a:off x="457200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Impact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2461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Weak concepts stay hidden and carry into later topics. Mistakes repeat. Teachers cannot write personal material for 60+ students.</a:t>
            </a:r>
            <a:endParaRPr lang="en-US" sz="1600" dirty="0"/>
          </a:p>
        </p:txBody>
      </p:sp>
      <p:sp>
        <p:nvSpPr>
          <p:cNvPr id="15" name="Need"/>
          <p:cNvSpPr/>
          <p:nvPr/>
        </p:nvSpPr>
        <p:spPr>
          <a:xfrm>
            <a:off x="8046720" y="1691640"/>
            <a:ext cx="3520440" cy="3931920"/>
          </a:xfrm>
          <a:prstGeom prst="roundRect">
            <a:avLst>
              <a:gd name="adj" fmla="val 2078"/>
            </a:avLst>
          </a:prstGeom>
          <a:solidFill>
            <a:schemeClr val="accent4"/>
          </a:solidFill>
          <a:ln/>
        </p:spPr>
      </p:sp>
      <p:sp>
        <p:nvSpPr>
          <p:cNvPr id="16" name="Number 3"/>
          <p:cNvSpPr/>
          <p:nvPr/>
        </p:nvSpPr>
        <p:spPr>
          <a:xfrm>
            <a:off x="8321040" y="196596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Number text 3"/>
          <p:cNvSpPr txBox="1"/>
          <p:nvPr/>
        </p:nvSpPr>
        <p:spPr>
          <a:xfrm>
            <a:off x="83210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Need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32461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system that finds each student's weak concepts automatically, gives targeted help, and re-tests with new questions.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EXISTING SYSTEM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same content, same test, one number</a:t>
            </a:r>
            <a:endParaRPr lang="en-US" sz="3000" dirty="0"/>
          </a:p>
        </p:txBody>
      </p:sp>
      <p:sp>
        <p:nvSpPr>
          <p:cNvPr id="5" name="Same material"/>
          <p:cNvSpPr/>
          <p:nvPr/>
        </p:nvSpPr>
        <p:spPr>
          <a:xfrm>
            <a:off x="548640" y="173736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Same material</a:t>
            </a:r>
            <a:endParaRPr lang="en-US" sz="1800" dirty="0"/>
          </a:p>
        </p:txBody>
      </p:sp>
      <p:sp>
        <p:nvSpPr>
          <p:cNvPr id="7" name="Arrow"/>
          <p:cNvSpPr/>
          <p:nvPr/>
        </p:nvSpPr>
        <p:spPr>
          <a:xfrm>
            <a:off x="2999232" y="2103120"/>
            <a:ext cx="32004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Same test"/>
          <p:cNvSpPr/>
          <p:nvPr/>
        </p:nvSpPr>
        <p:spPr>
          <a:xfrm>
            <a:off x="3383280" y="173736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383280" y="1737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Same test</a:t>
            </a:r>
            <a:endParaRPr lang="en-US" sz="1800" dirty="0"/>
          </a:p>
        </p:txBody>
      </p:sp>
      <p:sp>
        <p:nvSpPr>
          <p:cNvPr id="10" name="Arrow"/>
          <p:cNvSpPr/>
          <p:nvPr/>
        </p:nvSpPr>
        <p:spPr>
          <a:xfrm>
            <a:off x="5833872" y="2103120"/>
            <a:ext cx="32004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Total mark"/>
          <p:cNvSpPr/>
          <p:nvPr/>
        </p:nvSpPr>
        <p:spPr>
          <a:xfrm>
            <a:off x="6217920" y="173736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217920" y="1737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Total mark</a:t>
            </a:r>
            <a:endParaRPr lang="en-US" sz="1800" dirty="0"/>
          </a:p>
        </p:txBody>
      </p:sp>
      <p:sp>
        <p:nvSpPr>
          <p:cNvPr id="13" name="Arrow"/>
          <p:cNvSpPr/>
          <p:nvPr/>
        </p:nvSpPr>
        <p:spPr>
          <a:xfrm>
            <a:off x="8668512" y="2103120"/>
            <a:ext cx="32004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Generic feedback"/>
          <p:cNvSpPr/>
          <p:nvPr/>
        </p:nvSpPr>
        <p:spPr>
          <a:xfrm>
            <a:off x="9052560" y="173736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052560" y="1737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Generic feedback</a:t>
            </a:r>
            <a:endParaRPr lang="en-US" sz="1800" dirty="0"/>
          </a:p>
        </p:txBody>
      </p:sp>
      <p:sp>
        <p:nvSpPr>
          <p:cNvPr id="16" name="Limitations"/>
          <p:cNvSpPr txBox="1"/>
          <p:nvPr/>
        </p:nvSpPr>
        <p:spPr>
          <a:xfrm>
            <a:off x="548640" y="315468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Limitations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Marks do not show which concept is weak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Personal material is too slow to prepare by hand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Re-tests repeat the same questions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continuous tracking of each student's knowledge</a:t>
            </a:r>
            <a:endParaRPr lang="en-US" sz="1800" dirty="0"/>
          </a:p>
        </p:txBody>
      </p:sp>
      <p:sp>
        <p:nvSpPr>
          <p:cNvPr id="17" name="Example feedback"/>
          <p:cNvSpPr/>
          <p:nvPr/>
        </p:nvSpPr>
        <p:spPr>
          <a:xfrm>
            <a:off x="6400800" y="3154680"/>
            <a:ext cx="5212080" cy="1783080"/>
          </a:xfrm>
          <a:prstGeom prst="roundRect">
            <a:avLst>
              <a:gd name="adj" fmla="val 4103"/>
            </a:avLst>
          </a:pr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675120" y="338328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Typical feedback today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i="1" dirty="0">
                <a:solidFill>
                  <a:schemeClr val="tx2"/>
                </a:solidFill>
              </a:rPr>
              <a:t>“Revise chapter 3.”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It does not say which concept inside chapter 3 was missed.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LITERATURE SURVEY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earlier work does, and what it leaves out</a:t>
            </a:r>
            <a:endParaRPr lang="en-US" sz="3000" dirty="0"/>
          </a:p>
        </p:txBody>
      </p:sp>
      <p:graphicFrame>
        <p:nvGraphicFramePr>
          <p:cNvPr id="8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926080"/>
                <a:gridCol w="2651760"/>
                <a:gridCol w="24688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Work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Approach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Strength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Limitation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Corbett &amp; Anderson, 1994 (BKT)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Hidden Markov model per skill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Simple, interpretable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One skill at a time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Piech et al., 2015 (DKT)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LSTM over (concept, right/wrong)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Learns from answer sequences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Ignores question text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Zhang et al., 2017 (DKVMN)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Key-value memory per concept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Readable concept state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exercise content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Liu et al., 2021 (EKT)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Question text + LSTM + attention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Uses what was asked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Needs exercise text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Lewis et al., 2020 (RAG)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Retrieve, then generate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Grounded, fewer hallucinations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built for assessment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Hang et al., 2024 (MCQGen)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LLM-driven question generator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Personalized questions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knowledge tracing loop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Pradeesh et al., 2025 (base)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All modules in one OBE loop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End to end, real classroom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Paid APIs; nothing to keep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RESEARCH GAP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pieces exist, but rarely in one working loop</a:t>
            </a:r>
            <a:endParaRPr lang="en-US" sz="3000" dirty="0"/>
          </a:p>
        </p:txBody>
      </p:sp>
      <p:sp>
        <p:nvSpPr>
          <p:cNvPr id="5" name="Knowledge tracing"/>
          <p:cNvSpPr/>
          <p:nvPr/>
        </p:nvSpPr>
        <p:spPr>
          <a:xfrm>
            <a:off x="548640" y="1645920"/>
            <a:ext cx="4206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Knowledge tracing</a:t>
            </a:r>
            <a:endParaRPr lang="en-US" sz="1800" dirty="0"/>
          </a:p>
        </p:txBody>
      </p:sp>
      <p:sp>
        <p:nvSpPr>
          <p:cNvPr id="7" name="Question generation"/>
          <p:cNvSpPr/>
          <p:nvPr/>
        </p:nvSpPr>
        <p:spPr>
          <a:xfrm>
            <a:off x="548640" y="2697480"/>
            <a:ext cx="4206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697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Question generation</a:t>
            </a:r>
            <a:endParaRPr lang="en-US" sz="1800" dirty="0"/>
          </a:p>
        </p:txBody>
      </p:sp>
      <p:sp>
        <p:nvSpPr>
          <p:cNvPr id="9" name="Remedial content"/>
          <p:cNvSpPr/>
          <p:nvPr/>
        </p:nvSpPr>
        <p:spPr>
          <a:xfrm>
            <a:off x="548640" y="3749040"/>
            <a:ext cx="4206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3749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Remedial content</a:t>
            </a:r>
            <a:endParaRPr lang="en-US" sz="1800" dirty="0"/>
          </a:p>
        </p:txBody>
      </p:sp>
      <p:sp>
        <p:nvSpPr>
          <p:cNvPr id="11" name="Adaptive testing"/>
          <p:cNvSpPr/>
          <p:nvPr/>
        </p:nvSpPr>
        <p:spPr>
          <a:xfrm>
            <a:off x="548640" y="4800600"/>
            <a:ext cx="420624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4800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Adaptive testing</a:t>
            </a:r>
            <a:endParaRPr lang="en-US" sz="1800" dirty="0"/>
          </a:p>
        </p:txBody>
      </p:sp>
      <p:sp>
        <p:nvSpPr>
          <p:cNvPr id="13" name="Gap arrow"/>
          <p:cNvSpPr/>
          <p:nvPr/>
        </p:nvSpPr>
        <p:spPr>
          <a:xfrm>
            <a:off x="4983480" y="3246120"/>
            <a:ext cx="822960" cy="5486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Gap statement"/>
          <p:cNvSpPr/>
          <p:nvPr/>
        </p:nvSpPr>
        <p:spPr>
          <a:xfrm>
            <a:off x="6035040" y="1645920"/>
            <a:ext cx="5577840" cy="3977640"/>
          </a:xfrm>
          <a:prstGeom prst="roundRect">
            <a:avLst>
              <a:gd name="adj" fmla="val 1839"/>
            </a:avLst>
          </a:prstGeom>
          <a:solidFill>
            <a:schemeClr val="tx2"/>
          </a:solidFill>
          <a:ln/>
        </p:spPr>
      </p:sp>
      <p:sp>
        <p:nvSpPr>
          <p:cNvPr id="15" name="The gap we address"/>
          <p:cNvSpPr txBox="1"/>
          <p:nvPr/>
        </p:nvSpPr>
        <p:spPr>
          <a:xfrm>
            <a:off x="6355080" y="19202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The gap we address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No single affordable system links tracing, question generation and remediation in one loop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Generated content is rarely checked by independent models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Students get feedback on screen but no material they can keep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Most systems need paid AI services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OBJECTIVES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project will deliver</a:t>
            </a:r>
            <a:endParaRPr lang="en-US" sz="3000" dirty="0"/>
          </a:p>
        </p:txBody>
      </p:sp>
      <p:sp>
        <p:nvSpPr>
          <p:cNvPr id="5" name="Number 1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Number text 1"/>
          <p:cNvSpPr txBox="1"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6002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Extract concepts and course outcomes from the syllabus</a:t>
            </a:r>
            <a:endParaRPr lang="en-US" sz="1600" dirty="0"/>
          </a:p>
        </p:txBody>
      </p:sp>
      <p:sp>
        <p:nvSpPr>
          <p:cNvPr id="8" name="Number 2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Number text 2"/>
          <p:cNvSpPr txBox="1"/>
          <p:nvPr/>
        </p:nvSpPr>
        <p:spPr>
          <a:xfrm>
            <a:off x="5486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6974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Build a RAG knowledge base (embeddings + vector database)</a:t>
            </a:r>
            <a:endParaRPr lang="en-US" sz="1600" dirty="0"/>
          </a:p>
        </p:txBody>
      </p:sp>
      <p:sp>
        <p:nvSpPr>
          <p:cNvPr id="11" name="Number 3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Number text 3"/>
          <p:cNvSpPr txBox="1"/>
          <p:nvPr/>
        </p:nvSpPr>
        <p:spPr>
          <a:xfrm>
            <a:off x="54864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3794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Estimate concept mastery with EKT; compare with DKT</a:t>
            </a:r>
            <a:endParaRPr lang="en-US" sz="1600" dirty="0"/>
          </a:p>
        </p:txBody>
      </p:sp>
      <p:sp>
        <p:nvSpPr>
          <p:cNvPr id="14" name="Number 4"/>
          <p:cNvSpPr/>
          <p:nvPr/>
        </p:nvSpPr>
        <p:spPr>
          <a:xfrm>
            <a:off x="548640" y="4937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umber text 4"/>
          <p:cNvSpPr txBox="1"/>
          <p:nvPr/>
        </p:nvSpPr>
        <p:spPr>
          <a:xfrm>
            <a:off x="54864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48920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Detect weak concepts with the OBE threshold and target</a:t>
            </a:r>
            <a:endParaRPr lang="en-US" sz="1600" dirty="0"/>
          </a:p>
        </p:txBody>
      </p:sp>
      <p:sp>
        <p:nvSpPr>
          <p:cNvPr id="17" name="Number 5"/>
          <p:cNvSpPr/>
          <p:nvPr/>
        </p:nvSpPr>
        <p:spPr>
          <a:xfrm>
            <a:off x="621792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Number text 5"/>
          <p:cNvSpPr txBox="1"/>
          <p:nvPr/>
        </p:nvSpPr>
        <p:spPr>
          <a:xfrm>
            <a:off x="62179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16002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cross-verified remedial plans for each weak concept</a:t>
            </a:r>
            <a:endParaRPr lang="en-US" sz="1600" dirty="0"/>
          </a:p>
        </p:txBody>
      </p:sp>
      <p:sp>
        <p:nvSpPr>
          <p:cNvPr id="20" name="Number 6"/>
          <p:cNvSpPr/>
          <p:nvPr/>
        </p:nvSpPr>
        <p:spPr>
          <a:xfrm>
            <a:off x="6217920" y="2743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Number text 6"/>
          <p:cNvSpPr txBox="1"/>
          <p:nvPr/>
        </p:nvSpPr>
        <p:spPr>
          <a:xfrm>
            <a:off x="62179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949440" y="26974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Generate new, de-duplicated MCQs by difficulty and Bloom level</a:t>
            </a:r>
            <a:endParaRPr lang="en-US" sz="1600" dirty="0"/>
          </a:p>
        </p:txBody>
      </p:sp>
      <p:sp>
        <p:nvSpPr>
          <p:cNvPr id="23" name="Number 7"/>
          <p:cNvSpPr/>
          <p:nvPr/>
        </p:nvSpPr>
        <p:spPr>
          <a:xfrm>
            <a:off x="6217920" y="3840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Number text 7"/>
          <p:cNvSpPr txBox="1"/>
          <p:nvPr/>
        </p:nvSpPr>
        <p:spPr>
          <a:xfrm>
            <a:off x="62179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949440" y="3794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Re-test adaptively (Easy → Medium → Hard) and track progress</a:t>
            </a:r>
            <a:endParaRPr lang="en-US" sz="1600" dirty="0"/>
          </a:p>
        </p:txBody>
      </p:sp>
      <p:sp>
        <p:nvSpPr>
          <p:cNvPr id="26" name="Number 8"/>
          <p:cNvSpPr/>
          <p:nvPr/>
        </p:nvSpPr>
        <p:spPr>
          <a:xfrm>
            <a:off x="6217920" y="49377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Number text 8"/>
          <p:cNvSpPr txBox="1"/>
          <p:nvPr/>
        </p:nvSpPr>
        <p:spPr>
          <a:xfrm>
            <a:off x="621792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949440" y="48920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Add a personal study PDF and run on free AI models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PROPOSED SYSTEM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closed loop from exam marks to mastery</a:t>
            </a:r>
            <a:endParaRPr lang="en-US" sz="3000" dirty="0"/>
          </a:p>
        </p:txBody>
      </p:sp>
      <p:sp>
        <p:nvSpPr>
          <p:cNvPr id="5" name="Exam answers"/>
          <p:cNvSpPr/>
          <p:nvPr/>
        </p:nvSpPr>
        <p:spPr>
          <a:xfrm>
            <a:off x="2926080" y="1645920"/>
            <a:ext cx="22860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92608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Exam answers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marks per question</a:t>
            </a:r>
            <a:endParaRPr lang="en-US" sz="1400" dirty="0"/>
          </a:p>
        </p:txBody>
      </p:sp>
      <p:sp>
        <p:nvSpPr>
          <p:cNvPr id="7" name="Knowledge tracing"/>
          <p:cNvSpPr/>
          <p:nvPr/>
        </p:nvSpPr>
        <p:spPr>
          <a:xfrm>
            <a:off x="4985003" y="2537460"/>
            <a:ext cx="22860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85003" y="25374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Knowledge tracing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EKT mastery per concept</a:t>
            </a:r>
            <a:endParaRPr lang="en-US" sz="1400" dirty="0"/>
          </a:p>
        </p:txBody>
      </p:sp>
      <p:sp>
        <p:nvSpPr>
          <p:cNvPr id="9" name="Find gaps"/>
          <p:cNvSpPr/>
          <p:nvPr/>
        </p:nvSpPr>
        <p:spPr>
          <a:xfrm>
            <a:off x="4985003" y="4320540"/>
            <a:ext cx="22860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85003" y="43205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Find gaps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mastery below 70%</a:t>
            </a:r>
            <a:endParaRPr lang="en-US" sz="1400" dirty="0"/>
          </a:p>
        </p:txBody>
      </p:sp>
      <p:sp>
        <p:nvSpPr>
          <p:cNvPr id="11" name="Remedial plan + PDF"/>
          <p:cNvSpPr/>
          <p:nvPr/>
        </p:nvSpPr>
        <p:spPr>
          <a:xfrm>
            <a:off x="2926080" y="52120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FDF3E3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26080" y="5212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Remedial plan + PDF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written by AI, verified</a:t>
            </a:r>
            <a:endParaRPr lang="en-US" sz="1400" dirty="0"/>
          </a:p>
        </p:txBody>
      </p:sp>
      <p:sp>
        <p:nvSpPr>
          <p:cNvPr id="13" name="New questions"/>
          <p:cNvSpPr/>
          <p:nvPr/>
        </p:nvSpPr>
        <p:spPr>
          <a:xfrm>
            <a:off x="867157" y="4320540"/>
            <a:ext cx="22860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7157" y="43205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New questions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from the syllabus (RAG)</a:t>
            </a:r>
            <a:endParaRPr lang="en-US" sz="1400" dirty="0"/>
          </a:p>
        </p:txBody>
      </p:sp>
      <p:sp>
        <p:nvSpPr>
          <p:cNvPr id="15" name="Adaptive re-test"/>
          <p:cNvSpPr/>
          <p:nvPr/>
        </p:nvSpPr>
        <p:spPr>
          <a:xfrm>
            <a:off x="867157" y="2537460"/>
            <a:ext cx="22860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7157" y="25374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Adaptive re-test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Easy → Medium → Hard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788920" y="3566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repeat until every concept reaches the target</a:t>
            </a:r>
            <a:endParaRPr lang="en-US" sz="1300" dirty="0"/>
          </a:p>
        </p:txBody>
      </p:sp>
      <p:sp>
        <p:nvSpPr>
          <p:cNvPr id="18" name="How it works"/>
          <p:cNvSpPr txBox="1"/>
          <p:nvPr/>
        </p:nvSpPr>
        <p:spPr>
          <a:xfrm>
            <a:off x="7909560" y="1645920"/>
            <a:ext cx="3703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How it works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Teacher uploads the syllabus once and the exam results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student gets mastery per concept, not one mark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 content is written only from the syllabus and checked by two other models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New answers update the student's knowledge state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layers, six modules</a:t>
            </a:r>
            <a:endParaRPr lang="en-US" sz="3000" dirty="0"/>
          </a:p>
        </p:txBody>
      </p:sp>
      <p:pic>
        <p:nvPicPr>
          <p:cNvPr id="5" name="fig_architecture.png" descr="Layered architecture: users, interfaces, pipeline, six modules, found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210857" cy="4754880"/>
          </a:xfrm>
          <a:prstGeom prst="rect">
            <a:avLst/>
          </a:prstGeom>
        </p:spPr>
      </p:pic>
      <p:sp>
        <p:nvSpPr>
          <p:cNvPr id="6" name="Workflow"/>
          <p:cNvSpPr txBox="1"/>
          <p:nvPr/>
        </p:nvSpPr>
        <p:spPr>
          <a:xfrm>
            <a:off x="7223760" y="1600200"/>
            <a:ext cx="4389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Workflow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Syllabus is chunked, embedded and stored in a FAISS vector database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EKT estimates mastery for every concept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Gaps get a five-part plan and a study PDF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Groq writes; OpenRouter and Gemini verify (all free)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Adaptive re-test answers feed back into EKT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BEYOND THE BASE PAPER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our project adds</a:t>
            </a:r>
            <a:endParaRPr lang="en-US" sz="3000" dirty="0"/>
          </a:p>
        </p:txBody>
      </p:sp>
      <p:sp>
        <p:nvSpPr>
          <p:cNvPr id="5" name="Free AI models"/>
          <p:cNvSpPr/>
          <p:nvPr/>
        </p:nvSpPr>
        <p:spPr>
          <a:xfrm>
            <a:off x="548640" y="160020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DF3E3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Number text 1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828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Free AI models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68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Groq writes; OpenRouter and Gemini verify. The paper used paid OpenAI and DeepSeek.</a:t>
            </a:r>
            <a:endParaRPr lang="en-US" sz="1400" dirty="0"/>
          </a:p>
        </p:txBody>
      </p:sp>
      <p:sp>
        <p:nvSpPr>
          <p:cNvPr id="10" name="Reliable on free tiers"/>
          <p:cNvSpPr/>
          <p:nvPr/>
        </p:nvSpPr>
        <p:spPr>
          <a:xfrm>
            <a:off x="4297680" y="160020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DF3E3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1" name="Number 2"/>
          <p:cNvSpPr/>
          <p:nvPr/>
        </p:nvSpPr>
        <p:spPr>
          <a:xfrm>
            <a:off x="4526280" y="1828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Number text 2"/>
          <p:cNvSpPr txBox="1"/>
          <p:nvPr/>
        </p:nvSpPr>
        <p:spPr>
          <a:xfrm>
            <a:off x="45262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166360" y="1828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Reliable on free tiers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468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 pacing, automatic retry, and an offline fallback so the app never stops.</a:t>
            </a:r>
            <a:endParaRPr lang="en-US" sz="1400" dirty="0"/>
          </a:p>
        </p:txBody>
      </p:sp>
      <p:sp>
        <p:nvSpPr>
          <p:cNvPr id="15" name="Unit-aware retrieval"/>
          <p:cNvSpPr/>
          <p:nvPr/>
        </p:nvSpPr>
        <p:spPr>
          <a:xfrm>
            <a:off x="8046720" y="160020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DF3E3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6" name="Number 3"/>
          <p:cNvSpPr/>
          <p:nvPr/>
        </p:nvSpPr>
        <p:spPr>
          <a:xfrm>
            <a:off x="8275320" y="1828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Number text 3"/>
          <p:cNvSpPr txBox="1"/>
          <p:nvPr/>
        </p:nvSpPr>
        <p:spPr>
          <a:xfrm>
            <a:off x="82753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915400" y="1828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Unit-aware retrieval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2468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Questions and plans use only the concept's own syllabus unit.</a:t>
            </a:r>
            <a:endParaRPr lang="en-US" sz="1400" dirty="0"/>
          </a:p>
        </p:txBody>
      </p:sp>
      <p:sp>
        <p:nvSpPr>
          <p:cNvPr id="20" name="Meaningful mastery"/>
          <p:cNvSpPr/>
          <p:nvPr/>
        </p:nvSpPr>
        <p:spPr>
          <a:xfrm>
            <a:off x="548640" y="388620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DF3E3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1" name="Number 4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Number text 4"/>
          <p:cNvSpPr txBox="1"/>
          <p:nvPr/>
        </p:nvSpPr>
        <p:spPr>
          <a:xfrm>
            <a:off x="7772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114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Meaningful mastery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4754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extra training loss so EKT mastery rises when a student answers correctly.</a:t>
            </a:r>
            <a:endParaRPr lang="en-US" sz="1400" dirty="0"/>
          </a:p>
        </p:txBody>
      </p:sp>
      <p:sp>
        <p:nvSpPr>
          <p:cNvPr id="25" name="Personal study PDF"/>
          <p:cNvSpPr/>
          <p:nvPr/>
        </p:nvSpPr>
        <p:spPr>
          <a:xfrm>
            <a:off x="4297680" y="388620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DF3E3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6" name="Number 5"/>
          <p:cNvSpPr/>
          <p:nvPr/>
        </p:nvSpPr>
        <p:spPr>
          <a:xfrm>
            <a:off x="4526280" y="4114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Number text 5"/>
          <p:cNvSpPr txBox="1"/>
          <p:nvPr/>
        </p:nvSpPr>
        <p:spPr>
          <a:xfrm>
            <a:off x="45262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166360" y="4114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Personal study PDF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754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Missed questions, the plan and the matching syllabus pages, weakest concept first.</a:t>
            </a:r>
            <a:endParaRPr lang="en-US" sz="1400" dirty="0"/>
          </a:p>
        </p:txBody>
      </p:sp>
      <p:sp>
        <p:nvSpPr>
          <p:cNvPr id="30" name="Web app, API and tests"/>
          <p:cNvSpPr/>
          <p:nvPr/>
        </p:nvSpPr>
        <p:spPr>
          <a:xfrm>
            <a:off x="8046720" y="388620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FDF3E3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1" name="Number 6"/>
          <p:cNvSpPr/>
          <p:nvPr/>
        </p:nvSpPr>
        <p:spPr>
          <a:xfrm>
            <a:off x="8275320" y="41148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2" name="Number text 6"/>
          <p:cNvSpPr txBox="1"/>
          <p:nvPr/>
        </p:nvSpPr>
        <p:spPr>
          <a:xfrm>
            <a:off x="82753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915400" y="4114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Web app, API and tests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8275320" y="4754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Single-page web app, REST API, command line and automated tests.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REQUIREMENTS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on an ordinary laptop, free of cost</a:t>
            </a:r>
            <a:endParaRPr lang="en-US" sz="3000" dirty="0"/>
          </a:p>
        </p:txBody>
      </p:sp>
      <p:sp>
        <p:nvSpPr>
          <p:cNvPr id="5" name="Hardware"/>
          <p:cNvSpPr/>
          <p:nvPr/>
        </p:nvSpPr>
        <p:spPr>
          <a:xfrm>
            <a:off x="548640" y="1645920"/>
            <a:ext cx="3474720" cy="42062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6" name="Hardware"/>
          <p:cNvSpPr txBox="1"/>
          <p:nvPr/>
        </p:nvSpPr>
        <p:spPr>
          <a:xfrm>
            <a:off x="822960" y="187452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Hardware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Any 64-bit CPU (no GPU)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8 GB RAM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3 GB free disk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Internet only for the AI models</a:t>
            </a:r>
            <a:endParaRPr lang="en-US" sz="1800" dirty="0"/>
          </a:p>
        </p:txBody>
      </p:sp>
      <p:sp>
        <p:nvSpPr>
          <p:cNvPr id="7" name="Software"/>
          <p:cNvSpPr/>
          <p:nvPr/>
        </p:nvSpPr>
        <p:spPr>
          <a:xfrm>
            <a:off x="4343400" y="1645920"/>
            <a:ext cx="3474720" cy="420624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</p:sp>
      <p:sp>
        <p:nvSpPr>
          <p:cNvPr id="8" name="Software"/>
          <p:cNvSpPr txBox="1"/>
          <p:nvPr/>
        </p:nvSpPr>
        <p:spPr>
          <a:xfrm>
            <a:off x="4617720" y="187452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Software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Windows / Linux / macOS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Python 3.10+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Any modern browser</a:t>
            </a:r>
            <a:endParaRPr lang="en-US" sz="18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Free API keys: Groq, OpenRouter, Gemini</a:t>
            </a:r>
            <a:endParaRPr lang="en-US" sz="1800" dirty="0"/>
          </a:p>
        </p:txBody>
      </p:sp>
      <p:sp>
        <p:nvSpPr>
          <p:cNvPr id="9" name="Technologies"/>
          <p:cNvSpPr/>
          <p:nvPr/>
        </p:nvSpPr>
        <p:spPr>
          <a:xfrm>
            <a:off x="8138160" y="1645920"/>
            <a:ext cx="3502152" cy="4206240"/>
          </a:xfrm>
          <a:prstGeom prst="roundRect">
            <a:avLst>
              <a:gd name="adj" fmla="val 2089"/>
            </a:avLst>
          </a:prstGeom>
          <a:solidFill>
            <a:schemeClr val="accent4"/>
          </a:solidFill>
          <a:ln/>
        </p:spPr>
      </p:sp>
      <p:sp>
        <p:nvSpPr>
          <p:cNvPr id="10" name="Technologies"/>
          <p:cNvSpPr txBox="1"/>
          <p:nvPr/>
        </p:nvSpPr>
        <p:spPr>
          <a:xfrm>
            <a:off x="8412480" y="187452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Technologies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PyTorch (EKT, DKT)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sentence-transformers + FAISS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FastAPI + HTML/JS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reportlab (study PDF)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pytest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PROJECT PLAN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phases over thirteen weeks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206240" y="1554480"/>
            <a:ext cx="5697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775982" y="1554480"/>
            <a:ext cx="5697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345723" y="1554480"/>
            <a:ext cx="5697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W3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15465" y="1554480"/>
            <a:ext cx="5697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W4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85206" y="1554480"/>
            <a:ext cx="5697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W5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054948" y="1554480"/>
            <a:ext cx="5697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W6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624689" y="1554480"/>
            <a:ext cx="5697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W7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194431" y="1554480"/>
            <a:ext cx="5697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W8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64172" y="1554480"/>
            <a:ext cx="5697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W9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333914" y="1554480"/>
            <a:ext cx="5697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W10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903655" y="1554480"/>
            <a:ext cx="5697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W11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473397" y="1554480"/>
            <a:ext cx="5697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W12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1043138" y="1554480"/>
            <a:ext cx="56974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W13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Phase 1  Literature study and requirements</a:t>
            </a:r>
            <a:endParaRPr lang="en-US" sz="1400" dirty="0"/>
          </a:p>
        </p:txBody>
      </p:sp>
      <p:sp>
        <p:nvSpPr>
          <p:cNvPr id="19" name="Phase 1 bar"/>
          <p:cNvSpPr/>
          <p:nvPr/>
        </p:nvSpPr>
        <p:spPr>
          <a:xfrm>
            <a:off x="4233672" y="2084832"/>
            <a:ext cx="1084619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26334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Phase 2  Data, RAG and concept extraction</a:t>
            </a:r>
            <a:endParaRPr lang="en-US" sz="1400" dirty="0"/>
          </a:p>
        </p:txBody>
      </p:sp>
      <p:sp>
        <p:nvSpPr>
          <p:cNvPr id="21" name="Phase 2 bar"/>
          <p:cNvSpPr/>
          <p:nvPr/>
        </p:nvSpPr>
        <p:spPr>
          <a:xfrm>
            <a:off x="5373155" y="2706624"/>
            <a:ext cx="1084619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3255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Phase 3  Knowledge tracing (EKT, DKT)</a:t>
            </a:r>
            <a:endParaRPr lang="en-US" sz="1400" dirty="0"/>
          </a:p>
        </p:txBody>
      </p:sp>
      <p:sp>
        <p:nvSpPr>
          <p:cNvPr id="23" name="Phase 3 bar"/>
          <p:cNvSpPr/>
          <p:nvPr/>
        </p:nvSpPr>
        <p:spPr>
          <a:xfrm>
            <a:off x="6512638" y="3328416"/>
            <a:ext cx="1084619" cy="329184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38770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Phase 4  MCQ generation and remedial plans</a:t>
            </a:r>
            <a:endParaRPr lang="en-US" sz="1400" dirty="0"/>
          </a:p>
        </p:txBody>
      </p:sp>
      <p:sp>
        <p:nvSpPr>
          <p:cNvPr id="25" name="Phase 4 bar"/>
          <p:cNvSpPr/>
          <p:nvPr/>
        </p:nvSpPr>
        <p:spPr>
          <a:xfrm>
            <a:off x="7652121" y="3950208"/>
            <a:ext cx="1084619" cy="329184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48640" y="4498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Phase 5  Adaptive test, web app, study PDF</a:t>
            </a:r>
            <a:endParaRPr lang="en-US" sz="1400" dirty="0"/>
          </a:p>
        </p:txBody>
      </p:sp>
      <p:sp>
        <p:nvSpPr>
          <p:cNvPr id="27" name="Phase 5 bar"/>
          <p:cNvSpPr/>
          <p:nvPr/>
        </p:nvSpPr>
        <p:spPr>
          <a:xfrm>
            <a:off x="8791604" y="4572000"/>
            <a:ext cx="1654361" cy="329184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48640" y="5120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Phase 6  Testing, evaluation and report</a:t>
            </a:r>
            <a:endParaRPr lang="en-US" sz="1400" dirty="0"/>
          </a:p>
        </p:txBody>
      </p:sp>
      <p:sp>
        <p:nvSpPr>
          <p:cNvPr id="29" name="Phase 6 bar"/>
          <p:cNvSpPr/>
          <p:nvPr/>
        </p:nvSpPr>
        <p:spPr>
          <a:xfrm>
            <a:off x="10500829" y="5193792"/>
            <a:ext cx="1084619" cy="329184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Milestones:  First review after phase 2  ·  Second review after phase 4  ·  Final review after phase 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371600" y="3291840"/>
            <a:ext cx="941832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and suggestions are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ed Learning Teal">
  <a:themeElements>
    <a:clrScheme name="Personalized Learning Teal">
      <a:dk1>
        <a:srgbClr val="1F2D3A"/>
      </a:dk1>
      <a:lt1>
        <a:srgbClr val="FFFFFF"/>
      </a:lt1>
      <a:dk2>
        <a:srgbClr val="0B3C49"/>
      </a:dk2>
      <a:lt2>
        <a:srgbClr val="E8F3F2"/>
      </a:lt2>
      <a:accent1>
        <a:srgbClr val="0E7C86"/>
      </a:accent1>
      <a:accent2>
        <a:srgbClr val="D98A1C"/>
      </a:accent2>
      <a:accent3>
        <a:srgbClr val="5B9AA0"/>
      </a:accent3>
      <a:accent4>
        <a:srgbClr val="C9E2DF"/>
      </a:accent4>
      <a:accent5>
        <a:srgbClr val="9C4F2E"/>
      </a:accent5>
      <a:accent6>
        <a:srgbClr val="6B7785"/>
      </a:accent6>
      <a:hlink>
        <a:srgbClr val="0E7C86"/>
      </a:hlink>
      <a:folHlink>
        <a:srgbClr val="5B9AA0"/>
      </a:folHlink>
    </a:clrScheme>
    <a:fontScheme name="Personalized Learning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Review - AI-Driven Personalized Learning and Remedial Recommendation</dc:title>
  <dc:subject>PptxGenJS Presentation</dc:subject>
  <dc:creator>[Student names]</dc:creator>
  <cp:lastModifiedBy>[Student names]</cp:lastModifiedBy>
  <cp:revision>1</cp:revision>
  <dcterms:created xsi:type="dcterms:W3CDTF">2026-10-08T10:23:31Z</dcterms:created>
  <dcterms:modified xsi:type="dcterms:W3CDTF">2026-10-08T10:23:31Z</dcterms:modified>
</cp:coreProperties>
</file>